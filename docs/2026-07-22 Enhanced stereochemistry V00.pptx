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sldIdLst>
    <p:sldId id="2038388510" r:id="rId5"/>
    <p:sldId id="2038388466" r:id="rId6"/>
    <p:sldId id="2038388543" r:id="rId7"/>
    <p:sldId id="2038388574" r:id="rId8"/>
    <p:sldId id="2038388575" r:id="rId9"/>
    <p:sldId id="2038388570" r:id="rId10"/>
    <p:sldId id="2038388572" r:id="rId11"/>
    <p:sldId id="2038388538" r:id="rId12"/>
    <p:sldId id="2038388539" r:id="rId13"/>
    <p:sldId id="2038388548" r:id="rId14"/>
    <p:sldId id="2038388549" r:id="rId15"/>
    <p:sldId id="2038388550" r:id="rId16"/>
    <p:sldId id="2038388552" r:id="rId17"/>
    <p:sldId id="2038388563" r:id="rId18"/>
    <p:sldId id="2038388571" r:id="rId19"/>
    <p:sldId id="2038388537" r:id="rId20"/>
    <p:sldId id="2038388573" r:id="rId21"/>
    <p:sldId id="2038388565" r:id="rId22"/>
    <p:sldId id="2038388567" r:id="rId23"/>
    <p:sldId id="2038388568" r:id="rId24"/>
    <p:sldId id="2038388569" r:id="rId25"/>
    <p:sldId id="2038388576" r:id="rId26"/>
    <p:sldId id="2038388562" r:id="rId27"/>
    <p:sldId id="2038388554" r:id="rId28"/>
    <p:sldId id="2038388553" r:id="rId29"/>
    <p:sldId id="2038388557" r:id="rId30"/>
    <p:sldId id="2038388558" r:id="rId31"/>
    <p:sldId id="2038388559" r:id="rId32"/>
    <p:sldId id="2038388560" r:id="rId33"/>
    <p:sldId id="2038388577" r:id="rId34"/>
    <p:sldId id="2038388525" r:id="rId35"/>
    <p:sldId id="2038388478" r:id="rId36"/>
    <p:sldId id="2038388481" r:id="rId37"/>
    <p:sldId id="203838853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49" userDrawn="1">
          <p15:clr>
            <a:srgbClr val="A4A3A4"/>
          </p15:clr>
        </p15:guide>
        <p15:guide id="2" pos="5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86000" autoAdjust="0"/>
  </p:normalViewPr>
  <p:slideViewPr>
    <p:cSldViewPr snapToGrid="0">
      <p:cViewPr varScale="1">
        <p:scale>
          <a:sx n="114" d="100"/>
          <a:sy n="114" d="100"/>
        </p:scale>
        <p:origin x="967" y="17"/>
      </p:cViewPr>
      <p:guideLst>
        <p:guide orient="horz" pos="1049"/>
        <p:guide pos="506"/>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22580-3984-4B0B-8C4E-E11C0F2D3B1A}" type="datetimeFigureOut">
              <a:rPr lang="en-GB" smtClean="0"/>
              <a:t>06/07/2026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4502CE-60AA-48C7-BCD9-E12F51B0E0F3}" type="slidenum">
              <a:rPr lang="en-GB" smtClean="0"/>
              <a:t>‹Nr.›</a:t>
            </a:fld>
            <a:endParaRPr lang="en-GB"/>
          </a:p>
        </p:txBody>
      </p:sp>
    </p:spTree>
    <p:extLst>
      <p:ext uri="{BB962C8B-B14F-4D97-AF65-F5344CB8AC3E}">
        <p14:creationId xmlns:p14="http://schemas.microsoft.com/office/powerpoint/2010/main" val="412672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0A800-CCCF-4D21-AB9E-796DE77F40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95271D3-E04A-484E-929E-D4635EB410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0A7E3F9-9A4A-4813-9AFF-6EAA83B5D7DE}"/>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0B81DB08-C75A-47D0-8C00-8841A795D4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1D7835-DBD2-4775-A2E3-B092AA8C579A}"/>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3698234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6E61-9524-4E93-9F1D-AA8BBCF6B92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A3CB84D-AAF2-4A04-AC82-CA6961978A45}"/>
              </a:ext>
            </a:extLst>
          </p:cNvPr>
          <p:cNvSpPr>
            <a:spLocks noGrp="1"/>
          </p:cNvSpPr>
          <p:nvPr>
            <p:ph idx="1"/>
          </p:nvPr>
        </p:nvSpPr>
        <p:spPr/>
        <p:txBody>
          <a:bodyPr/>
          <a:lstStyle>
            <a:lvl1pPr>
              <a:spcAft>
                <a:spcPts val="0"/>
              </a:spcAft>
              <a:defRPr/>
            </a:lvl1pPr>
            <a:lvl2pPr>
              <a:spcAft>
                <a:spcPts val="0"/>
              </a:spcAf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CD6B2E-EE73-47B4-A341-EE729B8822FF}"/>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CDF41B07-8264-4656-847A-DF8CA4A6514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654AFF-47E4-45C3-8FFA-CE11C419FA95}"/>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896756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BFDDC-804D-4D1B-9007-17E0BD8DB7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9E9D756-90E5-454D-B5CC-3C279433D1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C5273D-D403-4091-8DEA-EC7C0F8E254E}"/>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E933E96C-2955-4A59-BA53-C5466D4F79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1B5FAE-69BE-4BF8-A241-C20458E918D5}"/>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4119437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3AE7-0386-467B-94AB-90F2B25FC15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4393216-CC9A-41A9-B9FD-99867C8BB0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53378C5-9C06-4BDF-AE00-E1F4855268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3D5110F-C3CE-45C9-B2D6-04E6BCBDE120}"/>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6" name="Footer Placeholder 5">
            <a:extLst>
              <a:ext uri="{FF2B5EF4-FFF2-40B4-BE49-F238E27FC236}">
                <a16:creationId xmlns:a16="http://schemas.microsoft.com/office/drawing/2014/main" id="{AE6525C9-86EF-4896-A3A2-1BD1002534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AB468A5-E981-45E8-98E4-78E33DEE9B33}"/>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2545552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F931A-69F0-4FB6-8782-DFB9952F2D6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648E34C-7F1D-4319-8DE9-EDD589FAC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95A5E4-C093-47FE-912A-ACE1F44B2A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AE729FE-E7EF-41ED-A6B5-E986E90655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08B540-799D-4879-93EA-C140D93142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7F0DAD7-8F77-487E-A393-DCC43DDE515E}"/>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8" name="Footer Placeholder 7">
            <a:extLst>
              <a:ext uri="{FF2B5EF4-FFF2-40B4-BE49-F238E27FC236}">
                <a16:creationId xmlns:a16="http://schemas.microsoft.com/office/drawing/2014/main" id="{BE9B3A2B-2726-434F-A93A-EDF3862643D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E293E8C-EAF4-401B-B604-CCE075CEADB3}"/>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514083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7201-2083-4898-A359-78EEF370E0E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0885858-8EBB-47BC-B102-C00F4079473F}"/>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4" name="Footer Placeholder 3">
            <a:extLst>
              <a:ext uri="{FF2B5EF4-FFF2-40B4-BE49-F238E27FC236}">
                <a16:creationId xmlns:a16="http://schemas.microsoft.com/office/drawing/2014/main" id="{C960BADE-208F-40A9-870E-720AD18B34B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4DA886E-8F89-4788-9318-E464FAECB551}"/>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1171908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B1268E-0CA6-4061-A35B-E937E6C8E2FE}"/>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3" name="Footer Placeholder 2">
            <a:extLst>
              <a:ext uri="{FF2B5EF4-FFF2-40B4-BE49-F238E27FC236}">
                <a16:creationId xmlns:a16="http://schemas.microsoft.com/office/drawing/2014/main" id="{C56563A1-E3A9-41A1-B228-D8277E4D3B2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210E752-10DE-4A37-B379-E55FE9E55AE4}"/>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1571258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A3DF2-BBBE-4A91-822E-536CC1805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AB171F6-CD82-4C43-B00C-2B9C22654F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0CBF371-295F-4471-A632-F7F9B42FA5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12E95-F8AB-48CA-8844-F54C6A8300A5}"/>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6" name="Footer Placeholder 5">
            <a:extLst>
              <a:ext uri="{FF2B5EF4-FFF2-40B4-BE49-F238E27FC236}">
                <a16:creationId xmlns:a16="http://schemas.microsoft.com/office/drawing/2014/main" id="{8BB33814-7F99-4794-B0E7-A90C326BB7A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65F6A1-FD8A-432C-A3E7-E6B792641413}"/>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2096782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BA543-AB04-4F07-9AA9-F985C0B606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96120CB-3712-4C6B-A01C-E8606F4386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0F04755-4641-4E67-8A76-F8C3E55466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C59749-A4D2-4629-B3DF-DF2D268C8C79}"/>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6" name="Footer Placeholder 5">
            <a:extLst>
              <a:ext uri="{FF2B5EF4-FFF2-40B4-BE49-F238E27FC236}">
                <a16:creationId xmlns:a16="http://schemas.microsoft.com/office/drawing/2014/main" id="{8E7F27BC-DCFD-4B32-BF64-CA4EB6BFB36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CDD6FFD-F744-43FC-9D44-C00F9720088B}"/>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243081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67065-5AA6-4E5A-9A66-8EB54153B81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F7BA5E0-B618-496F-92B3-A189F57B47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9E9172-AF5A-45F8-A3A1-A049293908ED}"/>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E145C351-7D15-41AC-ABA0-2E522679BD2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518338-4272-464E-99B8-0C52B2C51B17}"/>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3721090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1EA41-E476-4E00-B859-4AF4064D60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D7F116E-F581-44E7-B402-B4DC9882D1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41A04EE-D13B-45C8-8064-A63DC93F1432}"/>
              </a:ext>
            </a:extLst>
          </p:cNvPr>
          <p:cNvSpPr>
            <a:spLocks noGrp="1"/>
          </p:cNvSpPr>
          <p:nvPr>
            <p:ph type="dt" sz="half" idx="10"/>
          </p:nvPr>
        </p:nvSpPr>
        <p:spPr/>
        <p:txBody>
          <a:body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08E56378-1B32-462C-9A24-D1AB533D06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74683B-D9EB-4B41-BB0B-FBF7DBBB26EA}"/>
              </a:ext>
            </a:extLst>
          </p:cNvPr>
          <p:cNvSpPr>
            <a:spLocks noGrp="1"/>
          </p:cNvSpPr>
          <p:nvPr>
            <p:ph type="sldNum" sz="quarter" idx="12"/>
          </p:nvPr>
        </p:nvSpPr>
        <p:spPr/>
        <p:txBody>
          <a:bodyPr/>
          <a:lstStyle/>
          <a:p>
            <a:fld id="{4AEE10AB-C8AC-4123-835F-6B8C73941A41}" type="slidenum">
              <a:rPr lang="en-GB" smtClean="0"/>
              <a:t>‹Nr.›</a:t>
            </a:fld>
            <a:endParaRPr lang="en-GB"/>
          </a:p>
        </p:txBody>
      </p:sp>
    </p:spTree>
    <p:extLst>
      <p:ext uri="{BB962C8B-B14F-4D97-AF65-F5344CB8AC3E}">
        <p14:creationId xmlns:p14="http://schemas.microsoft.com/office/powerpoint/2010/main" val="863738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5" name="Picture 4" descr="A picture containing sky, outdoor, outdoor object&#10;&#10;Description automatically generated">
            <a:extLst>
              <a:ext uri="{FF2B5EF4-FFF2-40B4-BE49-F238E27FC236}">
                <a16:creationId xmlns:a16="http://schemas.microsoft.com/office/drawing/2014/main" id="{B0E508EC-5BE3-4F54-B862-D0BDB8EF9B23}"/>
              </a:ext>
            </a:extLst>
          </p:cNvPr>
          <p:cNvPicPr>
            <a:picLocks noChangeAspect="1"/>
          </p:cNvPicPr>
          <p:nvPr userDrawn="1"/>
        </p:nvPicPr>
        <p:blipFill rotWithShape="1">
          <a:blip r:embed="rId2" cstate="screen">
            <a:alphaModFix amt="50000"/>
            <a:duotone>
              <a:schemeClr val="accent4">
                <a:shade val="45000"/>
                <a:satMod val="135000"/>
              </a:schemeClr>
              <a:prstClr val="white"/>
            </a:duotone>
            <a:extLst>
              <a:ext uri="{28A0092B-C50C-407E-A947-70E740481C1C}">
                <a14:useLocalDpi xmlns:a14="http://schemas.microsoft.com/office/drawing/2010/main"/>
              </a:ext>
            </a:extLst>
          </a:blip>
          <a:srcRect t="31913" r="28731"/>
          <a:stretch/>
        </p:blipFill>
        <p:spPr>
          <a:xfrm>
            <a:off x="7128466" y="-1"/>
            <a:ext cx="5063534" cy="4327005"/>
          </a:xfrm>
          <a:prstGeom prst="rect">
            <a:avLst/>
          </a:prstGeom>
        </p:spPr>
      </p:pic>
      <p:sp>
        <p:nvSpPr>
          <p:cNvPr id="2" name="Title 1">
            <a:extLst>
              <a:ext uri="{FF2B5EF4-FFF2-40B4-BE49-F238E27FC236}">
                <a16:creationId xmlns:a16="http://schemas.microsoft.com/office/drawing/2014/main" id="{59EDD18D-08C8-404C-AC33-72C43C6D949E}"/>
              </a:ext>
            </a:extLst>
          </p:cNvPr>
          <p:cNvSpPr>
            <a:spLocks noGrp="1"/>
          </p:cNvSpPr>
          <p:nvPr>
            <p:ph type="ctrTitle"/>
          </p:nvPr>
        </p:nvSpPr>
        <p:spPr>
          <a:xfrm>
            <a:off x="1054101" y="2610072"/>
            <a:ext cx="9144000" cy="527242"/>
          </a:xfrm>
        </p:spPr>
        <p:txBody>
          <a:bodyPr anchor="b">
            <a:noAutofit/>
          </a:bodyPr>
          <a:lstStyle>
            <a:lvl1pPr algn="l">
              <a:defRPr sz="4400" b="1">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B5594367-E98C-44B7-B3CD-2646747B85A3}"/>
              </a:ext>
            </a:extLst>
          </p:cNvPr>
          <p:cNvSpPr>
            <a:spLocks noGrp="1"/>
          </p:cNvSpPr>
          <p:nvPr>
            <p:ph type="subTitle" idx="1"/>
          </p:nvPr>
        </p:nvSpPr>
        <p:spPr>
          <a:xfrm>
            <a:off x="1054101" y="3137314"/>
            <a:ext cx="9144000" cy="527242"/>
          </a:xfrm>
        </p:spPr>
        <p:txBody>
          <a:bodyPr>
            <a:normAutofit/>
          </a:bodyPr>
          <a:lstStyle>
            <a:lvl1pPr marL="0" indent="0" algn="l">
              <a:buNone/>
              <a:defRPr sz="3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6" name="Text Placeholder 15">
            <a:extLst>
              <a:ext uri="{FF2B5EF4-FFF2-40B4-BE49-F238E27FC236}">
                <a16:creationId xmlns:a16="http://schemas.microsoft.com/office/drawing/2014/main" id="{6C89C450-000F-47DE-A04C-E91188DD201A}"/>
              </a:ext>
            </a:extLst>
          </p:cNvPr>
          <p:cNvSpPr>
            <a:spLocks noGrp="1"/>
          </p:cNvSpPr>
          <p:nvPr>
            <p:ph type="body" sz="quarter" idx="13" hasCustomPrompt="1"/>
          </p:nvPr>
        </p:nvSpPr>
        <p:spPr>
          <a:xfrm>
            <a:off x="1054101" y="4442030"/>
            <a:ext cx="4648200" cy="388501"/>
          </a:xfrm>
        </p:spPr>
        <p:txBody>
          <a:bodyPr>
            <a:normAutofit/>
          </a:bodyPr>
          <a:lstStyle>
            <a:lvl1pPr marL="0" indent="0">
              <a:buNone/>
              <a:defRPr sz="2400"/>
            </a:lvl1pPr>
          </a:lstStyle>
          <a:p>
            <a:pPr lvl="0"/>
            <a:r>
              <a:rPr lang="en-US"/>
              <a:t>Click to add name</a:t>
            </a:r>
          </a:p>
        </p:txBody>
      </p:sp>
      <p:sp>
        <p:nvSpPr>
          <p:cNvPr id="17" name="Text Placeholder 15">
            <a:extLst>
              <a:ext uri="{FF2B5EF4-FFF2-40B4-BE49-F238E27FC236}">
                <a16:creationId xmlns:a16="http://schemas.microsoft.com/office/drawing/2014/main" id="{D86E6F80-535A-404E-8492-0E32F6DA8047}"/>
              </a:ext>
            </a:extLst>
          </p:cNvPr>
          <p:cNvSpPr>
            <a:spLocks noGrp="1"/>
          </p:cNvSpPr>
          <p:nvPr>
            <p:ph type="body" sz="quarter" idx="14" hasCustomPrompt="1"/>
          </p:nvPr>
        </p:nvSpPr>
        <p:spPr>
          <a:xfrm>
            <a:off x="1054101" y="4830531"/>
            <a:ext cx="4648200" cy="358359"/>
          </a:xfrm>
        </p:spPr>
        <p:txBody>
          <a:bodyPr>
            <a:normAutofit/>
          </a:bodyPr>
          <a:lstStyle>
            <a:lvl1pPr marL="0" indent="0">
              <a:buNone/>
              <a:defRPr sz="2000"/>
            </a:lvl1pPr>
          </a:lstStyle>
          <a:p>
            <a:pPr lvl="0"/>
            <a:r>
              <a:rPr lang="en-US"/>
              <a:t>Click to add job title</a:t>
            </a:r>
          </a:p>
        </p:txBody>
      </p:sp>
      <p:sp>
        <p:nvSpPr>
          <p:cNvPr id="18" name="Text Placeholder 15">
            <a:extLst>
              <a:ext uri="{FF2B5EF4-FFF2-40B4-BE49-F238E27FC236}">
                <a16:creationId xmlns:a16="http://schemas.microsoft.com/office/drawing/2014/main" id="{60F1278C-27FB-414D-9CE0-515A930CE969}"/>
              </a:ext>
            </a:extLst>
          </p:cNvPr>
          <p:cNvSpPr>
            <a:spLocks noGrp="1"/>
          </p:cNvSpPr>
          <p:nvPr>
            <p:ph type="body" sz="quarter" idx="15" hasCustomPrompt="1"/>
          </p:nvPr>
        </p:nvSpPr>
        <p:spPr>
          <a:xfrm>
            <a:off x="1054101" y="5188890"/>
            <a:ext cx="4648200" cy="358359"/>
          </a:xfrm>
        </p:spPr>
        <p:txBody>
          <a:bodyPr>
            <a:normAutofit/>
          </a:bodyPr>
          <a:lstStyle>
            <a:lvl1pPr marL="0" indent="0">
              <a:buNone/>
              <a:defRPr sz="2000">
                <a:solidFill>
                  <a:schemeClr val="tx1">
                    <a:lumMod val="60000"/>
                    <a:lumOff val="40000"/>
                  </a:schemeClr>
                </a:solidFill>
              </a:defRPr>
            </a:lvl1pPr>
          </a:lstStyle>
          <a:p>
            <a:pPr lvl="0"/>
            <a:r>
              <a:rPr lang="en-US"/>
              <a:t>Click to add date</a:t>
            </a:r>
          </a:p>
        </p:txBody>
      </p:sp>
      <p:pic>
        <p:nvPicPr>
          <p:cNvPr id="12" name="Picture 11">
            <a:extLst>
              <a:ext uri="{FF2B5EF4-FFF2-40B4-BE49-F238E27FC236}">
                <a16:creationId xmlns:a16="http://schemas.microsoft.com/office/drawing/2014/main" id="{53C43793-7199-4B08-8D9E-073D07FF73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686801" y="5368069"/>
            <a:ext cx="3022599" cy="1342731"/>
          </a:xfrm>
          <a:prstGeom prst="rect">
            <a:avLst/>
          </a:prstGeom>
        </p:spPr>
      </p:pic>
    </p:spTree>
    <p:extLst>
      <p:ext uri="{BB962C8B-B14F-4D97-AF65-F5344CB8AC3E}">
        <p14:creationId xmlns:p14="http://schemas.microsoft.com/office/powerpoint/2010/main" val="372108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D9361-0858-4322-A15F-E98C04AC2F7C}"/>
              </a:ext>
            </a:extLst>
          </p:cNvPr>
          <p:cNvSpPr>
            <a:spLocks noGrp="1"/>
          </p:cNvSpPr>
          <p:nvPr>
            <p:ph type="title"/>
          </p:nvPr>
        </p:nvSpPr>
        <p:spPr/>
        <p:txBody>
          <a:bodyPr>
            <a:normAutofit/>
          </a:bodyPr>
          <a:lstStyle>
            <a:lvl1pPr>
              <a:defRPr sz="3600" b="1"/>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1CDA34F-13FA-4CF5-893A-93A296D28F3D}"/>
              </a:ext>
            </a:extLst>
          </p:cNvPr>
          <p:cNvSpPr>
            <a:spLocks noGrp="1"/>
          </p:cNvSpPr>
          <p:nvPr>
            <p:ph idx="1"/>
          </p:nvPr>
        </p:nvSpPr>
        <p:spPr>
          <a:xfrm>
            <a:off x="838200" y="1825625"/>
            <a:ext cx="10515600" cy="4243579"/>
          </a:xfrm>
        </p:spPr>
        <p:txBody>
          <a:bodyPr/>
          <a:lstStyle>
            <a:lvl1pPr>
              <a:lnSpc>
                <a:spcPct val="100000"/>
              </a:lnSpc>
              <a:spcAft>
                <a:spcPts val="600"/>
              </a:spcAft>
              <a:buClr>
                <a:schemeClr val="tx2"/>
              </a:buClr>
              <a:defRPr sz="2400"/>
            </a:lvl1pPr>
            <a:lvl2pPr>
              <a:lnSpc>
                <a:spcPct val="100000"/>
              </a:lnSpc>
              <a:spcAft>
                <a:spcPts val="600"/>
              </a:spcAft>
              <a:buClr>
                <a:schemeClr val="tx2"/>
              </a:buClr>
              <a:defRPr sz="2000"/>
            </a:lvl2pPr>
            <a:lvl3pPr>
              <a:lnSpc>
                <a:spcPct val="100000"/>
              </a:lnSpc>
              <a:spcAft>
                <a:spcPts val="600"/>
              </a:spcAft>
              <a:buClr>
                <a:schemeClr val="tx2"/>
              </a:buClr>
              <a:defRPr sz="1800"/>
            </a:lvl3pPr>
            <a:lvl4pPr>
              <a:lnSpc>
                <a:spcPct val="100000"/>
              </a:lnSpc>
              <a:spcAft>
                <a:spcPts val="600"/>
              </a:spcAft>
              <a:buClr>
                <a:schemeClr val="tx2"/>
              </a:buClr>
              <a:defRPr sz="1600"/>
            </a:lvl4pPr>
            <a:lvl5pPr>
              <a:lnSpc>
                <a:spcPct val="100000"/>
              </a:lnSpc>
              <a:spcAft>
                <a:spcPts val="600"/>
              </a:spcAft>
              <a:buClr>
                <a:schemeClr val="tx2"/>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Oval 16">
            <a:extLst>
              <a:ext uri="{FF2B5EF4-FFF2-40B4-BE49-F238E27FC236}">
                <a16:creationId xmlns:a16="http://schemas.microsoft.com/office/drawing/2014/main" id="{A45B168D-1773-4EAD-A259-ECE35B3778C7}"/>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8F52D2EC-B8D4-466A-BDD5-E3AC128F901A}"/>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8" name="Text Placeholder 9">
            <a:extLst>
              <a:ext uri="{FF2B5EF4-FFF2-40B4-BE49-F238E27FC236}">
                <a16:creationId xmlns:a16="http://schemas.microsoft.com/office/drawing/2014/main" id="{BCC5C89A-C546-46B0-88E1-2AAC3EB143F2}"/>
              </a:ext>
            </a:extLst>
          </p:cNvPr>
          <p:cNvSpPr>
            <a:spLocks noGrp="1"/>
          </p:cNvSpPr>
          <p:nvPr>
            <p:ph type="body" sz="quarter" idx="10" hasCustomPrompt="1"/>
          </p:nvPr>
        </p:nvSpPr>
        <p:spPr>
          <a:xfrm>
            <a:off x="838200" y="6269990"/>
            <a:ext cx="8753475" cy="334963"/>
          </a:xfrm>
        </p:spPr>
        <p:txBody>
          <a:bodyPr>
            <a:noAutofit/>
          </a:bodyPr>
          <a:lstStyle>
            <a:lvl1pPr marL="0" indent="0">
              <a:buNone/>
              <a:defRPr sz="1400">
                <a:latin typeface="Montserrat Thin" panose="00000300000000000000" pitchFamily="2" charset="0"/>
              </a:defRPr>
            </a:lvl1pPr>
          </a:lstStyle>
          <a:p>
            <a:pPr lvl="0"/>
            <a:r>
              <a:rPr lang="en-US"/>
              <a:t>Click to insert reference</a:t>
            </a:r>
            <a:endParaRPr lang="en-GB"/>
          </a:p>
        </p:txBody>
      </p:sp>
    </p:spTree>
    <p:extLst>
      <p:ext uri="{BB962C8B-B14F-4D97-AF65-F5344CB8AC3E}">
        <p14:creationId xmlns:p14="http://schemas.microsoft.com/office/powerpoint/2010/main" val="221344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DF506-8B03-45DB-AB2C-20973B6A82A7}"/>
              </a:ext>
            </a:extLst>
          </p:cNvPr>
          <p:cNvSpPr>
            <a:spLocks noGrp="1"/>
          </p:cNvSpPr>
          <p:nvPr>
            <p:ph type="title"/>
          </p:nvPr>
        </p:nvSpPr>
        <p:spPr/>
        <p:txBody>
          <a:bodyPr>
            <a:normAutofit/>
          </a:bodyPr>
          <a:lstStyle>
            <a:lvl1pPr>
              <a:defRPr sz="3600" b="1"/>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2596632-EBF2-4C53-9765-078248C7E358}"/>
              </a:ext>
            </a:extLst>
          </p:cNvPr>
          <p:cNvSpPr>
            <a:spLocks noGrp="1"/>
          </p:cNvSpPr>
          <p:nvPr>
            <p:ph sz="half" idx="1"/>
          </p:nvPr>
        </p:nvSpPr>
        <p:spPr>
          <a:xfrm>
            <a:off x="838200" y="1825625"/>
            <a:ext cx="5181600" cy="4351338"/>
          </a:xfrm>
        </p:spPr>
        <p:txBody>
          <a:bodyPr>
            <a:normAutofit/>
          </a:bodyPr>
          <a:lstStyle>
            <a:lvl1pPr>
              <a:lnSpc>
                <a:spcPct val="100000"/>
              </a:lnSpc>
              <a:spcAft>
                <a:spcPts val="600"/>
              </a:spcAft>
              <a:buClr>
                <a:schemeClr val="tx2"/>
              </a:buClr>
              <a:defRPr sz="2400"/>
            </a:lvl1pPr>
            <a:lvl2pPr>
              <a:lnSpc>
                <a:spcPct val="100000"/>
              </a:lnSpc>
              <a:spcAft>
                <a:spcPts val="600"/>
              </a:spcAft>
              <a:buClr>
                <a:schemeClr val="tx2"/>
              </a:buClr>
              <a:defRPr sz="2000"/>
            </a:lvl2pPr>
            <a:lvl3pPr>
              <a:lnSpc>
                <a:spcPct val="100000"/>
              </a:lnSpc>
              <a:spcAft>
                <a:spcPts val="600"/>
              </a:spcAft>
              <a:buClr>
                <a:schemeClr val="tx2"/>
              </a:buClr>
              <a:defRPr sz="1800"/>
            </a:lvl3pPr>
            <a:lvl4pPr>
              <a:lnSpc>
                <a:spcPct val="100000"/>
              </a:lnSpc>
              <a:spcAft>
                <a:spcPts val="600"/>
              </a:spcAft>
              <a:buClr>
                <a:schemeClr val="tx2"/>
              </a:buClr>
              <a:defRPr sz="1600"/>
            </a:lvl4pPr>
            <a:lvl5pPr>
              <a:lnSpc>
                <a:spcPct val="100000"/>
              </a:lnSpc>
              <a:spcAft>
                <a:spcPts val="600"/>
              </a:spcAft>
              <a:buClr>
                <a:schemeClr val="tx2"/>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F095D64-271A-459E-B05D-76BFFCFD2D5A}"/>
              </a:ext>
            </a:extLst>
          </p:cNvPr>
          <p:cNvSpPr>
            <a:spLocks noGrp="1"/>
          </p:cNvSpPr>
          <p:nvPr>
            <p:ph sz="half" idx="2"/>
          </p:nvPr>
        </p:nvSpPr>
        <p:spPr>
          <a:xfrm>
            <a:off x="6172200" y="1825625"/>
            <a:ext cx="5181600" cy="4351338"/>
          </a:xfrm>
        </p:spPr>
        <p:txBody>
          <a:bodyPr/>
          <a:lstStyle>
            <a:lvl1pPr marL="228600" indent="-228600">
              <a:lnSpc>
                <a:spcPct val="100000"/>
              </a:lnSpc>
              <a:spcAft>
                <a:spcPts val="600"/>
              </a:spcAft>
              <a:buClr>
                <a:schemeClr val="tx2"/>
              </a:buClr>
              <a:buFont typeface="Arial" panose="020B0604020202020204" pitchFamily="34" charset="0"/>
              <a:buChar char="•"/>
              <a:defRPr sz="2400"/>
            </a:lvl1pPr>
            <a:lvl2pPr marL="685800" indent="-228600">
              <a:lnSpc>
                <a:spcPct val="100000"/>
              </a:lnSpc>
              <a:spcAft>
                <a:spcPts val="600"/>
              </a:spcAft>
              <a:buClr>
                <a:schemeClr val="tx2"/>
              </a:buClr>
              <a:buFont typeface="Arial" panose="020B0604020202020204" pitchFamily="34" charset="0"/>
              <a:buChar char="•"/>
              <a:defRPr sz="2000"/>
            </a:lvl2pPr>
            <a:lvl3pPr marL="1143000" indent="-228600">
              <a:lnSpc>
                <a:spcPct val="100000"/>
              </a:lnSpc>
              <a:spcAft>
                <a:spcPts val="600"/>
              </a:spcAft>
              <a:buClr>
                <a:schemeClr val="tx2"/>
              </a:buClr>
              <a:buFont typeface="Arial" panose="020B0604020202020204" pitchFamily="34" charset="0"/>
              <a:buChar char="•"/>
              <a:defRPr sz="1800"/>
            </a:lvl3pPr>
            <a:lvl4pPr marL="1600200" indent="-228600">
              <a:lnSpc>
                <a:spcPct val="100000"/>
              </a:lnSpc>
              <a:spcAft>
                <a:spcPts val="600"/>
              </a:spcAft>
              <a:buClr>
                <a:schemeClr val="tx2"/>
              </a:buClr>
              <a:buFont typeface="Arial" panose="020B0604020202020204" pitchFamily="34" charset="0"/>
              <a:buChar char="•"/>
              <a:defRPr sz="1600"/>
            </a:lvl4pPr>
            <a:lvl5pPr marL="2057400" indent="-228600">
              <a:lnSpc>
                <a:spcPct val="100000"/>
              </a:lnSpc>
              <a:spcAft>
                <a:spcPts val="600"/>
              </a:spcAft>
              <a:buClr>
                <a:schemeClr val="tx2"/>
              </a:buClr>
              <a:buFont typeface="Arial" panose="020B0604020202020204" pitchFamily="34" charset="0"/>
              <a:buChar cha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Oval 7">
            <a:extLst>
              <a:ext uri="{FF2B5EF4-FFF2-40B4-BE49-F238E27FC236}">
                <a16:creationId xmlns:a16="http://schemas.microsoft.com/office/drawing/2014/main" id="{3231E771-2207-4FE0-95CF-549B85FC2BAC}"/>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25DADB79-05A6-45FB-82E7-1FBB468337E1}"/>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2" name="Text Placeholder 9">
            <a:extLst>
              <a:ext uri="{FF2B5EF4-FFF2-40B4-BE49-F238E27FC236}">
                <a16:creationId xmlns:a16="http://schemas.microsoft.com/office/drawing/2014/main" id="{DAF6731F-A63D-4DB2-99D1-E9ADF19D9F86}"/>
              </a:ext>
            </a:extLst>
          </p:cNvPr>
          <p:cNvSpPr>
            <a:spLocks noGrp="1"/>
          </p:cNvSpPr>
          <p:nvPr>
            <p:ph type="body" sz="quarter" idx="10"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527783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C5F3-94FB-4B9B-8B97-97A98C30DA1B}"/>
              </a:ext>
            </a:extLst>
          </p:cNvPr>
          <p:cNvSpPr>
            <a:spLocks noGrp="1"/>
          </p:cNvSpPr>
          <p:nvPr>
            <p:ph type="title"/>
          </p:nvPr>
        </p:nvSpPr>
        <p:spPr>
          <a:xfrm>
            <a:off x="839788" y="365125"/>
            <a:ext cx="10515600" cy="1325563"/>
          </a:xfrm>
        </p:spPr>
        <p:txBody>
          <a:bodyPr>
            <a:normAutofit/>
          </a:bodyPr>
          <a:lstStyle>
            <a:lvl1pPr>
              <a:defRPr sz="3600" b="1"/>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EFE4BFC-08C8-4825-97D1-9F816B192F62}"/>
              </a:ext>
            </a:extLst>
          </p:cNvPr>
          <p:cNvSpPr>
            <a:spLocks noGrp="1"/>
          </p:cNvSpPr>
          <p:nvPr>
            <p:ph type="body" idx="1"/>
          </p:nvPr>
        </p:nvSpPr>
        <p:spPr>
          <a:xfrm>
            <a:off x="839788" y="1681163"/>
            <a:ext cx="5157787"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DC511F-4640-40A4-AB84-4CEAFC97F6FF}"/>
              </a:ext>
            </a:extLst>
          </p:cNvPr>
          <p:cNvSpPr>
            <a:spLocks noGrp="1"/>
          </p:cNvSpPr>
          <p:nvPr>
            <p:ph sz="half" idx="2"/>
          </p:nvPr>
        </p:nvSpPr>
        <p:spPr>
          <a:xfrm>
            <a:off x="839788" y="2505075"/>
            <a:ext cx="5157787" cy="3684588"/>
          </a:xfrm>
        </p:spPr>
        <p:txBody>
          <a:bodyPr/>
          <a:lstStyle>
            <a:lvl1pPr>
              <a:lnSpc>
                <a:spcPct val="100000"/>
              </a:lnSpc>
              <a:spcAft>
                <a:spcPts val="600"/>
              </a:spcAft>
              <a:buClr>
                <a:schemeClr val="tx2"/>
              </a:buClr>
              <a:defRPr sz="2400"/>
            </a:lvl1pPr>
            <a:lvl2pPr>
              <a:lnSpc>
                <a:spcPct val="100000"/>
              </a:lnSpc>
              <a:spcAft>
                <a:spcPts val="600"/>
              </a:spcAft>
              <a:buClr>
                <a:schemeClr val="tx2"/>
              </a:buClr>
              <a:defRPr sz="2000"/>
            </a:lvl2pPr>
            <a:lvl3pPr>
              <a:lnSpc>
                <a:spcPct val="100000"/>
              </a:lnSpc>
              <a:spcAft>
                <a:spcPts val="600"/>
              </a:spcAft>
              <a:buClr>
                <a:schemeClr val="tx2"/>
              </a:buClr>
              <a:defRPr sz="1800"/>
            </a:lvl3pPr>
            <a:lvl4pPr>
              <a:lnSpc>
                <a:spcPct val="100000"/>
              </a:lnSpc>
              <a:spcAft>
                <a:spcPts val="600"/>
              </a:spcAft>
              <a:buClr>
                <a:schemeClr val="tx2"/>
              </a:buClr>
              <a:defRPr sz="1600"/>
            </a:lvl4pPr>
            <a:lvl5pPr>
              <a:lnSpc>
                <a:spcPct val="100000"/>
              </a:lnSpc>
              <a:spcAft>
                <a:spcPts val="600"/>
              </a:spcAft>
              <a:buClr>
                <a:schemeClr val="tx2"/>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8523A23-659C-42A2-BE76-7B5CB5E4744D}"/>
              </a:ext>
            </a:extLst>
          </p:cNvPr>
          <p:cNvSpPr>
            <a:spLocks noGrp="1"/>
          </p:cNvSpPr>
          <p:nvPr>
            <p:ph type="body" sz="quarter" idx="3"/>
          </p:nvPr>
        </p:nvSpPr>
        <p:spPr>
          <a:xfrm>
            <a:off x="6172200" y="1681163"/>
            <a:ext cx="5183188"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82C22-CFC1-40FF-AF66-EB57644A6632}"/>
              </a:ext>
            </a:extLst>
          </p:cNvPr>
          <p:cNvSpPr>
            <a:spLocks noGrp="1"/>
          </p:cNvSpPr>
          <p:nvPr>
            <p:ph sz="quarter" idx="4"/>
          </p:nvPr>
        </p:nvSpPr>
        <p:spPr>
          <a:xfrm>
            <a:off x="6172200" y="2505075"/>
            <a:ext cx="5183188" cy="3684588"/>
          </a:xfrm>
        </p:spPr>
        <p:txBody>
          <a:bodyPr/>
          <a:lstStyle>
            <a:lvl1pPr>
              <a:lnSpc>
                <a:spcPct val="100000"/>
              </a:lnSpc>
              <a:spcAft>
                <a:spcPts val="600"/>
              </a:spcAft>
              <a:buClr>
                <a:schemeClr val="tx2"/>
              </a:buClr>
              <a:defRPr sz="2400"/>
            </a:lvl1pPr>
            <a:lvl2pPr>
              <a:lnSpc>
                <a:spcPct val="100000"/>
              </a:lnSpc>
              <a:spcAft>
                <a:spcPts val="600"/>
              </a:spcAft>
              <a:buClr>
                <a:schemeClr val="tx2"/>
              </a:buClr>
              <a:defRPr sz="2000"/>
            </a:lvl2pPr>
            <a:lvl3pPr>
              <a:lnSpc>
                <a:spcPct val="100000"/>
              </a:lnSpc>
              <a:spcAft>
                <a:spcPts val="600"/>
              </a:spcAft>
              <a:buClr>
                <a:schemeClr val="tx2"/>
              </a:buClr>
              <a:defRPr sz="1800"/>
            </a:lvl3pPr>
            <a:lvl4pPr>
              <a:lnSpc>
                <a:spcPct val="100000"/>
              </a:lnSpc>
              <a:spcAft>
                <a:spcPts val="600"/>
              </a:spcAft>
              <a:buClr>
                <a:schemeClr val="tx2"/>
              </a:buClr>
              <a:defRPr sz="1600"/>
            </a:lvl4pPr>
            <a:lvl5pPr>
              <a:lnSpc>
                <a:spcPct val="100000"/>
              </a:lnSpc>
              <a:spcAft>
                <a:spcPts val="600"/>
              </a:spcAft>
              <a:buClr>
                <a:schemeClr val="tx2"/>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Oval 9">
            <a:extLst>
              <a:ext uri="{FF2B5EF4-FFF2-40B4-BE49-F238E27FC236}">
                <a16:creationId xmlns:a16="http://schemas.microsoft.com/office/drawing/2014/main" id="{4068B715-7682-4980-AD90-BEB81F364ABA}"/>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A49AAC6-5447-46A7-A6A8-9FE72BE2170E}"/>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4" name="Text Placeholder 9">
            <a:extLst>
              <a:ext uri="{FF2B5EF4-FFF2-40B4-BE49-F238E27FC236}">
                <a16:creationId xmlns:a16="http://schemas.microsoft.com/office/drawing/2014/main" id="{562E7383-E2C7-4BB0-99A8-0F758245667E}"/>
              </a:ext>
            </a:extLst>
          </p:cNvPr>
          <p:cNvSpPr>
            <a:spLocks noGrp="1"/>
          </p:cNvSpPr>
          <p:nvPr>
            <p:ph type="body" sz="quarter" idx="10"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2457440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6349E-6DA7-4A0F-984D-857DC7475DB3}"/>
              </a:ext>
            </a:extLst>
          </p:cNvPr>
          <p:cNvSpPr>
            <a:spLocks noGrp="1"/>
          </p:cNvSpPr>
          <p:nvPr>
            <p:ph type="title"/>
          </p:nvPr>
        </p:nvSpPr>
        <p:spPr>
          <a:xfrm>
            <a:off x="839788" y="457200"/>
            <a:ext cx="3932237" cy="1600200"/>
          </a:xfrm>
        </p:spPr>
        <p:txBody>
          <a:bodyPr anchor="b">
            <a:normAutofit/>
          </a:bodyPr>
          <a:lstStyle>
            <a:lvl1pPr>
              <a:defRPr sz="2800" b="1"/>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617C39B-5B15-42D0-9FD5-25DF947CEC04}"/>
              </a:ext>
            </a:extLst>
          </p:cNvPr>
          <p:cNvSpPr>
            <a:spLocks noGrp="1"/>
          </p:cNvSpPr>
          <p:nvPr>
            <p:ph idx="1"/>
          </p:nvPr>
        </p:nvSpPr>
        <p:spPr>
          <a:xfrm>
            <a:off x="5183188" y="457201"/>
            <a:ext cx="6172200" cy="5403850"/>
          </a:xfrm>
        </p:spPr>
        <p:txBody>
          <a:bodyPr>
            <a:normAutofit/>
          </a:bodyPr>
          <a:lstStyle>
            <a:lvl1pPr>
              <a:lnSpc>
                <a:spcPct val="100000"/>
              </a:lnSpc>
              <a:spcAft>
                <a:spcPts val="600"/>
              </a:spcAft>
              <a:buClr>
                <a:schemeClr val="tx2"/>
              </a:buClr>
              <a:defRPr sz="2400"/>
            </a:lvl1pPr>
            <a:lvl2pPr>
              <a:lnSpc>
                <a:spcPct val="100000"/>
              </a:lnSpc>
              <a:spcAft>
                <a:spcPts val="600"/>
              </a:spcAft>
              <a:buClr>
                <a:schemeClr val="tx2"/>
              </a:buClr>
              <a:defRPr sz="2000"/>
            </a:lvl2pPr>
            <a:lvl3pPr>
              <a:lnSpc>
                <a:spcPct val="100000"/>
              </a:lnSpc>
              <a:spcAft>
                <a:spcPts val="600"/>
              </a:spcAft>
              <a:buClr>
                <a:schemeClr val="tx2"/>
              </a:buClr>
              <a:defRPr sz="1800"/>
            </a:lvl3pPr>
            <a:lvl4pPr>
              <a:lnSpc>
                <a:spcPct val="100000"/>
              </a:lnSpc>
              <a:spcAft>
                <a:spcPts val="600"/>
              </a:spcAft>
              <a:buClr>
                <a:schemeClr val="tx2"/>
              </a:buClr>
              <a:defRPr sz="1600"/>
            </a:lvl4pPr>
            <a:lvl5pPr>
              <a:lnSpc>
                <a:spcPct val="100000"/>
              </a:lnSpc>
              <a:spcAft>
                <a:spcPts val="600"/>
              </a:spcAft>
              <a:buClr>
                <a:schemeClr val="tx2"/>
              </a:buCl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1C37E46-996A-491F-A97E-04C3AC55E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Oval 7">
            <a:extLst>
              <a:ext uri="{FF2B5EF4-FFF2-40B4-BE49-F238E27FC236}">
                <a16:creationId xmlns:a16="http://schemas.microsoft.com/office/drawing/2014/main" id="{67A56235-5633-4675-AE02-AC252FFDBBC3}"/>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1599E9D-784C-48F2-BA78-AAC77F2F079F}"/>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2" name="Text Placeholder 9">
            <a:extLst>
              <a:ext uri="{FF2B5EF4-FFF2-40B4-BE49-F238E27FC236}">
                <a16:creationId xmlns:a16="http://schemas.microsoft.com/office/drawing/2014/main" id="{32A0447F-B122-43C3-8B0A-1B0B43231008}"/>
              </a:ext>
            </a:extLst>
          </p:cNvPr>
          <p:cNvSpPr>
            <a:spLocks noGrp="1"/>
          </p:cNvSpPr>
          <p:nvPr>
            <p:ph type="body" sz="quarter" idx="10"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2939038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5770-F278-4EEF-B8E8-066034A24C56}"/>
              </a:ext>
            </a:extLst>
          </p:cNvPr>
          <p:cNvSpPr>
            <a:spLocks noGrp="1"/>
          </p:cNvSpPr>
          <p:nvPr>
            <p:ph type="title"/>
          </p:nvPr>
        </p:nvSpPr>
        <p:spPr>
          <a:xfrm>
            <a:off x="839788" y="457200"/>
            <a:ext cx="3932237" cy="1600200"/>
          </a:xfrm>
        </p:spPr>
        <p:txBody>
          <a:bodyPr anchor="b">
            <a:normAutofit/>
          </a:bodyPr>
          <a:lstStyle>
            <a:lvl1pPr>
              <a:defRPr sz="2800" b="1"/>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FE7BB0B-D6F0-4CCD-A4FB-E1C4A71D5F27}"/>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3F44F781-47F0-4E97-BCF5-CCED680F3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Oval 7">
            <a:extLst>
              <a:ext uri="{FF2B5EF4-FFF2-40B4-BE49-F238E27FC236}">
                <a16:creationId xmlns:a16="http://schemas.microsoft.com/office/drawing/2014/main" id="{AA1603DD-00EE-4C36-9145-A947DACDFF28}"/>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8B924E50-1A07-4D01-990E-4A3A18032147}"/>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2" name="Text Placeholder 9">
            <a:extLst>
              <a:ext uri="{FF2B5EF4-FFF2-40B4-BE49-F238E27FC236}">
                <a16:creationId xmlns:a16="http://schemas.microsoft.com/office/drawing/2014/main" id="{55276DA2-6B5F-4076-BC4B-71EE3C198FE8}"/>
              </a:ext>
            </a:extLst>
          </p:cNvPr>
          <p:cNvSpPr>
            <a:spLocks noGrp="1"/>
          </p:cNvSpPr>
          <p:nvPr>
            <p:ph type="body" sz="quarter" idx="10"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194598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401CB-C926-4EB0-8608-9086A790B38C}"/>
              </a:ext>
            </a:extLst>
          </p:cNvPr>
          <p:cNvSpPr>
            <a:spLocks noGrp="1"/>
          </p:cNvSpPr>
          <p:nvPr>
            <p:ph type="title"/>
          </p:nvPr>
        </p:nvSpPr>
        <p:spPr/>
        <p:txBody>
          <a:bodyPr>
            <a:normAutofit/>
          </a:bodyPr>
          <a:lstStyle>
            <a:lvl1pPr>
              <a:defRPr sz="3600"/>
            </a:lvl1pPr>
          </a:lstStyle>
          <a:p>
            <a:r>
              <a:rPr lang="en-US"/>
              <a:t>Click to edit Master title style</a:t>
            </a:r>
            <a:endParaRPr lang="en-GB"/>
          </a:p>
        </p:txBody>
      </p:sp>
      <p:sp>
        <p:nvSpPr>
          <p:cNvPr id="4" name="Chart Placeholder 3">
            <a:extLst>
              <a:ext uri="{FF2B5EF4-FFF2-40B4-BE49-F238E27FC236}">
                <a16:creationId xmlns:a16="http://schemas.microsoft.com/office/drawing/2014/main" id="{35C303C3-9CF6-4B9F-87DC-791E9D87CA28}"/>
              </a:ext>
            </a:extLst>
          </p:cNvPr>
          <p:cNvSpPr>
            <a:spLocks noGrp="1"/>
          </p:cNvSpPr>
          <p:nvPr>
            <p:ph type="chart" sz="quarter" idx="10"/>
          </p:nvPr>
        </p:nvSpPr>
        <p:spPr>
          <a:xfrm>
            <a:off x="844550" y="1868488"/>
            <a:ext cx="5251450" cy="4270375"/>
          </a:xfrm>
        </p:spPr>
        <p:txBody>
          <a:bodyPr/>
          <a:lstStyle>
            <a:lvl1pPr>
              <a:defRPr sz="2400"/>
            </a:lvl1pPr>
          </a:lstStyle>
          <a:p>
            <a:r>
              <a:rPr lang="en-US"/>
              <a:t>Click icon to add chart</a:t>
            </a:r>
            <a:endParaRPr lang="en-GB"/>
          </a:p>
        </p:txBody>
      </p:sp>
      <p:sp>
        <p:nvSpPr>
          <p:cNvPr id="9" name="Text Placeholder 8">
            <a:extLst>
              <a:ext uri="{FF2B5EF4-FFF2-40B4-BE49-F238E27FC236}">
                <a16:creationId xmlns:a16="http://schemas.microsoft.com/office/drawing/2014/main" id="{D40117E5-B753-4FE0-BFE3-AEEB4E1769F7}"/>
              </a:ext>
            </a:extLst>
          </p:cNvPr>
          <p:cNvSpPr>
            <a:spLocks noGrp="1"/>
          </p:cNvSpPr>
          <p:nvPr>
            <p:ph type="body" sz="quarter" idx="11"/>
          </p:nvPr>
        </p:nvSpPr>
        <p:spPr>
          <a:xfrm>
            <a:off x="6310313" y="1868488"/>
            <a:ext cx="5037137" cy="2029087"/>
          </a:xfrm>
        </p:spPr>
        <p:txBody>
          <a:bodyPr/>
          <a:lstStyle>
            <a:lvl1pPr>
              <a:lnSpc>
                <a:spcPct val="100000"/>
              </a:lnSpc>
              <a:spcAft>
                <a:spcPts val="600"/>
              </a:spcAft>
              <a:defRPr sz="2400"/>
            </a:lvl1pPr>
            <a:lvl2pPr>
              <a:lnSpc>
                <a:spcPct val="100000"/>
              </a:lnSpc>
              <a:spcAft>
                <a:spcPts val="600"/>
              </a:spcAft>
              <a:defRPr sz="2000"/>
            </a:lvl2pPr>
            <a:lvl3pPr>
              <a:lnSpc>
                <a:spcPct val="100000"/>
              </a:lnSpc>
              <a:spcAft>
                <a:spcPts val="600"/>
              </a:spcAft>
              <a:defRPr sz="1800"/>
            </a:lvl3pPr>
            <a:lvl4pPr>
              <a:lnSpc>
                <a:spcPct val="100000"/>
              </a:lnSpc>
              <a:spcAft>
                <a:spcPts val="600"/>
              </a:spcAft>
              <a:defRPr sz="1600"/>
            </a:lvl4pPr>
            <a:lvl5pPr>
              <a:lnSpc>
                <a:spcPct val="100000"/>
              </a:lnSpc>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a:extLst>
              <a:ext uri="{FF2B5EF4-FFF2-40B4-BE49-F238E27FC236}">
                <a16:creationId xmlns:a16="http://schemas.microsoft.com/office/drawing/2014/main" id="{985847C0-745D-455F-8C65-C71C01784F93}"/>
              </a:ext>
            </a:extLst>
          </p:cNvPr>
          <p:cNvSpPr>
            <a:spLocks noGrp="1"/>
          </p:cNvSpPr>
          <p:nvPr>
            <p:ph type="body" sz="quarter" idx="12"/>
          </p:nvPr>
        </p:nvSpPr>
        <p:spPr>
          <a:xfrm>
            <a:off x="6310312" y="3983896"/>
            <a:ext cx="5037137" cy="2154968"/>
          </a:xfrm>
        </p:spPr>
        <p:txBody>
          <a:bodyPr>
            <a:normAutofit/>
          </a:bodyPr>
          <a:lstStyle>
            <a:lvl1pPr>
              <a:lnSpc>
                <a:spcPct val="100000"/>
              </a:lnSpc>
              <a:spcAft>
                <a:spcPts val="600"/>
              </a:spcAft>
              <a:defRPr sz="2400"/>
            </a:lvl1pPr>
            <a:lvl2pPr>
              <a:lnSpc>
                <a:spcPct val="100000"/>
              </a:lnSpc>
              <a:spcAft>
                <a:spcPts val="600"/>
              </a:spcAft>
              <a:defRPr sz="2000"/>
            </a:lvl2pPr>
            <a:lvl3pPr>
              <a:lnSpc>
                <a:spcPct val="100000"/>
              </a:lnSpc>
              <a:spcAft>
                <a:spcPts val="600"/>
              </a:spcAft>
              <a:defRPr sz="1800"/>
            </a:lvl3pPr>
            <a:lvl4pPr>
              <a:lnSpc>
                <a:spcPct val="100000"/>
              </a:lnSpc>
              <a:spcAft>
                <a:spcPts val="600"/>
              </a:spcAft>
              <a:defRPr sz="1600"/>
            </a:lvl4pPr>
            <a:lvl5pPr>
              <a:lnSpc>
                <a:spcPct val="100000"/>
              </a:lnSpc>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Oval 10">
            <a:extLst>
              <a:ext uri="{FF2B5EF4-FFF2-40B4-BE49-F238E27FC236}">
                <a16:creationId xmlns:a16="http://schemas.microsoft.com/office/drawing/2014/main" id="{8367F709-DA8C-46E0-90A3-DE3E99B1094F}"/>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E3B7193-1376-4C73-986D-32F82580A62E}"/>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4" name="Text Placeholder 9">
            <a:extLst>
              <a:ext uri="{FF2B5EF4-FFF2-40B4-BE49-F238E27FC236}">
                <a16:creationId xmlns:a16="http://schemas.microsoft.com/office/drawing/2014/main" id="{181F4B05-9F79-4BAB-94B9-1B1B8DFD39E0}"/>
              </a:ext>
            </a:extLst>
          </p:cNvPr>
          <p:cNvSpPr>
            <a:spLocks noGrp="1"/>
          </p:cNvSpPr>
          <p:nvPr>
            <p:ph type="body" sz="quarter" idx="13"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24002411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C35B942-40EB-46F0-B0E0-4E062FE7101B}"/>
              </a:ext>
            </a:extLst>
          </p:cNvPr>
          <p:cNvSpPr>
            <a:spLocks noGrp="1"/>
          </p:cNvSpPr>
          <p:nvPr>
            <p:ph type="pic" sz="quarter" idx="10"/>
          </p:nvPr>
        </p:nvSpPr>
        <p:spPr>
          <a:xfrm>
            <a:off x="1416818" y="803310"/>
            <a:ext cx="9365063" cy="3627438"/>
          </a:xfrm>
        </p:spPr>
        <p:txBody>
          <a:bodyPr>
            <a:normAutofit/>
          </a:bodyPr>
          <a:lstStyle>
            <a:lvl1pPr>
              <a:defRPr sz="2400"/>
            </a:lvl1pPr>
          </a:lstStyle>
          <a:p>
            <a:r>
              <a:rPr lang="en-US"/>
              <a:t>Click icon to add picture</a:t>
            </a:r>
            <a:endParaRPr lang="en-GB"/>
          </a:p>
        </p:txBody>
      </p:sp>
      <p:sp>
        <p:nvSpPr>
          <p:cNvPr id="9" name="Text Placeholder 8">
            <a:extLst>
              <a:ext uri="{FF2B5EF4-FFF2-40B4-BE49-F238E27FC236}">
                <a16:creationId xmlns:a16="http://schemas.microsoft.com/office/drawing/2014/main" id="{59C02F5D-0666-4C36-843D-101701392BF4}"/>
              </a:ext>
            </a:extLst>
          </p:cNvPr>
          <p:cNvSpPr>
            <a:spLocks noGrp="1"/>
          </p:cNvSpPr>
          <p:nvPr>
            <p:ph type="body" sz="quarter" idx="11"/>
          </p:nvPr>
        </p:nvSpPr>
        <p:spPr>
          <a:xfrm>
            <a:off x="1416818" y="4430749"/>
            <a:ext cx="9365063" cy="571396"/>
          </a:xfrm>
        </p:spPr>
        <p:txBody>
          <a:bodyPr>
            <a:noAutofit/>
          </a:bodyPr>
          <a:lstStyle>
            <a:lvl1pPr marL="0" indent="0">
              <a:buNone/>
              <a:defRPr sz="2400"/>
            </a:lvl1pPr>
            <a:lvl2pPr marL="457200" indent="0">
              <a:buNone/>
              <a:defRPr sz="2000"/>
            </a:lvl2pPr>
            <a:lvl3pPr>
              <a:defRPr sz="1800"/>
            </a:lvl3pPr>
            <a:lvl4pPr>
              <a:defRPr sz="1600"/>
            </a:lvl4pPr>
            <a:lvl5pPr>
              <a:defRPr sz="1600"/>
            </a:lvl5pPr>
          </a:lstStyle>
          <a:p>
            <a:pPr lvl="0"/>
            <a:r>
              <a:rPr lang="en-US"/>
              <a:t>Click to edit Master text styles</a:t>
            </a:r>
          </a:p>
          <a:p>
            <a:pPr lvl="1"/>
            <a:r>
              <a:rPr lang="en-US"/>
              <a:t>Second level</a:t>
            </a:r>
          </a:p>
        </p:txBody>
      </p:sp>
      <p:sp>
        <p:nvSpPr>
          <p:cNvPr id="11" name="Text Placeholder 10">
            <a:extLst>
              <a:ext uri="{FF2B5EF4-FFF2-40B4-BE49-F238E27FC236}">
                <a16:creationId xmlns:a16="http://schemas.microsoft.com/office/drawing/2014/main" id="{C6AB639F-2DCC-4B64-9B4A-0F6D8E995EAB}"/>
              </a:ext>
            </a:extLst>
          </p:cNvPr>
          <p:cNvSpPr>
            <a:spLocks noGrp="1"/>
          </p:cNvSpPr>
          <p:nvPr>
            <p:ph type="body" sz="quarter" idx="12"/>
          </p:nvPr>
        </p:nvSpPr>
        <p:spPr>
          <a:xfrm>
            <a:off x="1416818" y="5002145"/>
            <a:ext cx="9365063" cy="1189105"/>
          </a:xfrm>
        </p:spPr>
        <p:txBody>
          <a:bodyPr>
            <a:noAutofit/>
          </a:bodyPr>
          <a:lstStyle>
            <a:lvl1pPr>
              <a:lnSpc>
                <a:spcPct val="100000"/>
              </a:lnSpc>
              <a:spcAft>
                <a:spcPts val="600"/>
              </a:spcAft>
              <a:defRPr sz="2400"/>
            </a:lvl1pPr>
            <a:lvl2pPr>
              <a:lnSpc>
                <a:spcPct val="100000"/>
              </a:lnSpc>
              <a:spcAft>
                <a:spcPts val="600"/>
              </a:spcAft>
              <a:defRPr sz="2000"/>
            </a:lvl2pPr>
            <a:lvl3pPr>
              <a:lnSpc>
                <a:spcPct val="100000"/>
              </a:lnSpc>
              <a:spcAft>
                <a:spcPts val="600"/>
              </a:spcAft>
              <a:defRPr sz="1800"/>
            </a:lvl3pPr>
            <a:lvl4pPr>
              <a:lnSpc>
                <a:spcPct val="100000"/>
              </a:lnSpc>
              <a:spcAft>
                <a:spcPts val="600"/>
              </a:spcAft>
              <a:defRPr sz="1600"/>
            </a:lvl4pPr>
            <a:lvl5pPr>
              <a:lnSpc>
                <a:spcPct val="100000"/>
              </a:lnSpc>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Oval 11">
            <a:extLst>
              <a:ext uri="{FF2B5EF4-FFF2-40B4-BE49-F238E27FC236}">
                <a16:creationId xmlns:a16="http://schemas.microsoft.com/office/drawing/2014/main" id="{B7C89AA3-5D11-4E18-9127-54A7024A6067}"/>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26AD9B9A-99BA-4781-8C33-F84E509EBBBC}"/>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15" name="Text Placeholder 9">
            <a:extLst>
              <a:ext uri="{FF2B5EF4-FFF2-40B4-BE49-F238E27FC236}">
                <a16:creationId xmlns:a16="http://schemas.microsoft.com/office/drawing/2014/main" id="{A3B6226A-2DFE-46DE-BF6B-D718A3224CE5}"/>
              </a:ext>
            </a:extLst>
          </p:cNvPr>
          <p:cNvSpPr>
            <a:spLocks noGrp="1"/>
          </p:cNvSpPr>
          <p:nvPr>
            <p:ph type="body" sz="quarter" idx="13" hasCustomPrompt="1"/>
          </p:nvPr>
        </p:nvSpPr>
        <p:spPr>
          <a:xfrm>
            <a:off x="2718923" y="6294526"/>
            <a:ext cx="6789219"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10779278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5F46-2069-4906-8BA2-A4E010CB9AD2}"/>
              </a:ext>
            </a:extLst>
          </p:cNvPr>
          <p:cNvSpPr>
            <a:spLocks noGrp="1"/>
          </p:cNvSpPr>
          <p:nvPr>
            <p:ph type="title"/>
          </p:nvPr>
        </p:nvSpPr>
        <p:spPr/>
        <p:txBody>
          <a:bodyPr>
            <a:normAutofit/>
          </a:bodyPr>
          <a:lstStyle>
            <a:lvl1pPr>
              <a:defRPr sz="3600" b="1"/>
            </a:lvl1pPr>
          </a:lstStyle>
          <a:p>
            <a:r>
              <a:rPr lang="en-US"/>
              <a:t>Click to edit Master title style</a:t>
            </a:r>
            <a:endParaRPr lang="en-GB"/>
          </a:p>
        </p:txBody>
      </p:sp>
      <p:sp>
        <p:nvSpPr>
          <p:cNvPr id="6" name="Oval 5">
            <a:extLst>
              <a:ext uri="{FF2B5EF4-FFF2-40B4-BE49-F238E27FC236}">
                <a16:creationId xmlns:a16="http://schemas.microsoft.com/office/drawing/2014/main" id="{25513B00-4A8B-413A-ABB3-2BA6AA61B743}"/>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3A06C0B-C8A8-453E-81EE-1DEF11497F23}"/>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Tree>
    <p:extLst>
      <p:ext uri="{BB962C8B-B14F-4D97-AF65-F5344CB8AC3E}">
        <p14:creationId xmlns:p14="http://schemas.microsoft.com/office/powerpoint/2010/main" val="6306963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0DB6E5D9-4CAE-4D24-AFB1-C06E64A0CECE}"/>
              </a:ext>
            </a:extLst>
          </p:cNvPr>
          <p:cNvSpPr/>
          <p:nvPr userDrawn="1"/>
        </p:nvSpPr>
        <p:spPr>
          <a:xfrm>
            <a:off x="11231285" y="365125"/>
            <a:ext cx="466794" cy="46679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26EB96B3-ED58-4467-9ACA-2B19D434F133}"/>
              </a:ext>
            </a:extLst>
          </p:cNvPr>
          <p:cNvSpPr/>
          <p:nvPr userDrawn="1"/>
        </p:nvSpPr>
        <p:spPr>
          <a:xfrm>
            <a:off x="11263320" y="434585"/>
            <a:ext cx="404277" cy="307777"/>
          </a:xfrm>
          <a:prstGeom prst="rect">
            <a:avLst/>
          </a:prstGeom>
        </p:spPr>
        <p:txBody>
          <a:bodyPr wrap="none">
            <a:spAutoFit/>
          </a:bodyPr>
          <a:lstStyle/>
          <a:p>
            <a:pPr algn="ctr"/>
            <a:fld id="{6E851028-1E49-4383-9A44-59A2BD6CB9D7}" type="slidenum">
              <a:rPr lang="en-GB" sz="1400" smtClean="0">
                <a:solidFill>
                  <a:schemeClr val="bg1"/>
                </a:solidFill>
              </a:rPr>
              <a:pPr algn="ctr"/>
              <a:t>‹Nr.›</a:t>
            </a:fld>
            <a:endParaRPr lang="en-GB">
              <a:solidFill>
                <a:schemeClr val="bg1"/>
              </a:solidFill>
            </a:endParaRPr>
          </a:p>
        </p:txBody>
      </p:sp>
      <p:sp>
        <p:nvSpPr>
          <p:cNvPr id="9" name="Text Placeholder 9">
            <a:extLst>
              <a:ext uri="{FF2B5EF4-FFF2-40B4-BE49-F238E27FC236}">
                <a16:creationId xmlns:a16="http://schemas.microsoft.com/office/drawing/2014/main" id="{66DF12C7-C868-49B7-9F87-92E27392285E}"/>
              </a:ext>
            </a:extLst>
          </p:cNvPr>
          <p:cNvSpPr>
            <a:spLocks noGrp="1"/>
          </p:cNvSpPr>
          <p:nvPr>
            <p:ph type="body" sz="quarter" idx="13" hasCustomPrompt="1"/>
          </p:nvPr>
        </p:nvSpPr>
        <p:spPr>
          <a:xfrm>
            <a:off x="838200" y="6269990"/>
            <a:ext cx="8753475" cy="334963"/>
          </a:xfrm>
        </p:spPr>
        <p:txBody>
          <a:bodyPr>
            <a:noAutofit/>
          </a:bodyPr>
          <a:lstStyle>
            <a:lvl1pPr marL="0" indent="0">
              <a:buNone/>
              <a:defRPr sz="1400"/>
            </a:lvl1pPr>
          </a:lstStyle>
          <a:p>
            <a:pPr lvl="0"/>
            <a:r>
              <a:rPr lang="en-US"/>
              <a:t>Click to insert reference</a:t>
            </a:r>
            <a:endParaRPr lang="en-GB"/>
          </a:p>
        </p:txBody>
      </p:sp>
    </p:spTree>
    <p:extLst>
      <p:ext uri="{BB962C8B-B14F-4D97-AF65-F5344CB8AC3E}">
        <p14:creationId xmlns:p14="http://schemas.microsoft.com/office/powerpoint/2010/main" val="3117618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25DAE6-01C0-46C6-9BDD-03A1CB1C38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5BC877-B688-44F2-A51E-DD43F7A230BE}"/>
              </a:ext>
            </a:extLst>
          </p:cNvPr>
          <p:cNvSpPr>
            <a:spLocks noGrp="1"/>
          </p:cNvSpPr>
          <p:nvPr>
            <p:ph type="body" idx="1"/>
          </p:nvPr>
        </p:nvSpPr>
        <p:spPr>
          <a:xfrm>
            <a:off x="838200" y="1690688"/>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00BE71-84E3-4A38-A1BE-0201A6CB64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02771-4AD9-44F0-BF10-A569BCF627B5}" type="datetimeFigureOut">
              <a:rPr lang="en-GB" smtClean="0"/>
              <a:t>06/07/2026</a:t>
            </a:fld>
            <a:endParaRPr lang="en-GB"/>
          </a:p>
        </p:txBody>
      </p:sp>
      <p:sp>
        <p:nvSpPr>
          <p:cNvPr id="5" name="Footer Placeholder 4">
            <a:extLst>
              <a:ext uri="{FF2B5EF4-FFF2-40B4-BE49-F238E27FC236}">
                <a16:creationId xmlns:a16="http://schemas.microsoft.com/office/drawing/2014/main" id="{F4AAF48A-6C54-480C-85BD-18791BE197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D6835E1-151E-4A3C-B831-163DAA9D81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E10AB-C8AC-4123-835F-6B8C73941A41}" type="slidenum">
              <a:rPr lang="en-GB" smtClean="0"/>
              <a:t>‹Nr.›</a:t>
            </a:fld>
            <a:endParaRPr lang="en-GB"/>
          </a:p>
        </p:txBody>
      </p:sp>
      <p:sp>
        <p:nvSpPr>
          <p:cNvPr id="7" name="Rectangle 9">
            <a:extLst>
              <a:ext uri="{FF2B5EF4-FFF2-40B4-BE49-F238E27FC236}">
                <a16:creationId xmlns:a16="http://schemas.microsoft.com/office/drawing/2014/main" id="{1B25227D-1840-4631-B177-F1AF0C33D46A}"/>
              </a:ext>
            </a:extLst>
          </p:cNvPr>
          <p:cNvSpPr>
            <a:spLocks noChangeArrowheads="1"/>
          </p:cNvSpPr>
          <p:nvPr userDrawn="1"/>
        </p:nvSpPr>
        <p:spPr bwMode="auto">
          <a:xfrm>
            <a:off x="0" y="6356350"/>
            <a:ext cx="12192000" cy="501649"/>
          </a:xfrm>
          <a:prstGeom prst="rect">
            <a:avLst/>
          </a:prstGeom>
          <a:solidFill>
            <a:srgbClr val="2A5C30"/>
          </a:solidFill>
          <a:ln w="9525">
            <a:noFill/>
            <a:miter lim="800000"/>
            <a:headEnd/>
            <a:tailEnd/>
          </a:ln>
          <a:effectLst/>
        </p:spPr>
        <p:txBody>
          <a:bodyPr wrap="none" anchor="ctr"/>
          <a:lstStyle/>
          <a:p>
            <a:pPr algn="ctr" fontAlgn="base">
              <a:spcBef>
                <a:spcPct val="0"/>
              </a:spcBef>
              <a:spcAft>
                <a:spcPct val="0"/>
              </a:spcAft>
            </a:pPr>
            <a:endParaRPr lang="en-US">
              <a:solidFill>
                <a:srgbClr val="000000"/>
              </a:solidFill>
            </a:endParaRPr>
          </a:p>
        </p:txBody>
      </p:sp>
      <p:sp>
        <p:nvSpPr>
          <p:cNvPr id="8" name="Line 10">
            <a:extLst>
              <a:ext uri="{FF2B5EF4-FFF2-40B4-BE49-F238E27FC236}">
                <a16:creationId xmlns:a16="http://schemas.microsoft.com/office/drawing/2014/main" id="{C0C46067-2FA2-429B-8674-6DB38BAC2C97}"/>
              </a:ext>
            </a:extLst>
          </p:cNvPr>
          <p:cNvSpPr>
            <a:spLocks noChangeShapeType="1"/>
          </p:cNvSpPr>
          <p:nvPr userDrawn="1"/>
        </p:nvSpPr>
        <p:spPr bwMode="auto">
          <a:xfrm flipV="1">
            <a:off x="0" y="156838"/>
            <a:ext cx="12192000" cy="0"/>
          </a:xfrm>
          <a:prstGeom prst="line">
            <a:avLst/>
          </a:prstGeom>
          <a:noFill/>
          <a:ln w="317500">
            <a:solidFill>
              <a:srgbClr val="2A5C30"/>
            </a:solidFill>
            <a:round/>
            <a:headEnd/>
            <a:tailEnd/>
          </a:ln>
          <a:effectLst/>
        </p:spPr>
        <p:txBody>
          <a:bodyPr/>
          <a:lstStyle/>
          <a:p>
            <a:pPr fontAlgn="base">
              <a:spcBef>
                <a:spcPct val="0"/>
              </a:spcBef>
              <a:spcAft>
                <a:spcPct val="0"/>
              </a:spcAft>
            </a:pPr>
            <a:endParaRPr lang="en-US">
              <a:solidFill>
                <a:srgbClr val="000000"/>
              </a:solidFill>
            </a:endParaRPr>
          </a:p>
        </p:txBody>
      </p:sp>
      <p:pic>
        <p:nvPicPr>
          <p:cNvPr id="9" name="Picture 4">
            <a:extLst>
              <a:ext uri="{FF2B5EF4-FFF2-40B4-BE49-F238E27FC236}">
                <a16:creationId xmlns:a16="http://schemas.microsoft.com/office/drawing/2014/main" id="{754C45C2-6FDC-40CD-B427-70559DB61C76}"/>
              </a:ext>
            </a:extLst>
          </p:cNvPr>
          <p:cNvPicPr>
            <a:picLocks noChangeAspect="1" noChangeArrowheads="1"/>
          </p:cNvPicPr>
          <p:nvPr userDrawn="1"/>
        </p:nvPicPr>
        <p:blipFill>
          <a:blip r:embed="rId23">
            <a:extLst>
              <a:ext uri="{28A0092B-C50C-407E-A947-70E740481C1C}">
                <a14:useLocalDpi xmlns:a14="http://schemas.microsoft.com/office/drawing/2010/main" val="0"/>
              </a:ext>
            </a:extLst>
          </a:blip>
          <a:srcRect/>
          <a:stretch>
            <a:fillRect/>
          </a:stretch>
        </p:blipFill>
        <p:spPr bwMode="auto">
          <a:xfrm>
            <a:off x="5428570" y="6273963"/>
            <a:ext cx="1334860" cy="655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46601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image" Target="../media/image28.tmp"/><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tmp"/><Relationship Id="rId2" Type="http://schemas.openxmlformats.org/officeDocument/2006/relationships/image" Target="../media/image45.tmp"/><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hyperlink" Target="https://iupac-inchi.github.io/InChI-Web-Demo/" TargetMode="External"/><Relationship Id="rId2" Type="http://schemas.openxmlformats.org/officeDocument/2006/relationships/image" Target="../media/image51.tmp"/><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2.xml"/><Relationship Id="rId4" Type="http://schemas.openxmlformats.org/officeDocument/2006/relationships/image" Target="../media/image55.tmp"/></Relationships>
</file>

<file path=ppt/slides/_rels/slide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0">
            <a:extLst>
              <a:ext uri="{FF2B5EF4-FFF2-40B4-BE49-F238E27FC236}">
                <a16:creationId xmlns:a16="http://schemas.microsoft.com/office/drawing/2014/main" id="{EF79A264-4E24-5E20-CD9D-B0EA808C1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2831"/>
            <a:ext cx="2817685" cy="1991119"/>
          </a:xfrm>
          <a:prstGeom prst="rect">
            <a:avLst/>
          </a:prstGeom>
        </p:spPr>
      </p:pic>
      <p:sp>
        <p:nvSpPr>
          <p:cNvPr id="2" name="Titel 1">
            <a:extLst>
              <a:ext uri="{FF2B5EF4-FFF2-40B4-BE49-F238E27FC236}">
                <a16:creationId xmlns:a16="http://schemas.microsoft.com/office/drawing/2014/main" id="{3F8D4D98-45DE-8FE3-4C87-287BDD16897F}"/>
              </a:ext>
            </a:extLst>
          </p:cNvPr>
          <p:cNvSpPr>
            <a:spLocks noGrp="1"/>
          </p:cNvSpPr>
          <p:nvPr>
            <p:ph type="ctrTitle"/>
          </p:nvPr>
        </p:nvSpPr>
        <p:spPr/>
        <p:txBody>
          <a:bodyPr>
            <a:normAutofit/>
          </a:bodyPr>
          <a:lstStyle/>
          <a:p>
            <a:r>
              <a:rPr lang="en-US" dirty="0"/>
              <a:t>Enhanced stereochemistry</a:t>
            </a:r>
            <a:br>
              <a:rPr lang="en-US" dirty="0"/>
            </a:br>
            <a:endParaRPr lang="en-US" dirty="0"/>
          </a:p>
        </p:txBody>
      </p:sp>
      <p:sp>
        <p:nvSpPr>
          <p:cNvPr id="3" name="Untertitel 2">
            <a:extLst>
              <a:ext uri="{FF2B5EF4-FFF2-40B4-BE49-F238E27FC236}">
                <a16:creationId xmlns:a16="http://schemas.microsoft.com/office/drawing/2014/main" id="{E5B23793-A19E-C87F-8084-3990B961F4B6}"/>
              </a:ext>
            </a:extLst>
          </p:cNvPr>
          <p:cNvSpPr>
            <a:spLocks noGrp="1"/>
          </p:cNvSpPr>
          <p:nvPr>
            <p:ph type="subTitle" idx="1"/>
          </p:nvPr>
        </p:nvSpPr>
        <p:spPr>
          <a:xfrm>
            <a:off x="594565" y="3602037"/>
            <a:ext cx="10960499" cy="2515832"/>
          </a:xfrm>
        </p:spPr>
        <p:txBody>
          <a:bodyPr>
            <a:normAutofit/>
          </a:bodyPr>
          <a:lstStyle/>
          <a:p>
            <a:r>
              <a:rPr lang="en-US" dirty="0"/>
              <a:t>Gerd Blanke</a:t>
            </a:r>
          </a:p>
          <a:p>
            <a:r>
              <a:rPr lang="en-US" sz="1600" dirty="0"/>
              <a:t>Technical Director of the InChI Trust</a:t>
            </a:r>
          </a:p>
          <a:p>
            <a:r>
              <a:rPr lang="en-US" sz="2000" i="1" dirty="0"/>
              <a:t>Christoph Müller, Djordje Baljozovic, Felix Bänsch, Jan Brammer, Nauman Ullah Khan</a:t>
            </a:r>
          </a:p>
          <a:p>
            <a:r>
              <a:rPr lang="en-US" sz="2000" dirty="0"/>
              <a:t>InChI discussions</a:t>
            </a:r>
          </a:p>
          <a:p>
            <a:r>
              <a:rPr lang="en-US" sz="2000" dirty="0"/>
              <a:t>25-June-2026</a:t>
            </a:r>
          </a:p>
          <a:p>
            <a:endParaRPr lang="en-US" dirty="0"/>
          </a:p>
        </p:txBody>
      </p:sp>
    </p:spTree>
    <p:extLst>
      <p:ext uri="{BB962C8B-B14F-4D97-AF65-F5344CB8AC3E}">
        <p14:creationId xmlns:p14="http://schemas.microsoft.com/office/powerpoint/2010/main" val="2490974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pieren 3">
            <a:extLst>
              <a:ext uri="{FF2B5EF4-FFF2-40B4-BE49-F238E27FC236}">
                <a16:creationId xmlns:a16="http://schemas.microsoft.com/office/drawing/2014/main" id="{B4AD3BED-652A-C5A7-CB6C-F4A88C721562}"/>
              </a:ext>
            </a:extLst>
          </p:cNvPr>
          <p:cNvGrpSpPr/>
          <p:nvPr/>
        </p:nvGrpSpPr>
        <p:grpSpPr>
          <a:xfrm>
            <a:off x="3917628" y="1097878"/>
            <a:ext cx="7720034" cy="4774026"/>
            <a:chOff x="108253" y="7820270"/>
            <a:chExt cx="7720034" cy="4774026"/>
          </a:xfrm>
        </p:grpSpPr>
        <p:pic>
          <p:nvPicPr>
            <p:cNvPr id="5" name="image1.png">
              <a:extLst>
                <a:ext uri="{FF2B5EF4-FFF2-40B4-BE49-F238E27FC236}">
                  <a16:creationId xmlns:a16="http://schemas.microsoft.com/office/drawing/2014/main" id="{70AE4C1E-B4D6-99D8-811D-E3722A09F4B4}"/>
                </a:ext>
              </a:extLst>
            </p:cNvPr>
            <p:cNvPicPr/>
            <p:nvPr/>
          </p:nvPicPr>
          <p:blipFill>
            <a:blip r:embed="rId2"/>
            <a:srcRect/>
            <a:stretch>
              <a:fillRect/>
            </a:stretch>
          </p:blipFill>
          <p:spPr>
            <a:xfrm>
              <a:off x="108253" y="7820270"/>
              <a:ext cx="7720033" cy="4605215"/>
            </a:xfrm>
            <a:prstGeom prst="rect">
              <a:avLst/>
            </a:prstGeom>
            <a:ln/>
          </p:spPr>
        </p:pic>
        <p:sp>
          <p:nvSpPr>
            <p:cNvPr id="6" name="Inhaltsplatzhalter 2">
              <a:extLst>
                <a:ext uri="{FF2B5EF4-FFF2-40B4-BE49-F238E27FC236}">
                  <a16:creationId xmlns:a16="http://schemas.microsoft.com/office/drawing/2014/main" id="{0A1A5EBF-4DE8-6929-1CC8-EE84B4CA9D3B}"/>
                </a:ext>
              </a:extLst>
            </p:cNvPr>
            <p:cNvSpPr txBox="1">
              <a:spLocks/>
            </p:cNvSpPr>
            <p:nvPr/>
          </p:nvSpPr>
          <p:spPr>
            <a:xfrm>
              <a:off x="5619751" y="8135084"/>
              <a:ext cx="2208536" cy="1989328"/>
            </a:xfrm>
            <a:prstGeom prst="rect">
              <a:avLst/>
            </a:prstGeom>
          </p:spPr>
          <p:txBody>
            <a:bodyPr vert="horz" lIns="91440" tIns="45720" rIns="91440" bIns="45720" rtlCol="0">
              <a:normAutofit fontScale="25000" lnSpcReduction="20000"/>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lgn="r">
                <a:spcBef>
                  <a:spcPts val="0"/>
                </a:spcBef>
                <a:spcAft>
                  <a:spcPts val="600"/>
                </a:spcAft>
              </a:pPr>
              <a:r>
                <a:rPr lang="en-US" sz="9600" b="1" dirty="0">
                  <a:latin typeface="Calibri" panose="020F0502020204030204" pitchFamily="34" charset="0"/>
                  <a:cs typeface="Calibri" panose="020F0502020204030204" pitchFamily="34" charset="0"/>
                </a:rPr>
                <a:t>InChI</a:t>
              </a:r>
            </a:p>
            <a:p>
              <a:pPr algn="r">
                <a:lnSpc>
                  <a:spcPct val="120000"/>
                </a:lnSpc>
                <a:spcBef>
                  <a:spcPts val="0"/>
                </a:spcBef>
                <a:tabLst>
                  <a:tab pos="269875" algn="l"/>
                </a:tabLst>
              </a:pPr>
              <a:r>
                <a:rPr lang="en-US" sz="8000" dirty="0">
                  <a:latin typeface="Calibri" panose="020F0502020204030204" pitchFamily="34" charset="0"/>
                  <a:cs typeface="Calibri" panose="020F0502020204030204" pitchFamily="34" charset="0"/>
                </a:rPr>
                <a:t>Layered ordered molecule collections based on connectivity and ligand counts</a:t>
              </a:r>
              <a:r>
                <a:rPr lang="en-US" sz="11200" dirty="0">
                  <a:latin typeface="Calibri" panose="020F0502020204030204" pitchFamily="34" charset="0"/>
                  <a:cs typeface="Calibri" panose="020F0502020204030204" pitchFamily="34" charset="0"/>
                </a:rPr>
                <a:t>	</a:t>
              </a:r>
            </a:p>
          </p:txBody>
        </p:sp>
        <p:sp>
          <p:nvSpPr>
            <p:cNvPr id="7" name="Inhaltsplatzhalter 2">
              <a:extLst>
                <a:ext uri="{FF2B5EF4-FFF2-40B4-BE49-F238E27FC236}">
                  <a16:creationId xmlns:a16="http://schemas.microsoft.com/office/drawing/2014/main" id="{A525814B-1D13-0C20-C515-B2CB6017BD9A}"/>
                </a:ext>
              </a:extLst>
            </p:cNvPr>
            <p:cNvSpPr txBox="1">
              <a:spLocks/>
            </p:cNvSpPr>
            <p:nvPr/>
          </p:nvSpPr>
          <p:spPr>
            <a:xfrm>
              <a:off x="5086350" y="11662858"/>
              <a:ext cx="2741936" cy="931438"/>
            </a:xfrm>
            <a:prstGeom prst="rect">
              <a:avLst/>
            </a:prstGeom>
          </p:spPr>
          <p:txBody>
            <a:bodyPr vert="horz" lIns="91440" tIns="45720" rIns="91440" bIns="45720" rtlCol="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lgn="r">
                <a:spcBef>
                  <a:spcPts val="1200"/>
                </a:spcBef>
              </a:pPr>
              <a:r>
                <a:rPr lang="en-US" sz="2400" b="1" dirty="0">
                  <a:latin typeface="Calibri" panose="020F0502020204030204" pitchFamily="34" charset="0"/>
                  <a:cs typeface="Calibri" panose="020F0502020204030204" pitchFamily="34" charset="0"/>
                </a:rPr>
                <a:t>InChIKeys</a:t>
              </a:r>
            </a:p>
            <a:p>
              <a:pPr algn="r">
                <a:spcBef>
                  <a:spcPts val="0"/>
                </a:spcBef>
              </a:pPr>
              <a:r>
                <a:rPr lang="en-US" sz="2000" dirty="0">
                  <a:latin typeface="Calibri" panose="020F0502020204030204" pitchFamily="34" charset="0"/>
                  <a:cs typeface="Calibri" panose="020F0502020204030204" pitchFamily="34" charset="0"/>
                </a:rPr>
                <a:t>Fixed length InChI hash</a:t>
              </a:r>
            </a:p>
          </p:txBody>
        </p:sp>
      </p:grpSp>
      <p:sp>
        <p:nvSpPr>
          <p:cNvPr id="2" name="Titel 1">
            <a:extLst>
              <a:ext uri="{FF2B5EF4-FFF2-40B4-BE49-F238E27FC236}">
                <a16:creationId xmlns:a16="http://schemas.microsoft.com/office/drawing/2014/main" id="{2770EBD0-5C42-49C7-B5A6-0D6E950D8EC2}"/>
              </a:ext>
            </a:extLst>
          </p:cNvPr>
          <p:cNvSpPr>
            <a:spLocks noGrp="1"/>
          </p:cNvSpPr>
          <p:nvPr>
            <p:ph type="title"/>
          </p:nvPr>
        </p:nvSpPr>
        <p:spPr/>
        <p:txBody>
          <a:bodyPr/>
          <a:lstStyle/>
          <a:p>
            <a:r>
              <a:rPr lang="en-GB" dirty="0"/>
              <a:t>What is InChI?</a:t>
            </a:r>
            <a:endParaRPr lang="en-US" dirty="0"/>
          </a:p>
        </p:txBody>
      </p:sp>
      <p:sp>
        <p:nvSpPr>
          <p:cNvPr id="3" name="Inhaltsplatzhalter 2">
            <a:extLst>
              <a:ext uri="{FF2B5EF4-FFF2-40B4-BE49-F238E27FC236}">
                <a16:creationId xmlns:a16="http://schemas.microsoft.com/office/drawing/2014/main" id="{64D08F69-C516-F27D-255F-2999550BED7A}"/>
              </a:ext>
            </a:extLst>
          </p:cNvPr>
          <p:cNvSpPr>
            <a:spLocks noGrp="1"/>
          </p:cNvSpPr>
          <p:nvPr>
            <p:ph idx="1"/>
          </p:nvPr>
        </p:nvSpPr>
        <p:spPr>
          <a:xfrm>
            <a:off x="7845166" y="5722679"/>
            <a:ext cx="3792495" cy="510272"/>
          </a:xfrm>
        </p:spPr>
        <p:txBody>
          <a:bodyPr>
            <a:normAutofit fontScale="55000" lnSpcReduction="20000"/>
          </a:bodyPr>
          <a:lstStyle/>
          <a:p>
            <a:pPr marL="0" indent="0">
              <a:buNone/>
            </a:pPr>
            <a:r>
              <a:rPr lang="en-US" dirty="0"/>
              <a:t>Keys note:</a:t>
            </a:r>
          </a:p>
          <a:p>
            <a:r>
              <a:rPr lang="en-US" sz="2000" b="0" dirty="0"/>
              <a:t>Collisions every few billion structures: none in PubChem </a:t>
            </a:r>
          </a:p>
        </p:txBody>
      </p:sp>
      <p:sp>
        <p:nvSpPr>
          <p:cNvPr id="10" name="Inhaltsplatzhalter 2">
            <a:extLst>
              <a:ext uri="{FF2B5EF4-FFF2-40B4-BE49-F238E27FC236}">
                <a16:creationId xmlns:a16="http://schemas.microsoft.com/office/drawing/2014/main" id="{B2DA7DB9-CCF8-B366-CA5C-58DB7BC6F763}"/>
              </a:ext>
            </a:extLst>
          </p:cNvPr>
          <p:cNvSpPr txBox="1">
            <a:spLocks/>
          </p:cNvSpPr>
          <p:nvPr/>
        </p:nvSpPr>
        <p:spPr>
          <a:xfrm>
            <a:off x="838200" y="1690688"/>
            <a:ext cx="316383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spcAft>
                <a:spcPts val="0"/>
              </a:spcAft>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a:t>Structure-based chemical identifier </a:t>
            </a:r>
          </a:p>
          <a:p>
            <a:r>
              <a:rPr lang="en-US" b="0"/>
              <a:t>Developed by IUPAC and the InChI Trust</a:t>
            </a:r>
          </a:p>
          <a:p>
            <a:r>
              <a:rPr lang="en-US" b="0"/>
              <a:t>Facilitates effective information management across chemistry</a:t>
            </a:r>
            <a:endParaRPr lang="en-US" b="0" dirty="0"/>
          </a:p>
        </p:txBody>
      </p:sp>
    </p:spTree>
    <p:extLst>
      <p:ext uri="{BB962C8B-B14F-4D97-AF65-F5344CB8AC3E}">
        <p14:creationId xmlns:p14="http://schemas.microsoft.com/office/powerpoint/2010/main" val="2894125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1367E4-CA3E-C2D3-E1E3-65DE80EF9B66}"/>
              </a:ext>
            </a:extLst>
          </p:cNvPr>
          <p:cNvSpPr>
            <a:spLocks noGrp="1"/>
          </p:cNvSpPr>
          <p:nvPr>
            <p:ph type="title"/>
          </p:nvPr>
        </p:nvSpPr>
        <p:spPr/>
        <p:txBody>
          <a:bodyPr/>
          <a:lstStyle/>
          <a:p>
            <a:r>
              <a:rPr lang="en-US" dirty="0"/>
              <a:t>What are we working on?</a:t>
            </a:r>
          </a:p>
        </p:txBody>
      </p:sp>
      <p:sp>
        <p:nvSpPr>
          <p:cNvPr id="3" name="Inhaltsplatzhalter 2">
            <a:extLst>
              <a:ext uri="{FF2B5EF4-FFF2-40B4-BE49-F238E27FC236}">
                <a16:creationId xmlns:a16="http://schemas.microsoft.com/office/drawing/2014/main" id="{5889A33E-7019-21E0-2A2E-BB05CF22FA61}"/>
              </a:ext>
            </a:extLst>
          </p:cNvPr>
          <p:cNvSpPr>
            <a:spLocks noGrp="1"/>
          </p:cNvSpPr>
          <p:nvPr>
            <p:ph idx="1"/>
          </p:nvPr>
        </p:nvSpPr>
        <p:spPr/>
        <p:txBody>
          <a:bodyPr/>
          <a:lstStyle/>
          <a:p>
            <a:r>
              <a:rPr lang="en-US" dirty="0"/>
              <a:t>Organic chemistry</a:t>
            </a:r>
          </a:p>
          <a:p>
            <a:pPr lvl="1"/>
            <a:r>
              <a:rPr lang="en-US" dirty="0"/>
              <a:t>Enhanced stereochemistry (under development)</a:t>
            </a:r>
          </a:p>
          <a:p>
            <a:pPr lvl="2"/>
            <a:r>
              <a:rPr lang="en-US" dirty="0"/>
              <a:t>Tetrahedral C centers</a:t>
            </a:r>
          </a:p>
          <a:p>
            <a:pPr lvl="2"/>
            <a:r>
              <a:rPr lang="en-US" dirty="0"/>
              <a:t>E/Z isomers </a:t>
            </a:r>
          </a:p>
          <a:p>
            <a:pPr lvl="2"/>
            <a:r>
              <a:rPr lang="en-US" dirty="0"/>
              <a:t>Allenes</a:t>
            </a:r>
          </a:p>
          <a:p>
            <a:pPr lvl="1"/>
            <a:r>
              <a:rPr lang="en-US" dirty="0"/>
              <a:t>(Atropisomers, under development)</a:t>
            </a:r>
          </a:p>
          <a:p>
            <a:r>
              <a:rPr lang="en-US" dirty="0"/>
              <a:t>Molecular inorganics</a:t>
            </a:r>
          </a:p>
          <a:p>
            <a:pPr lvl="1"/>
            <a:r>
              <a:rPr lang="en-US" dirty="0"/>
              <a:t>Rebuilt bond handling </a:t>
            </a:r>
          </a:p>
          <a:p>
            <a:pPr lvl="2"/>
            <a:r>
              <a:rPr lang="en-US" dirty="0"/>
              <a:t>Include coordinative/dative and haptic bonds</a:t>
            </a:r>
          </a:p>
          <a:p>
            <a:pPr lvl="1"/>
            <a:r>
              <a:rPr lang="en-US" dirty="0"/>
              <a:t>Stereochemistry of molecular inorganics (under development)</a:t>
            </a:r>
          </a:p>
          <a:p>
            <a:pPr lvl="1"/>
            <a:endParaRPr lang="en-US" dirty="0"/>
          </a:p>
        </p:txBody>
      </p:sp>
      <p:pic>
        <p:nvPicPr>
          <p:cNvPr id="4" name="Picture 30">
            <a:extLst>
              <a:ext uri="{FF2B5EF4-FFF2-40B4-BE49-F238E27FC236}">
                <a16:creationId xmlns:a16="http://schemas.microsoft.com/office/drawing/2014/main" id="{5C3CCCB9-C49D-C92D-32F7-73B0F1FCC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4315" y="276429"/>
            <a:ext cx="2817685" cy="1991119"/>
          </a:xfrm>
          <a:prstGeom prst="rect">
            <a:avLst/>
          </a:prstGeom>
        </p:spPr>
      </p:pic>
    </p:spTree>
    <p:extLst>
      <p:ext uri="{BB962C8B-B14F-4D97-AF65-F5344CB8AC3E}">
        <p14:creationId xmlns:p14="http://schemas.microsoft.com/office/powerpoint/2010/main" val="389178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94D8A5-3D81-9FBC-6D1B-597FDC3F9CC0}"/>
              </a:ext>
            </a:extLst>
          </p:cNvPr>
          <p:cNvSpPr>
            <a:spLocks noGrp="1"/>
          </p:cNvSpPr>
          <p:nvPr>
            <p:ph type="title"/>
          </p:nvPr>
        </p:nvSpPr>
        <p:spPr/>
        <p:txBody>
          <a:bodyPr/>
          <a:lstStyle/>
          <a:p>
            <a:r>
              <a:rPr lang="en-US" dirty="0"/>
              <a:t>Why do we need enhanced stereochemistry?</a:t>
            </a:r>
          </a:p>
        </p:txBody>
      </p:sp>
      <p:pic>
        <p:nvPicPr>
          <p:cNvPr id="5" name="Grafik 4">
            <a:extLst>
              <a:ext uri="{FF2B5EF4-FFF2-40B4-BE49-F238E27FC236}">
                <a16:creationId xmlns:a16="http://schemas.microsoft.com/office/drawing/2014/main" id="{7178EEEC-B74F-D24E-A6A1-574D0B22E941}"/>
              </a:ext>
            </a:extLst>
          </p:cNvPr>
          <p:cNvPicPr>
            <a:picLocks noChangeAspect="1"/>
          </p:cNvPicPr>
          <p:nvPr/>
        </p:nvPicPr>
        <p:blipFill>
          <a:blip r:embed="rId2"/>
          <a:stretch>
            <a:fillRect/>
          </a:stretch>
        </p:blipFill>
        <p:spPr>
          <a:xfrm>
            <a:off x="769400" y="1743350"/>
            <a:ext cx="4646181" cy="4246014"/>
          </a:xfrm>
          <a:prstGeom prst="rect">
            <a:avLst/>
          </a:prstGeom>
        </p:spPr>
      </p:pic>
      <p:pic>
        <p:nvPicPr>
          <p:cNvPr id="7" name="Grafik 6">
            <a:extLst>
              <a:ext uri="{FF2B5EF4-FFF2-40B4-BE49-F238E27FC236}">
                <a16:creationId xmlns:a16="http://schemas.microsoft.com/office/drawing/2014/main" id="{7A071853-AC2F-F5D1-A0C2-B944271D81AF}"/>
              </a:ext>
            </a:extLst>
          </p:cNvPr>
          <p:cNvPicPr>
            <a:picLocks noChangeAspect="1"/>
          </p:cNvPicPr>
          <p:nvPr/>
        </p:nvPicPr>
        <p:blipFill>
          <a:blip r:embed="rId3"/>
          <a:stretch>
            <a:fillRect/>
          </a:stretch>
        </p:blipFill>
        <p:spPr>
          <a:xfrm>
            <a:off x="5988274" y="1743350"/>
            <a:ext cx="5237133" cy="3594043"/>
          </a:xfrm>
          <a:prstGeom prst="rect">
            <a:avLst/>
          </a:prstGeom>
        </p:spPr>
      </p:pic>
      <p:pic>
        <p:nvPicPr>
          <p:cNvPr id="8" name="Grafik 7">
            <a:extLst>
              <a:ext uri="{FF2B5EF4-FFF2-40B4-BE49-F238E27FC236}">
                <a16:creationId xmlns:a16="http://schemas.microsoft.com/office/drawing/2014/main" id="{2700C24A-73EE-8E07-A872-D6556E2CF507}"/>
              </a:ext>
            </a:extLst>
          </p:cNvPr>
          <p:cNvPicPr>
            <a:picLocks noChangeAspect="1"/>
          </p:cNvPicPr>
          <p:nvPr/>
        </p:nvPicPr>
        <p:blipFill>
          <a:blip r:embed="rId4"/>
          <a:stretch>
            <a:fillRect/>
          </a:stretch>
        </p:blipFill>
        <p:spPr>
          <a:xfrm>
            <a:off x="3831469" y="5661258"/>
            <a:ext cx="844817" cy="831617"/>
          </a:xfrm>
          <a:prstGeom prst="rect">
            <a:avLst/>
          </a:prstGeom>
        </p:spPr>
      </p:pic>
      <p:pic>
        <p:nvPicPr>
          <p:cNvPr id="9" name="Grafik 8">
            <a:extLst>
              <a:ext uri="{FF2B5EF4-FFF2-40B4-BE49-F238E27FC236}">
                <a16:creationId xmlns:a16="http://schemas.microsoft.com/office/drawing/2014/main" id="{51F3E7E4-8FB6-6730-C336-BC55FD0569E3}"/>
              </a:ext>
            </a:extLst>
          </p:cNvPr>
          <p:cNvPicPr>
            <a:picLocks noChangeAspect="1"/>
          </p:cNvPicPr>
          <p:nvPr/>
        </p:nvPicPr>
        <p:blipFill>
          <a:blip r:embed="rId5"/>
          <a:stretch>
            <a:fillRect/>
          </a:stretch>
        </p:blipFill>
        <p:spPr>
          <a:xfrm>
            <a:off x="4795377" y="5661258"/>
            <a:ext cx="824911" cy="812022"/>
          </a:xfrm>
          <a:prstGeom prst="rect">
            <a:avLst/>
          </a:prstGeom>
        </p:spPr>
      </p:pic>
      <p:cxnSp>
        <p:nvCxnSpPr>
          <p:cNvPr id="11" name="Gerade Verbindung mit Pfeil 10">
            <a:extLst>
              <a:ext uri="{FF2B5EF4-FFF2-40B4-BE49-F238E27FC236}">
                <a16:creationId xmlns:a16="http://schemas.microsoft.com/office/drawing/2014/main" id="{315DC49D-45C4-BC4F-419D-AAB722CBF2C2}"/>
              </a:ext>
            </a:extLst>
          </p:cNvPr>
          <p:cNvCxnSpPr/>
          <p:nvPr/>
        </p:nvCxnSpPr>
        <p:spPr>
          <a:xfrm flipV="1">
            <a:off x="4346475" y="5289578"/>
            <a:ext cx="225525" cy="483853"/>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a:extLst>
              <a:ext uri="{FF2B5EF4-FFF2-40B4-BE49-F238E27FC236}">
                <a16:creationId xmlns:a16="http://schemas.microsoft.com/office/drawing/2014/main" id="{E937B69A-C9C3-AF16-939B-7FEAA6CFCC1C}"/>
              </a:ext>
            </a:extLst>
          </p:cNvPr>
          <p:cNvCxnSpPr/>
          <p:nvPr/>
        </p:nvCxnSpPr>
        <p:spPr>
          <a:xfrm flipH="1" flipV="1">
            <a:off x="4676286" y="5305980"/>
            <a:ext cx="223750" cy="46745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C1FE3BA8-E54D-2005-4D2D-C2E822CDFCD5}"/>
              </a:ext>
            </a:extLst>
          </p:cNvPr>
          <p:cNvSpPr txBox="1"/>
          <p:nvPr/>
        </p:nvSpPr>
        <p:spPr>
          <a:xfrm>
            <a:off x="5620288" y="5835475"/>
            <a:ext cx="2344488" cy="307777"/>
          </a:xfrm>
          <a:prstGeom prst="rect">
            <a:avLst/>
          </a:prstGeom>
          <a:noFill/>
        </p:spPr>
        <p:txBody>
          <a:bodyPr wrap="none" rtlCol="0">
            <a:spAutoFit/>
          </a:bodyPr>
          <a:lstStyle/>
          <a:p>
            <a:r>
              <a:rPr lang="en-US" sz="1400" b="1" dirty="0"/>
              <a:t>Mixture of both enantiomers</a:t>
            </a:r>
          </a:p>
        </p:txBody>
      </p:sp>
      <p:pic>
        <p:nvPicPr>
          <p:cNvPr id="15" name="Grafik 14">
            <a:extLst>
              <a:ext uri="{FF2B5EF4-FFF2-40B4-BE49-F238E27FC236}">
                <a16:creationId xmlns:a16="http://schemas.microsoft.com/office/drawing/2014/main" id="{BADA8075-6BCF-7510-EF33-ADA447119B68}"/>
              </a:ext>
            </a:extLst>
          </p:cNvPr>
          <p:cNvPicPr>
            <a:picLocks noChangeAspect="1"/>
          </p:cNvPicPr>
          <p:nvPr/>
        </p:nvPicPr>
        <p:blipFill>
          <a:blip r:embed="rId4"/>
          <a:stretch>
            <a:fillRect/>
          </a:stretch>
        </p:blipFill>
        <p:spPr>
          <a:xfrm>
            <a:off x="9034085" y="5673598"/>
            <a:ext cx="844817" cy="831617"/>
          </a:xfrm>
          <a:prstGeom prst="rect">
            <a:avLst/>
          </a:prstGeom>
        </p:spPr>
      </p:pic>
      <p:pic>
        <p:nvPicPr>
          <p:cNvPr id="16" name="Grafik 15">
            <a:extLst>
              <a:ext uri="{FF2B5EF4-FFF2-40B4-BE49-F238E27FC236}">
                <a16:creationId xmlns:a16="http://schemas.microsoft.com/office/drawing/2014/main" id="{A444500C-253E-259E-BAD5-51ED67D94046}"/>
              </a:ext>
            </a:extLst>
          </p:cNvPr>
          <p:cNvPicPr>
            <a:picLocks noChangeAspect="1"/>
          </p:cNvPicPr>
          <p:nvPr/>
        </p:nvPicPr>
        <p:blipFill>
          <a:blip r:embed="rId5"/>
          <a:stretch>
            <a:fillRect/>
          </a:stretch>
        </p:blipFill>
        <p:spPr>
          <a:xfrm>
            <a:off x="10400496" y="5661258"/>
            <a:ext cx="824911" cy="812022"/>
          </a:xfrm>
          <a:prstGeom prst="rect">
            <a:avLst/>
          </a:prstGeom>
        </p:spPr>
      </p:pic>
      <p:sp>
        <p:nvSpPr>
          <p:cNvPr id="17" name="Textfeld 16">
            <a:extLst>
              <a:ext uri="{FF2B5EF4-FFF2-40B4-BE49-F238E27FC236}">
                <a16:creationId xmlns:a16="http://schemas.microsoft.com/office/drawing/2014/main" id="{C33FED5C-F4B9-5399-50EA-1992705FDE14}"/>
              </a:ext>
            </a:extLst>
          </p:cNvPr>
          <p:cNvSpPr txBox="1"/>
          <p:nvPr/>
        </p:nvSpPr>
        <p:spPr>
          <a:xfrm>
            <a:off x="8440969" y="5275575"/>
            <a:ext cx="3694601" cy="307777"/>
          </a:xfrm>
          <a:prstGeom prst="rect">
            <a:avLst/>
          </a:prstGeom>
          <a:noFill/>
        </p:spPr>
        <p:txBody>
          <a:bodyPr wrap="none" rtlCol="0">
            <a:spAutoFit/>
          </a:bodyPr>
          <a:lstStyle/>
          <a:p>
            <a:r>
              <a:rPr lang="en-US" sz="1400" b="1" dirty="0"/>
              <a:t>Separated but enantiomers not yet determined</a:t>
            </a:r>
          </a:p>
        </p:txBody>
      </p:sp>
      <p:sp>
        <p:nvSpPr>
          <p:cNvPr id="18" name="Textfeld 17">
            <a:extLst>
              <a:ext uri="{FF2B5EF4-FFF2-40B4-BE49-F238E27FC236}">
                <a16:creationId xmlns:a16="http://schemas.microsoft.com/office/drawing/2014/main" id="{DE2B4EB5-A089-A2EB-A4F6-BC3DB5D9B0A2}"/>
              </a:ext>
            </a:extLst>
          </p:cNvPr>
          <p:cNvSpPr txBox="1"/>
          <p:nvPr/>
        </p:nvSpPr>
        <p:spPr>
          <a:xfrm>
            <a:off x="95656" y="6077066"/>
            <a:ext cx="1485087" cy="276999"/>
          </a:xfrm>
          <a:prstGeom prst="rect">
            <a:avLst/>
          </a:prstGeom>
          <a:noFill/>
        </p:spPr>
        <p:txBody>
          <a:bodyPr wrap="none" rtlCol="0">
            <a:spAutoFit/>
          </a:bodyPr>
          <a:lstStyle/>
          <a:p>
            <a:r>
              <a:rPr lang="de-DE" sz="1200" dirty="0"/>
              <a:t>Graphics </a:t>
            </a:r>
            <a:r>
              <a:rPr lang="de-DE" sz="1200" dirty="0" err="1"/>
              <a:t>by</a:t>
            </a:r>
            <a:r>
              <a:rPr lang="de-DE" sz="1200" dirty="0"/>
              <a:t> ChatGPT</a:t>
            </a:r>
            <a:endParaRPr lang="en-US" sz="1200" dirty="0"/>
          </a:p>
        </p:txBody>
      </p:sp>
    </p:spTree>
    <p:extLst>
      <p:ext uri="{BB962C8B-B14F-4D97-AF65-F5344CB8AC3E}">
        <p14:creationId xmlns:p14="http://schemas.microsoft.com/office/powerpoint/2010/main" val="1387785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A767FE-2325-577C-D2C6-E76BB2B0E196}"/>
              </a:ext>
            </a:extLst>
          </p:cNvPr>
          <p:cNvSpPr>
            <a:spLocks noGrp="1"/>
          </p:cNvSpPr>
          <p:nvPr>
            <p:ph type="title"/>
          </p:nvPr>
        </p:nvSpPr>
        <p:spPr/>
        <p:txBody>
          <a:bodyPr/>
          <a:lstStyle/>
          <a:p>
            <a:r>
              <a:rPr lang="en-US" dirty="0"/>
              <a:t>Why do we need enhanced stereochemistry?</a:t>
            </a:r>
          </a:p>
        </p:txBody>
      </p:sp>
      <p:sp>
        <p:nvSpPr>
          <p:cNvPr id="3" name="Inhaltsplatzhalter 2">
            <a:extLst>
              <a:ext uri="{FF2B5EF4-FFF2-40B4-BE49-F238E27FC236}">
                <a16:creationId xmlns:a16="http://schemas.microsoft.com/office/drawing/2014/main" id="{0EDD5614-C690-12DD-1616-BD66EE17931C}"/>
              </a:ext>
            </a:extLst>
          </p:cNvPr>
          <p:cNvSpPr>
            <a:spLocks noGrp="1"/>
          </p:cNvSpPr>
          <p:nvPr>
            <p:ph idx="1"/>
          </p:nvPr>
        </p:nvSpPr>
        <p:spPr/>
        <p:txBody>
          <a:bodyPr/>
          <a:lstStyle/>
          <a:p>
            <a:r>
              <a:rPr lang="en-US" dirty="0"/>
              <a:t>To speed up research industry started to test substances not only as pure known enantiomers but already as</a:t>
            </a:r>
          </a:p>
          <a:p>
            <a:pPr lvl="1"/>
            <a:r>
              <a:rPr lang="en-US" dirty="0"/>
              <a:t>Mixtures of enantiomers (enantiomer 1 AND enantiomer 2)</a:t>
            </a:r>
          </a:p>
          <a:p>
            <a:pPr lvl="1"/>
            <a:r>
              <a:rPr lang="en-US" dirty="0"/>
              <a:t>Pure but (still) unknown enantiomers (enantiomer 1 OR enantiomer 2)</a:t>
            </a:r>
          </a:p>
          <a:p>
            <a:pPr lvl="2"/>
            <a:r>
              <a:rPr lang="en-US" dirty="0"/>
              <a:t>When analytics have become available and the stereochemistry has become known the structures are corrected by adding the correct stereochemistry and dropping the OR flag.</a:t>
            </a:r>
          </a:p>
          <a:p>
            <a:r>
              <a:rPr lang="en-US" dirty="0"/>
              <a:t>The cheminformatics tools must be able to recognize the compound being a mixture or pure unknown substance regardless how the stereochemistry has been drawn.</a:t>
            </a:r>
          </a:p>
        </p:txBody>
      </p:sp>
    </p:spTree>
    <p:extLst>
      <p:ext uri="{BB962C8B-B14F-4D97-AF65-F5344CB8AC3E}">
        <p14:creationId xmlns:p14="http://schemas.microsoft.com/office/powerpoint/2010/main" val="762824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6218B-D4EA-A2D9-8BC0-070B0B26104B}"/>
              </a:ext>
            </a:extLst>
          </p:cNvPr>
          <p:cNvSpPr>
            <a:spLocks noGrp="1"/>
          </p:cNvSpPr>
          <p:nvPr>
            <p:ph type="title"/>
          </p:nvPr>
        </p:nvSpPr>
        <p:spPr/>
        <p:txBody>
          <a:bodyPr/>
          <a:lstStyle/>
          <a:p>
            <a:r>
              <a:rPr lang="en-US" dirty="0"/>
              <a:t>Tetrahedral stereocenters</a:t>
            </a:r>
          </a:p>
        </p:txBody>
      </p:sp>
      <p:sp>
        <p:nvSpPr>
          <p:cNvPr id="3" name="Inhaltsplatzhalter 2">
            <a:extLst>
              <a:ext uri="{FF2B5EF4-FFF2-40B4-BE49-F238E27FC236}">
                <a16:creationId xmlns:a16="http://schemas.microsoft.com/office/drawing/2014/main" id="{AF5A8C50-8E80-878B-64B5-040E9A5FE7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58927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B5E761-11BA-7397-CDC6-24ADBB9F8ADC}"/>
              </a:ext>
            </a:extLst>
          </p:cNvPr>
          <p:cNvSpPr>
            <a:spLocks noGrp="1"/>
          </p:cNvSpPr>
          <p:nvPr>
            <p:ph type="title"/>
          </p:nvPr>
        </p:nvSpPr>
        <p:spPr/>
        <p:txBody>
          <a:bodyPr/>
          <a:lstStyle/>
          <a:p>
            <a:r>
              <a:rPr lang="en-US" dirty="0"/>
              <a:t>InChI stereo parameters</a:t>
            </a:r>
          </a:p>
        </p:txBody>
      </p:sp>
      <p:sp>
        <p:nvSpPr>
          <p:cNvPr id="3" name="Inhaltsplatzhalter 2">
            <a:extLst>
              <a:ext uri="{FF2B5EF4-FFF2-40B4-BE49-F238E27FC236}">
                <a16:creationId xmlns:a16="http://schemas.microsoft.com/office/drawing/2014/main" id="{B561A42F-4B6C-B503-377C-9CC01D538DDD}"/>
              </a:ext>
            </a:extLst>
          </p:cNvPr>
          <p:cNvSpPr>
            <a:spLocks noGrp="1"/>
          </p:cNvSpPr>
          <p:nvPr>
            <p:ph idx="1"/>
          </p:nvPr>
        </p:nvSpPr>
        <p:spPr>
          <a:xfrm>
            <a:off x="838200" y="1690687"/>
            <a:ext cx="5754189" cy="4802187"/>
          </a:xfrm>
        </p:spPr>
        <p:txBody>
          <a:bodyPr>
            <a:normAutofit fontScale="92500" lnSpcReduction="20000"/>
          </a:bodyPr>
          <a:lstStyle/>
          <a:p>
            <a:pPr marL="0" indent="0">
              <a:buNone/>
            </a:pPr>
            <a:r>
              <a:rPr lang="en-US" dirty="0"/>
              <a:t>Currently available InChI parameters</a:t>
            </a:r>
          </a:p>
          <a:p>
            <a:endParaRPr lang="en-US" dirty="0"/>
          </a:p>
          <a:p>
            <a:endParaRPr lang="en-US" dirty="0"/>
          </a:p>
          <a:p>
            <a:pPr>
              <a:spcBef>
                <a:spcPts val="0"/>
              </a:spcBef>
            </a:pPr>
            <a:r>
              <a:rPr lang="en-US" dirty="0" err="1"/>
              <a:t>SAbs</a:t>
            </a:r>
            <a:r>
              <a:rPr lang="en-US" dirty="0"/>
              <a:t> (standard InChI), </a:t>
            </a:r>
          </a:p>
          <a:p>
            <a:pPr lvl="1">
              <a:spcAft>
                <a:spcPts val="600"/>
              </a:spcAft>
            </a:pPr>
            <a:r>
              <a:rPr lang="en-US" dirty="0"/>
              <a:t>Tetrahedral center is absolutely described</a:t>
            </a:r>
          </a:p>
          <a:p>
            <a:r>
              <a:rPr lang="en-US" dirty="0" err="1"/>
              <a:t>SRel</a:t>
            </a:r>
            <a:endParaRPr lang="en-US" dirty="0"/>
          </a:p>
          <a:p>
            <a:pPr lvl="1">
              <a:spcAft>
                <a:spcPts val="600"/>
              </a:spcAft>
            </a:pPr>
            <a:r>
              <a:rPr lang="en-US" dirty="0"/>
              <a:t>Tetrahedral center is relatively described </a:t>
            </a:r>
          </a:p>
          <a:p>
            <a:r>
              <a:rPr lang="en-US" dirty="0" err="1"/>
              <a:t>SRac</a:t>
            </a:r>
            <a:endParaRPr lang="en-US" dirty="0"/>
          </a:p>
          <a:p>
            <a:pPr lvl="1">
              <a:spcAft>
                <a:spcPts val="600"/>
              </a:spcAft>
            </a:pPr>
            <a:r>
              <a:rPr lang="en-US" dirty="0"/>
              <a:t>Tetrahedral center is racemic (mixture of both enantiomers)</a:t>
            </a:r>
          </a:p>
          <a:p>
            <a:r>
              <a:rPr lang="en-US" dirty="0"/>
              <a:t>SUCF (Use Chiral Flag)</a:t>
            </a:r>
          </a:p>
          <a:p>
            <a:pPr lvl="1"/>
            <a:r>
              <a:rPr lang="en-US" dirty="0"/>
              <a:t>With Chiral flag = absolute</a:t>
            </a:r>
          </a:p>
          <a:p>
            <a:pPr lvl="1"/>
            <a:r>
              <a:rPr lang="en-US" dirty="0"/>
              <a:t>Without Chiral flag = racemic</a:t>
            </a:r>
          </a:p>
          <a:p>
            <a:pPr lvl="1"/>
            <a:endParaRPr lang="en-US" dirty="0"/>
          </a:p>
          <a:p>
            <a:pPr lvl="1"/>
            <a:endParaRPr lang="en-US" dirty="0"/>
          </a:p>
        </p:txBody>
      </p:sp>
      <p:graphicFrame>
        <p:nvGraphicFramePr>
          <p:cNvPr id="4" name="Tabelle 3">
            <a:extLst>
              <a:ext uri="{FF2B5EF4-FFF2-40B4-BE49-F238E27FC236}">
                <a16:creationId xmlns:a16="http://schemas.microsoft.com/office/drawing/2014/main" id="{6F3A739A-5211-4698-DBAA-BA39B2CBB3E2}"/>
              </a:ext>
            </a:extLst>
          </p:cNvPr>
          <p:cNvGraphicFramePr>
            <a:graphicFrameLocks noGrp="1"/>
          </p:cNvGraphicFramePr>
          <p:nvPr/>
        </p:nvGraphicFramePr>
        <p:xfrm>
          <a:off x="6592389" y="1662384"/>
          <a:ext cx="5318040" cy="4798223"/>
        </p:xfrm>
        <a:graphic>
          <a:graphicData uri="http://schemas.openxmlformats.org/drawingml/2006/table">
            <a:tbl>
              <a:tblPr firstRow="1" bandRow="1">
                <a:tableStyleId>{5C22544A-7EE6-4342-B048-85BDC9FD1C3A}</a:tableStyleId>
              </a:tblPr>
              <a:tblGrid>
                <a:gridCol w="2659020">
                  <a:extLst>
                    <a:ext uri="{9D8B030D-6E8A-4147-A177-3AD203B41FA5}">
                      <a16:colId xmlns:a16="http://schemas.microsoft.com/office/drawing/2014/main" val="3341917300"/>
                    </a:ext>
                  </a:extLst>
                </a:gridCol>
                <a:gridCol w="2659020">
                  <a:extLst>
                    <a:ext uri="{9D8B030D-6E8A-4147-A177-3AD203B41FA5}">
                      <a16:colId xmlns:a16="http://schemas.microsoft.com/office/drawing/2014/main" val="1085145345"/>
                    </a:ext>
                  </a:extLst>
                </a:gridCol>
              </a:tblGrid>
              <a:tr h="866303">
                <a:tc>
                  <a:txBody>
                    <a:bodyPr/>
                    <a:lstStyle/>
                    <a:p>
                      <a:endParaRPr lang="en-US" dirty="0"/>
                    </a:p>
                  </a:txBody>
                  <a:tcPr/>
                </a:tc>
                <a:tc>
                  <a:txBody>
                    <a:bodyPr/>
                    <a:lstStyle/>
                    <a:p>
                      <a:endParaRPr lang="en-US"/>
                    </a:p>
                  </a:txBody>
                  <a:tcPr/>
                </a:tc>
                <a:extLst>
                  <a:ext uri="{0D108BD9-81ED-4DB2-BD59-A6C34878D82A}">
                    <a16:rowId xmlns:a16="http://schemas.microsoft.com/office/drawing/2014/main" val="3426913535"/>
                  </a:ext>
                </a:extLst>
              </a:tr>
              <a:tr h="878335">
                <a:tc>
                  <a:txBody>
                    <a:bodyPr/>
                    <a:lstStyle/>
                    <a:p>
                      <a:r>
                        <a:rPr lang="pt-BR" sz="1800" dirty="0"/>
                        <a:t>InChI=1S/C2H4ClNO2/c3-1(4)2(5)6/h1H,4H2,(H,5,6</a:t>
                      </a:r>
                      <a:r>
                        <a:rPr lang="pt-BR" sz="1800" b="0" dirty="0"/>
                        <a:t>)</a:t>
                      </a:r>
                      <a:r>
                        <a:rPr lang="pt-BR" sz="1800" b="1" dirty="0"/>
                        <a:t>/t1-/m1/s1</a:t>
                      </a:r>
                      <a:endParaRPr lang="en-US" sz="1800" b="1" dirty="0"/>
                    </a:p>
                  </a:txBody>
                  <a:tcPr/>
                </a:tc>
                <a:tc>
                  <a:txBody>
                    <a:bodyPr/>
                    <a:lstStyle/>
                    <a:p>
                      <a:r>
                        <a:rPr lang="pt-BR" sz="1800" dirty="0"/>
                        <a:t>InChI=1S/C2H4ClNO2/c3-1(4)2(5)6/h1H,4H2,(H,5,6</a:t>
                      </a:r>
                      <a:r>
                        <a:rPr lang="pt-BR" sz="1800" b="0" dirty="0"/>
                        <a:t>)</a:t>
                      </a:r>
                      <a:r>
                        <a:rPr lang="pt-BR" sz="1800" b="1" dirty="0"/>
                        <a:t>/t1-/m0/s1</a:t>
                      </a:r>
                      <a:endParaRPr lang="en-US" sz="1800" b="1" dirty="0"/>
                    </a:p>
                  </a:txBody>
                  <a:tcPr/>
                </a:tc>
                <a:extLst>
                  <a:ext uri="{0D108BD9-81ED-4DB2-BD59-A6C34878D82A}">
                    <a16:rowId xmlns:a16="http://schemas.microsoft.com/office/drawing/2014/main" val="308466461"/>
                  </a:ext>
                </a:extLst>
              </a:tr>
              <a:tr h="878335">
                <a:tc>
                  <a:txBody>
                    <a:bodyPr/>
                    <a:lstStyle/>
                    <a:p>
                      <a:r>
                        <a:rPr lang="pt-BR" sz="1800" dirty="0"/>
                        <a:t>InChI=1/C2H4ClNO2/c3-1(4)2(5)6/h1H,4H2,(H,5,6)</a:t>
                      </a:r>
                      <a:r>
                        <a:rPr lang="pt-BR" sz="1800" b="1" dirty="0"/>
                        <a:t>/t1-/s2</a:t>
                      </a:r>
                      <a:endParaRPr lang="en-US" sz="1800" b="1" dirty="0"/>
                    </a:p>
                  </a:txBody>
                  <a:tcPr/>
                </a:tc>
                <a:tc>
                  <a:txBody>
                    <a:bodyPr/>
                    <a:lstStyle/>
                    <a:p>
                      <a:r>
                        <a:rPr lang="pt-BR" sz="1800" dirty="0"/>
                        <a:t>InChI=1/C2H4ClNO2/c3-1(4)2(5)6/h1H,4H2,(H,5,6)</a:t>
                      </a:r>
                      <a:r>
                        <a:rPr lang="pt-BR" sz="1800" b="1" dirty="0"/>
                        <a:t>/t1-/s2</a:t>
                      </a:r>
                      <a:endParaRPr lang="en-US" sz="1800" b="1" dirty="0"/>
                    </a:p>
                  </a:txBody>
                  <a:tcPr/>
                </a:tc>
                <a:extLst>
                  <a:ext uri="{0D108BD9-81ED-4DB2-BD59-A6C34878D82A}">
                    <a16:rowId xmlns:a16="http://schemas.microsoft.com/office/drawing/2014/main" val="3125003825"/>
                  </a:ext>
                </a:extLst>
              </a:tr>
              <a:tr h="878335">
                <a:tc>
                  <a:txBody>
                    <a:bodyPr/>
                    <a:lstStyle/>
                    <a:p>
                      <a:r>
                        <a:rPr lang="pt-BR" sz="1800" dirty="0"/>
                        <a:t>InChI=1/C2H4ClNO2/c3-1(4)2(5)6/h1H,4H2,(H,5,6</a:t>
                      </a:r>
                      <a:r>
                        <a:rPr lang="pt-BR" sz="1800" b="1" dirty="0"/>
                        <a:t>)/t1-/s3</a:t>
                      </a:r>
                      <a:endParaRPr lang="en-US" sz="1800" b="1" dirty="0"/>
                    </a:p>
                  </a:txBody>
                  <a:tcPr/>
                </a:tc>
                <a:tc>
                  <a:txBody>
                    <a:bodyPr/>
                    <a:lstStyle/>
                    <a:p>
                      <a:r>
                        <a:rPr lang="pt-BR" sz="1800" dirty="0"/>
                        <a:t>InChI=1/C2H4ClNO2/c3-1(4)2(5)6/h1H,4H2,(H,5,6)</a:t>
                      </a:r>
                      <a:r>
                        <a:rPr lang="pt-BR" sz="1800" b="1" dirty="0"/>
                        <a:t>/t1-/s3</a:t>
                      </a:r>
                      <a:endParaRPr lang="en-US" sz="1800" b="1" dirty="0"/>
                    </a:p>
                  </a:txBody>
                  <a:tcPr/>
                </a:tc>
                <a:extLst>
                  <a:ext uri="{0D108BD9-81ED-4DB2-BD59-A6C34878D82A}">
                    <a16:rowId xmlns:a16="http://schemas.microsoft.com/office/drawing/2014/main" val="2302148525"/>
                  </a:ext>
                </a:extLst>
              </a:tr>
              <a:tr h="878335">
                <a:tc>
                  <a:txBody>
                    <a:bodyPr/>
                    <a:lstStyle/>
                    <a:p>
                      <a:r>
                        <a:rPr lang="pt-BR" sz="1800" dirty="0"/>
                        <a:t>InChI=1/C2H4ClNO2/c3-1(4)2(5)6/h1H,4H2,(H,5,6)</a:t>
                      </a:r>
                      <a:r>
                        <a:rPr lang="pt-BR" sz="1800" b="1" dirty="0"/>
                        <a:t>/t1-/m1/s1 </a:t>
                      </a:r>
                      <a:r>
                        <a:rPr lang="pt-BR" sz="1800" b="0" dirty="0"/>
                        <a:t>(with Chiral flag, s3 without flag)</a:t>
                      </a:r>
                      <a:endParaRPr lang="en-US" sz="1800" b="0" dirty="0"/>
                    </a:p>
                  </a:txBody>
                  <a:tcPr/>
                </a:tc>
                <a:tc>
                  <a:txBody>
                    <a:bodyPr/>
                    <a:lstStyle/>
                    <a:p>
                      <a:r>
                        <a:rPr lang="pt-BR" sz="1800" dirty="0"/>
                        <a:t>InChI=1/C2H4ClNO2/c3-1(4)2(5)6/h1H,4H2,(H,5,6)</a:t>
                      </a:r>
                      <a:r>
                        <a:rPr lang="pt-BR" sz="1800" b="1" dirty="0"/>
                        <a:t>/t1-/m0/s1 </a:t>
                      </a:r>
                      <a:r>
                        <a:rPr lang="pt-BR" sz="1800" b="0" dirty="0"/>
                        <a:t>(with Chiral flag, s3 without flag)</a:t>
                      </a:r>
                      <a:endParaRPr lang="en-US" sz="1800" b="0" dirty="0"/>
                    </a:p>
                  </a:txBody>
                  <a:tcPr/>
                </a:tc>
                <a:extLst>
                  <a:ext uri="{0D108BD9-81ED-4DB2-BD59-A6C34878D82A}">
                    <a16:rowId xmlns:a16="http://schemas.microsoft.com/office/drawing/2014/main" val="2847527807"/>
                  </a:ext>
                </a:extLst>
              </a:tr>
            </a:tbl>
          </a:graphicData>
        </a:graphic>
      </p:graphicFrame>
      <p:pic>
        <p:nvPicPr>
          <p:cNvPr id="6" name="Grafik 5">
            <a:extLst>
              <a:ext uri="{FF2B5EF4-FFF2-40B4-BE49-F238E27FC236}">
                <a16:creationId xmlns:a16="http://schemas.microsoft.com/office/drawing/2014/main" id="{1065BD41-6774-C739-68E0-B0333495452A}"/>
              </a:ext>
            </a:extLst>
          </p:cNvPr>
          <p:cNvPicPr>
            <a:picLocks noChangeAspect="1"/>
          </p:cNvPicPr>
          <p:nvPr/>
        </p:nvPicPr>
        <p:blipFill>
          <a:blip r:embed="rId2"/>
          <a:stretch>
            <a:fillRect/>
          </a:stretch>
        </p:blipFill>
        <p:spPr>
          <a:xfrm>
            <a:off x="7612082" y="1671093"/>
            <a:ext cx="844817" cy="831617"/>
          </a:xfrm>
          <a:prstGeom prst="rect">
            <a:avLst/>
          </a:prstGeom>
        </p:spPr>
      </p:pic>
      <p:pic>
        <p:nvPicPr>
          <p:cNvPr id="8" name="Grafik 7">
            <a:extLst>
              <a:ext uri="{FF2B5EF4-FFF2-40B4-BE49-F238E27FC236}">
                <a16:creationId xmlns:a16="http://schemas.microsoft.com/office/drawing/2014/main" id="{A423D939-67C0-5685-95EB-0529BDEA1EA6}"/>
              </a:ext>
            </a:extLst>
          </p:cNvPr>
          <p:cNvPicPr>
            <a:picLocks noChangeAspect="1"/>
          </p:cNvPicPr>
          <p:nvPr/>
        </p:nvPicPr>
        <p:blipFill>
          <a:blip r:embed="rId3"/>
          <a:stretch>
            <a:fillRect/>
          </a:stretch>
        </p:blipFill>
        <p:spPr>
          <a:xfrm>
            <a:off x="10232571" y="1690688"/>
            <a:ext cx="824911" cy="812022"/>
          </a:xfrm>
          <a:prstGeom prst="rect">
            <a:avLst/>
          </a:prstGeom>
        </p:spPr>
      </p:pic>
    </p:spTree>
    <p:extLst>
      <p:ext uri="{BB962C8B-B14F-4D97-AF65-F5344CB8AC3E}">
        <p14:creationId xmlns:p14="http://schemas.microsoft.com/office/powerpoint/2010/main" val="809926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510841-A5E7-52A4-1458-189C03057D14}"/>
              </a:ext>
            </a:extLst>
          </p:cNvPr>
          <p:cNvSpPr>
            <a:spLocks noGrp="1"/>
          </p:cNvSpPr>
          <p:nvPr>
            <p:ph type="title"/>
          </p:nvPr>
        </p:nvSpPr>
        <p:spPr/>
        <p:txBody>
          <a:bodyPr/>
          <a:lstStyle/>
          <a:p>
            <a:r>
              <a:rPr lang="en-US" dirty="0"/>
              <a:t>MDL enhanced stereochemistry</a:t>
            </a:r>
          </a:p>
        </p:txBody>
      </p:sp>
      <p:graphicFrame>
        <p:nvGraphicFramePr>
          <p:cNvPr id="4" name="Inhaltsplatzhalter 3">
            <a:extLst>
              <a:ext uri="{FF2B5EF4-FFF2-40B4-BE49-F238E27FC236}">
                <a16:creationId xmlns:a16="http://schemas.microsoft.com/office/drawing/2014/main" id="{989DE8DB-A696-14E4-12E7-49DB242041F9}"/>
              </a:ext>
            </a:extLst>
          </p:cNvPr>
          <p:cNvGraphicFramePr>
            <a:graphicFrameLocks noGrp="1"/>
          </p:cNvGraphicFramePr>
          <p:nvPr>
            <p:ph idx="1"/>
            <p:extLst>
              <p:ext uri="{D42A27DB-BD31-4B8C-83A1-F6EECF244321}">
                <p14:modId xmlns:p14="http://schemas.microsoft.com/office/powerpoint/2010/main" val="2032794716"/>
              </p:ext>
            </p:extLst>
          </p:nvPr>
        </p:nvGraphicFramePr>
        <p:xfrm>
          <a:off x="838199" y="1690687"/>
          <a:ext cx="11101251" cy="3809270"/>
        </p:xfrm>
        <a:graphic>
          <a:graphicData uri="http://schemas.openxmlformats.org/drawingml/2006/table">
            <a:tbl>
              <a:tblPr firstRow="1" bandRow="1">
                <a:tableStyleId>{5C22544A-7EE6-4342-B048-85BDC9FD1C3A}</a:tableStyleId>
              </a:tblPr>
              <a:tblGrid>
                <a:gridCol w="2220250">
                  <a:extLst>
                    <a:ext uri="{9D8B030D-6E8A-4147-A177-3AD203B41FA5}">
                      <a16:colId xmlns:a16="http://schemas.microsoft.com/office/drawing/2014/main" val="287185313"/>
                    </a:ext>
                  </a:extLst>
                </a:gridCol>
                <a:gridCol w="1868596">
                  <a:extLst>
                    <a:ext uri="{9D8B030D-6E8A-4147-A177-3AD203B41FA5}">
                      <a16:colId xmlns:a16="http://schemas.microsoft.com/office/drawing/2014/main" val="1423090391"/>
                    </a:ext>
                  </a:extLst>
                </a:gridCol>
                <a:gridCol w="1517298">
                  <a:extLst>
                    <a:ext uri="{9D8B030D-6E8A-4147-A177-3AD203B41FA5}">
                      <a16:colId xmlns:a16="http://schemas.microsoft.com/office/drawing/2014/main" val="4036090240"/>
                    </a:ext>
                  </a:extLst>
                </a:gridCol>
                <a:gridCol w="2734491">
                  <a:extLst>
                    <a:ext uri="{9D8B030D-6E8A-4147-A177-3AD203B41FA5}">
                      <a16:colId xmlns:a16="http://schemas.microsoft.com/office/drawing/2014/main" val="2474538591"/>
                    </a:ext>
                  </a:extLst>
                </a:gridCol>
                <a:gridCol w="2760616">
                  <a:extLst>
                    <a:ext uri="{9D8B030D-6E8A-4147-A177-3AD203B41FA5}">
                      <a16:colId xmlns:a16="http://schemas.microsoft.com/office/drawing/2014/main" val="2516578195"/>
                    </a:ext>
                  </a:extLst>
                </a:gridCol>
              </a:tblGrid>
              <a:tr h="494703">
                <a:tc>
                  <a:txBody>
                    <a:bodyPr/>
                    <a:lstStyle/>
                    <a:p>
                      <a:endParaRPr lang="en-US"/>
                    </a:p>
                  </a:txBody>
                  <a:tcPr/>
                </a:tc>
                <a:tc gridSpan="2">
                  <a:txBody>
                    <a:bodyPr/>
                    <a:lstStyle/>
                    <a:p>
                      <a:pPr algn="ctr"/>
                      <a:r>
                        <a:rPr lang="en-US" dirty="0"/>
                        <a:t>Drawings</a:t>
                      </a:r>
                    </a:p>
                  </a:txBody>
                  <a:tcPr/>
                </a:tc>
                <a:tc hMerge="1">
                  <a:txBody>
                    <a:bodyPr/>
                    <a:lstStyle/>
                    <a:p>
                      <a:endParaRPr lang="en-US" dirty="0"/>
                    </a:p>
                  </a:txBody>
                  <a:tcPr/>
                </a:tc>
                <a:tc gridSpan="2">
                  <a:txBody>
                    <a:bodyPr/>
                    <a:lstStyle/>
                    <a:p>
                      <a:pPr algn="ctr"/>
                      <a:r>
                        <a:rPr lang="en-US" dirty="0"/>
                        <a:t>Interpretation</a:t>
                      </a:r>
                    </a:p>
                  </a:txBody>
                  <a:tcPr/>
                </a:tc>
                <a:tc hMerge="1">
                  <a:txBody>
                    <a:bodyPr/>
                    <a:lstStyle/>
                    <a:p>
                      <a:endParaRPr lang="en-US" dirty="0"/>
                    </a:p>
                  </a:txBody>
                  <a:tcPr/>
                </a:tc>
                <a:extLst>
                  <a:ext uri="{0D108BD9-81ED-4DB2-BD59-A6C34878D82A}">
                    <a16:rowId xmlns:a16="http://schemas.microsoft.com/office/drawing/2014/main" val="203244659"/>
                  </a:ext>
                </a:extLst>
              </a:tr>
              <a:tr h="1115159">
                <a:tc>
                  <a:txBody>
                    <a:bodyPr/>
                    <a:lstStyle/>
                    <a:p>
                      <a:r>
                        <a:rPr lang="en-US" dirty="0"/>
                        <a:t>Absolutely known enantiomer </a:t>
                      </a:r>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17394596"/>
                  </a:ext>
                </a:extLst>
              </a:tr>
              <a:tr h="1099704">
                <a:tc>
                  <a:txBody>
                    <a:bodyPr/>
                    <a:lstStyle/>
                    <a:p>
                      <a:r>
                        <a:rPr lang="en-US" dirty="0"/>
                        <a:t>Pure but unknown enantiomer</a:t>
                      </a:r>
                    </a:p>
                  </a:txBody>
                  <a:tcPr/>
                </a:tc>
                <a:tc>
                  <a:txBody>
                    <a:bodyPr/>
                    <a:lstStyle/>
                    <a:p>
                      <a:endParaRPr lang="en-US" dirty="0"/>
                    </a:p>
                  </a:txBody>
                  <a:tcPr/>
                </a:tc>
                <a:tc>
                  <a:txBody>
                    <a:bodyPr/>
                    <a:lstStyle/>
                    <a:p>
                      <a:endParaRPr lang="en-US"/>
                    </a:p>
                  </a:txBody>
                  <a:tcPr/>
                </a:tc>
                <a:tc gridSpan="2">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106681907"/>
                  </a:ext>
                </a:extLst>
              </a:tr>
              <a:tr h="1099704">
                <a:tc>
                  <a:txBody>
                    <a:bodyPr/>
                    <a:lstStyle/>
                    <a:p>
                      <a:r>
                        <a:rPr lang="en-US" dirty="0"/>
                        <a:t>(Racemic) mixture of enantiomers</a:t>
                      </a:r>
                    </a:p>
                  </a:txBody>
                  <a:tcPr/>
                </a:tc>
                <a:tc>
                  <a:txBody>
                    <a:bodyPr/>
                    <a:lstStyle/>
                    <a:p>
                      <a:endParaRPr lang="en-US"/>
                    </a:p>
                  </a:txBody>
                  <a:tcPr/>
                </a:tc>
                <a:tc>
                  <a:txBody>
                    <a:bodyPr/>
                    <a:lstStyle/>
                    <a:p>
                      <a:endParaRPr lang="en-US"/>
                    </a:p>
                  </a:txBody>
                  <a:tcPr/>
                </a:tc>
                <a:tc gridSpan="2">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170398609"/>
                  </a:ext>
                </a:extLst>
              </a:tr>
            </a:tbl>
          </a:graphicData>
        </a:graphic>
      </p:graphicFrame>
      <p:pic>
        <p:nvPicPr>
          <p:cNvPr id="6" name="Grafik 5">
            <a:extLst>
              <a:ext uri="{FF2B5EF4-FFF2-40B4-BE49-F238E27FC236}">
                <a16:creationId xmlns:a16="http://schemas.microsoft.com/office/drawing/2014/main" id="{54F15854-FE96-F534-D655-EFF8F0ABD55A}"/>
              </a:ext>
            </a:extLst>
          </p:cNvPr>
          <p:cNvPicPr>
            <a:picLocks noChangeAspect="1"/>
          </p:cNvPicPr>
          <p:nvPr/>
        </p:nvPicPr>
        <p:blipFill>
          <a:blip r:embed="rId2"/>
          <a:stretch>
            <a:fillRect/>
          </a:stretch>
        </p:blipFill>
        <p:spPr>
          <a:xfrm>
            <a:off x="3483429" y="3320747"/>
            <a:ext cx="912318" cy="1032694"/>
          </a:xfrm>
          <a:prstGeom prst="rect">
            <a:avLst/>
          </a:prstGeom>
        </p:spPr>
      </p:pic>
      <p:pic>
        <p:nvPicPr>
          <p:cNvPr id="8" name="Grafik 7">
            <a:extLst>
              <a:ext uri="{FF2B5EF4-FFF2-40B4-BE49-F238E27FC236}">
                <a16:creationId xmlns:a16="http://schemas.microsoft.com/office/drawing/2014/main" id="{5704FA93-E0CB-4E74-2C36-0E1018610755}"/>
              </a:ext>
            </a:extLst>
          </p:cNvPr>
          <p:cNvPicPr>
            <a:picLocks noChangeAspect="1"/>
          </p:cNvPicPr>
          <p:nvPr/>
        </p:nvPicPr>
        <p:blipFill>
          <a:blip r:embed="rId3"/>
          <a:stretch>
            <a:fillRect/>
          </a:stretch>
        </p:blipFill>
        <p:spPr>
          <a:xfrm>
            <a:off x="3496547" y="4437528"/>
            <a:ext cx="912318" cy="978341"/>
          </a:xfrm>
          <a:prstGeom prst="rect">
            <a:avLst/>
          </a:prstGeom>
        </p:spPr>
      </p:pic>
      <p:pic>
        <p:nvPicPr>
          <p:cNvPr id="10" name="Grafik 9">
            <a:extLst>
              <a:ext uri="{FF2B5EF4-FFF2-40B4-BE49-F238E27FC236}">
                <a16:creationId xmlns:a16="http://schemas.microsoft.com/office/drawing/2014/main" id="{12BA9D0D-DA4A-1034-552B-DBDC1F758F08}"/>
              </a:ext>
            </a:extLst>
          </p:cNvPr>
          <p:cNvPicPr>
            <a:picLocks noChangeAspect="1"/>
          </p:cNvPicPr>
          <p:nvPr/>
        </p:nvPicPr>
        <p:blipFill>
          <a:blip r:embed="rId4"/>
          <a:stretch>
            <a:fillRect/>
          </a:stretch>
        </p:blipFill>
        <p:spPr>
          <a:xfrm>
            <a:off x="5163059" y="3320747"/>
            <a:ext cx="912318" cy="1032694"/>
          </a:xfrm>
          <a:prstGeom prst="rect">
            <a:avLst/>
          </a:prstGeom>
        </p:spPr>
      </p:pic>
      <p:pic>
        <p:nvPicPr>
          <p:cNvPr id="12" name="Grafik 11">
            <a:extLst>
              <a:ext uri="{FF2B5EF4-FFF2-40B4-BE49-F238E27FC236}">
                <a16:creationId xmlns:a16="http://schemas.microsoft.com/office/drawing/2014/main" id="{976845D4-17BB-B7B3-6588-A23357539D17}"/>
              </a:ext>
            </a:extLst>
          </p:cNvPr>
          <p:cNvPicPr>
            <a:picLocks noChangeAspect="1"/>
          </p:cNvPicPr>
          <p:nvPr/>
        </p:nvPicPr>
        <p:blipFill>
          <a:blip r:embed="rId5"/>
          <a:stretch>
            <a:fillRect/>
          </a:stretch>
        </p:blipFill>
        <p:spPr>
          <a:xfrm>
            <a:off x="5184818" y="4461059"/>
            <a:ext cx="912318" cy="978341"/>
          </a:xfrm>
          <a:prstGeom prst="rect">
            <a:avLst/>
          </a:prstGeom>
        </p:spPr>
      </p:pic>
      <p:pic>
        <p:nvPicPr>
          <p:cNvPr id="14" name="Grafik 13">
            <a:extLst>
              <a:ext uri="{FF2B5EF4-FFF2-40B4-BE49-F238E27FC236}">
                <a16:creationId xmlns:a16="http://schemas.microsoft.com/office/drawing/2014/main" id="{B9AFD24F-C063-96B0-3D91-9B7A54AF61FE}"/>
              </a:ext>
            </a:extLst>
          </p:cNvPr>
          <p:cNvPicPr>
            <a:picLocks noChangeAspect="1"/>
          </p:cNvPicPr>
          <p:nvPr/>
        </p:nvPicPr>
        <p:blipFill>
          <a:blip r:embed="rId6"/>
          <a:stretch>
            <a:fillRect/>
          </a:stretch>
        </p:blipFill>
        <p:spPr>
          <a:xfrm>
            <a:off x="3483429" y="2280937"/>
            <a:ext cx="938555" cy="923890"/>
          </a:xfrm>
          <a:prstGeom prst="rect">
            <a:avLst/>
          </a:prstGeom>
        </p:spPr>
      </p:pic>
      <p:pic>
        <p:nvPicPr>
          <p:cNvPr id="16" name="Grafik 15">
            <a:extLst>
              <a:ext uri="{FF2B5EF4-FFF2-40B4-BE49-F238E27FC236}">
                <a16:creationId xmlns:a16="http://schemas.microsoft.com/office/drawing/2014/main" id="{15E6BB1D-7165-12FE-DB7D-E47A27C36C0E}"/>
              </a:ext>
            </a:extLst>
          </p:cNvPr>
          <p:cNvPicPr>
            <a:picLocks noChangeAspect="1"/>
          </p:cNvPicPr>
          <p:nvPr/>
        </p:nvPicPr>
        <p:blipFill>
          <a:blip r:embed="rId7"/>
          <a:stretch>
            <a:fillRect/>
          </a:stretch>
        </p:blipFill>
        <p:spPr>
          <a:xfrm>
            <a:off x="5128183" y="2251588"/>
            <a:ext cx="982071" cy="966727"/>
          </a:xfrm>
          <a:prstGeom prst="rect">
            <a:avLst/>
          </a:prstGeom>
        </p:spPr>
      </p:pic>
      <p:pic>
        <p:nvPicPr>
          <p:cNvPr id="17" name="Grafik 16">
            <a:extLst>
              <a:ext uri="{FF2B5EF4-FFF2-40B4-BE49-F238E27FC236}">
                <a16:creationId xmlns:a16="http://schemas.microsoft.com/office/drawing/2014/main" id="{6A7B4B47-BEEE-B2FC-74F6-073DD59542DD}"/>
              </a:ext>
            </a:extLst>
          </p:cNvPr>
          <p:cNvPicPr>
            <a:picLocks noChangeAspect="1"/>
          </p:cNvPicPr>
          <p:nvPr/>
        </p:nvPicPr>
        <p:blipFill>
          <a:blip r:embed="rId7"/>
          <a:stretch>
            <a:fillRect/>
          </a:stretch>
        </p:blipFill>
        <p:spPr>
          <a:xfrm>
            <a:off x="9221397" y="2266033"/>
            <a:ext cx="982071" cy="966727"/>
          </a:xfrm>
          <a:prstGeom prst="rect">
            <a:avLst/>
          </a:prstGeom>
        </p:spPr>
      </p:pic>
      <p:pic>
        <p:nvPicPr>
          <p:cNvPr id="18" name="Grafik 17">
            <a:extLst>
              <a:ext uri="{FF2B5EF4-FFF2-40B4-BE49-F238E27FC236}">
                <a16:creationId xmlns:a16="http://schemas.microsoft.com/office/drawing/2014/main" id="{6AB2DC3C-ED28-9CC6-8787-0D1B121BF9BC}"/>
              </a:ext>
            </a:extLst>
          </p:cNvPr>
          <p:cNvPicPr>
            <a:picLocks noChangeAspect="1"/>
          </p:cNvPicPr>
          <p:nvPr/>
        </p:nvPicPr>
        <p:blipFill>
          <a:blip r:embed="rId6"/>
          <a:stretch>
            <a:fillRect/>
          </a:stretch>
        </p:blipFill>
        <p:spPr>
          <a:xfrm>
            <a:off x="6566342" y="2273006"/>
            <a:ext cx="938555" cy="923890"/>
          </a:xfrm>
          <a:prstGeom prst="rect">
            <a:avLst/>
          </a:prstGeom>
        </p:spPr>
      </p:pic>
      <p:pic>
        <p:nvPicPr>
          <p:cNvPr id="19" name="Grafik 18">
            <a:extLst>
              <a:ext uri="{FF2B5EF4-FFF2-40B4-BE49-F238E27FC236}">
                <a16:creationId xmlns:a16="http://schemas.microsoft.com/office/drawing/2014/main" id="{B1169DA1-1C88-E72D-6DAA-84D628FD5058}"/>
              </a:ext>
            </a:extLst>
          </p:cNvPr>
          <p:cNvPicPr>
            <a:picLocks noChangeAspect="1"/>
          </p:cNvPicPr>
          <p:nvPr/>
        </p:nvPicPr>
        <p:blipFill>
          <a:blip r:embed="rId7"/>
          <a:stretch>
            <a:fillRect/>
          </a:stretch>
        </p:blipFill>
        <p:spPr>
          <a:xfrm>
            <a:off x="8182537" y="3372839"/>
            <a:ext cx="982071" cy="966727"/>
          </a:xfrm>
          <a:prstGeom prst="rect">
            <a:avLst/>
          </a:prstGeom>
        </p:spPr>
      </p:pic>
      <p:pic>
        <p:nvPicPr>
          <p:cNvPr id="20" name="Grafik 19">
            <a:extLst>
              <a:ext uri="{FF2B5EF4-FFF2-40B4-BE49-F238E27FC236}">
                <a16:creationId xmlns:a16="http://schemas.microsoft.com/office/drawing/2014/main" id="{25A57E13-EC07-78CA-AB56-BA8090CE798B}"/>
              </a:ext>
            </a:extLst>
          </p:cNvPr>
          <p:cNvPicPr>
            <a:picLocks noChangeAspect="1"/>
          </p:cNvPicPr>
          <p:nvPr/>
        </p:nvPicPr>
        <p:blipFill>
          <a:blip r:embed="rId6"/>
          <a:stretch>
            <a:fillRect/>
          </a:stretch>
        </p:blipFill>
        <p:spPr>
          <a:xfrm>
            <a:off x="6538458" y="3388789"/>
            <a:ext cx="938555" cy="923890"/>
          </a:xfrm>
          <a:prstGeom prst="rect">
            <a:avLst/>
          </a:prstGeom>
        </p:spPr>
      </p:pic>
      <p:sp>
        <p:nvSpPr>
          <p:cNvPr id="21" name="Textfeld 20">
            <a:extLst>
              <a:ext uri="{FF2B5EF4-FFF2-40B4-BE49-F238E27FC236}">
                <a16:creationId xmlns:a16="http://schemas.microsoft.com/office/drawing/2014/main" id="{7528605A-ED5A-33C1-424E-A8234329047C}"/>
              </a:ext>
            </a:extLst>
          </p:cNvPr>
          <p:cNvSpPr txBox="1"/>
          <p:nvPr/>
        </p:nvSpPr>
        <p:spPr>
          <a:xfrm>
            <a:off x="7672686" y="3661105"/>
            <a:ext cx="386644" cy="369332"/>
          </a:xfrm>
          <a:prstGeom prst="rect">
            <a:avLst/>
          </a:prstGeom>
          <a:noFill/>
        </p:spPr>
        <p:txBody>
          <a:bodyPr wrap="none" rtlCol="0">
            <a:spAutoFit/>
          </a:bodyPr>
          <a:lstStyle/>
          <a:p>
            <a:r>
              <a:rPr lang="en-US" dirty="0"/>
              <a:t>or</a:t>
            </a:r>
          </a:p>
        </p:txBody>
      </p:sp>
      <p:pic>
        <p:nvPicPr>
          <p:cNvPr id="22" name="Grafik 21">
            <a:extLst>
              <a:ext uri="{FF2B5EF4-FFF2-40B4-BE49-F238E27FC236}">
                <a16:creationId xmlns:a16="http://schemas.microsoft.com/office/drawing/2014/main" id="{AB9C2788-E1D5-2371-4CEF-20F463F29268}"/>
              </a:ext>
            </a:extLst>
          </p:cNvPr>
          <p:cNvPicPr>
            <a:picLocks noChangeAspect="1"/>
          </p:cNvPicPr>
          <p:nvPr/>
        </p:nvPicPr>
        <p:blipFill>
          <a:blip r:embed="rId7"/>
          <a:stretch>
            <a:fillRect/>
          </a:stretch>
        </p:blipFill>
        <p:spPr>
          <a:xfrm>
            <a:off x="8256353" y="4461059"/>
            <a:ext cx="982071" cy="966727"/>
          </a:xfrm>
          <a:prstGeom prst="rect">
            <a:avLst/>
          </a:prstGeom>
        </p:spPr>
      </p:pic>
      <p:pic>
        <p:nvPicPr>
          <p:cNvPr id="23" name="Grafik 22">
            <a:extLst>
              <a:ext uri="{FF2B5EF4-FFF2-40B4-BE49-F238E27FC236}">
                <a16:creationId xmlns:a16="http://schemas.microsoft.com/office/drawing/2014/main" id="{F358EB20-1D80-1D01-E28E-A8BAE676A864}"/>
              </a:ext>
            </a:extLst>
          </p:cNvPr>
          <p:cNvPicPr>
            <a:picLocks noChangeAspect="1"/>
          </p:cNvPicPr>
          <p:nvPr/>
        </p:nvPicPr>
        <p:blipFill>
          <a:blip r:embed="rId6"/>
          <a:stretch>
            <a:fillRect/>
          </a:stretch>
        </p:blipFill>
        <p:spPr>
          <a:xfrm>
            <a:off x="6537108" y="4497555"/>
            <a:ext cx="938555" cy="923890"/>
          </a:xfrm>
          <a:prstGeom prst="rect">
            <a:avLst/>
          </a:prstGeom>
        </p:spPr>
      </p:pic>
      <p:sp>
        <p:nvSpPr>
          <p:cNvPr id="24" name="Textfeld 23">
            <a:extLst>
              <a:ext uri="{FF2B5EF4-FFF2-40B4-BE49-F238E27FC236}">
                <a16:creationId xmlns:a16="http://schemas.microsoft.com/office/drawing/2014/main" id="{EEE16B2C-1CC7-0284-6736-3532AF237631}"/>
              </a:ext>
            </a:extLst>
          </p:cNvPr>
          <p:cNvSpPr txBox="1"/>
          <p:nvPr/>
        </p:nvSpPr>
        <p:spPr>
          <a:xfrm>
            <a:off x="7596543" y="4742032"/>
            <a:ext cx="538930" cy="369332"/>
          </a:xfrm>
          <a:prstGeom prst="rect">
            <a:avLst/>
          </a:prstGeom>
          <a:noFill/>
        </p:spPr>
        <p:txBody>
          <a:bodyPr wrap="none" rtlCol="0">
            <a:spAutoFit/>
          </a:bodyPr>
          <a:lstStyle/>
          <a:p>
            <a:r>
              <a:rPr lang="en-US" dirty="0"/>
              <a:t>and</a:t>
            </a:r>
          </a:p>
        </p:txBody>
      </p:sp>
      <p:sp>
        <p:nvSpPr>
          <p:cNvPr id="25" name="Textfeld 24">
            <a:extLst>
              <a:ext uri="{FF2B5EF4-FFF2-40B4-BE49-F238E27FC236}">
                <a16:creationId xmlns:a16="http://schemas.microsoft.com/office/drawing/2014/main" id="{9E59026F-D9A9-DBAF-A618-906809369455}"/>
              </a:ext>
            </a:extLst>
          </p:cNvPr>
          <p:cNvSpPr txBox="1"/>
          <p:nvPr/>
        </p:nvSpPr>
        <p:spPr>
          <a:xfrm>
            <a:off x="10203468" y="2294425"/>
            <a:ext cx="1631481" cy="954107"/>
          </a:xfrm>
          <a:prstGeom prst="rect">
            <a:avLst/>
          </a:prstGeom>
          <a:noFill/>
        </p:spPr>
        <p:txBody>
          <a:bodyPr wrap="square" rtlCol="0">
            <a:spAutoFit/>
          </a:bodyPr>
          <a:lstStyle/>
          <a:p>
            <a:r>
              <a:rPr lang="pt-BR" sz="1400" dirty="0"/>
              <a:t>InChI=1B/C2H4ClNO2/c3-1(4)2(5)6 /h1H,4H2,(H,5,6) /t1-/m0/s1</a:t>
            </a:r>
            <a:endParaRPr lang="en-US" sz="1400" dirty="0"/>
          </a:p>
        </p:txBody>
      </p:sp>
      <p:sp>
        <p:nvSpPr>
          <p:cNvPr id="26" name="Textfeld 25">
            <a:extLst>
              <a:ext uri="{FF2B5EF4-FFF2-40B4-BE49-F238E27FC236}">
                <a16:creationId xmlns:a16="http://schemas.microsoft.com/office/drawing/2014/main" id="{CF397B32-F612-7F3E-7923-CE562B6FAE54}"/>
              </a:ext>
            </a:extLst>
          </p:cNvPr>
          <p:cNvSpPr txBox="1"/>
          <p:nvPr/>
        </p:nvSpPr>
        <p:spPr>
          <a:xfrm>
            <a:off x="7533127" y="2242789"/>
            <a:ext cx="1631481" cy="954107"/>
          </a:xfrm>
          <a:prstGeom prst="rect">
            <a:avLst/>
          </a:prstGeom>
          <a:noFill/>
        </p:spPr>
        <p:txBody>
          <a:bodyPr wrap="square" rtlCol="0">
            <a:spAutoFit/>
          </a:bodyPr>
          <a:lstStyle/>
          <a:p>
            <a:r>
              <a:rPr lang="pt-BR" sz="1400" dirty="0"/>
              <a:t>InChI=1B/C2H4ClNO2/c3-1(4)2(5)6 /h1H,4H2,(H,5,6) /t1-/m1/s1</a:t>
            </a:r>
            <a:endParaRPr lang="en-US" sz="1400" dirty="0"/>
          </a:p>
        </p:txBody>
      </p:sp>
      <p:sp>
        <p:nvSpPr>
          <p:cNvPr id="27" name="Textfeld 26">
            <a:extLst>
              <a:ext uri="{FF2B5EF4-FFF2-40B4-BE49-F238E27FC236}">
                <a16:creationId xmlns:a16="http://schemas.microsoft.com/office/drawing/2014/main" id="{B79542D2-EE27-D93F-4EAC-5D4C60149998}"/>
              </a:ext>
            </a:extLst>
          </p:cNvPr>
          <p:cNvSpPr txBox="1"/>
          <p:nvPr/>
        </p:nvSpPr>
        <p:spPr>
          <a:xfrm>
            <a:off x="9385550" y="3404365"/>
            <a:ext cx="2449399" cy="738664"/>
          </a:xfrm>
          <a:prstGeom prst="rect">
            <a:avLst/>
          </a:prstGeom>
          <a:noFill/>
        </p:spPr>
        <p:txBody>
          <a:bodyPr wrap="square" rtlCol="0">
            <a:spAutoFit/>
          </a:bodyPr>
          <a:lstStyle/>
          <a:p>
            <a:r>
              <a:rPr lang="pt-BR" sz="1400" dirty="0"/>
              <a:t>InChI=1B/C2H4ClNO2/c3-1(4)2(5)6/h1H,4H2,(H,5,6)   /t1-/s2</a:t>
            </a:r>
            <a:endParaRPr lang="en-US" sz="1400" dirty="0"/>
          </a:p>
        </p:txBody>
      </p:sp>
      <p:sp>
        <p:nvSpPr>
          <p:cNvPr id="28" name="Textfeld 27">
            <a:extLst>
              <a:ext uri="{FF2B5EF4-FFF2-40B4-BE49-F238E27FC236}">
                <a16:creationId xmlns:a16="http://schemas.microsoft.com/office/drawing/2014/main" id="{FD6DDA3D-B221-D350-A3E2-27BE57539179}"/>
              </a:ext>
            </a:extLst>
          </p:cNvPr>
          <p:cNvSpPr txBox="1"/>
          <p:nvPr/>
        </p:nvSpPr>
        <p:spPr>
          <a:xfrm>
            <a:off x="9385550" y="4557366"/>
            <a:ext cx="2449399" cy="738664"/>
          </a:xfrm>
          <a:prstGeom prst="rect">
            <a:avLst/>
          </a:prstGeom>
          <a:noFill/>
        </p:spPr>
        <p:txBody>
          <a:bodyPr wrap="square" rtlCol="0">
            <a:spAutoFit/>
          </a:bodyPr>
          <a:lstStyle/>
          <a:p>
            <a:r>
              <a:rPr lang="pt-BR" sz="1400" dirty="0"/>
              <a:t>InChI=1B/C2H4ClNO2/c3-1(4)2(5)6/h1H,4H2,(H,5,6)   /t1-/s3</a:t>
            </a:r>
            <a:endParaRPr lang="en-US" sz="1400" dirty="0"/>
          </a:p>
        </p:txBody>
      </p:sp>
    </p:spTree>
    <p:extLst>
      <p:ext uri="{BB962C8B-B14F-4D97-AF65-F5344CB8AC3E}">
        <p14:creationId xmlns:p14="http://schemas.microsoft.com/office/powerpoint/2010/main" val="2304925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7551ED-2445-CD10-1AD7-85B3CD4BC6F3}"/>
              </a:ext>
            </a:extLst>
          </p:cNvPr>
          <p:cNvSpPr>
            <a:spLocks noGrp="1"/>
          </p:cNvSpPr>
          <p:nvPr>
            <p:ph type="title"/>
          </p:nvPr>
        </p:nvSpPr>
        <p:spPr/>
        <p:txBody>
          <a:bodyPr/>
          <a:lstStyle/>
          <a:p>
            <a:r>
              <a:rPr lang="en-US" dirty="0"/>
              <a:t>MDL enhanced stereochemistry</a:t>
            </a:r>
          </a:p>
        </p:txBody>
      </p:sp>
      <p:sp>
        <p:nvSpPr>
          <p:cNvPr id="3" name="Inhaltsplatzhalter 2">
            <a:extLst>
              <a:ext uri="{FF2B5EF4-FFF2-40B4-BE49-F238E27FC236}">
                <a16:creationId xmlns:a16="http://schemas.microsoft.com/office/drawing/2014/main" id="{EDFAC1CA-8DDA-F5CF-AAA2-2B586D3B7147}"/>
              </a:ext>
            </a:extLst>
          </p:cNvPr>
          <p:cNvSpPr>
            <a:spLocks noGrp="1"/>
          </p:cNvSpPr>
          <p:nvPr>
            <p:ph idx="1"/>
          </p:nvPr>
        </p:nvSpPr>
        <p:spPr>
          <a:xfrm>
            <a:off x="824691" y="1665287"/>
            <a:ext cx="10515600" cy="4776517"/>
          </a:xfrm>
        </p:spPr>
        <p:txBody>
          <a:bodyPr>
            <a:normAutofit lnSpcReduction="10000"/>
          </a:bodyPr>
          <a:lstStyle/>
          <a:p>
            <a:r>
              <a:rPr lang="en-US" dirty="0"/>
              <a:t>Current standard InChI</a:t>
            </a:r>
          </a:p>
          <a:p>
            <a:pPr lvl="1"/>
            <a:r>
              <a:rPr lang="pt-BR" dirty="0"/>
              <a:t>All centers are seen being abolutely known</a:t>
            </a:r>
          </a:p>
          <a:p>
            <a:pPr lvl="1"/>
            <a:r>
              <a:rPr lang="pt-BR" dirty="0"/>
              <a:t>InChI=1S/C10H20BrClINO2/c1-4(6(3)15)9(14)10(16)8(13)7(11)5(2)12/h4-10,15-16H,14H2,1-3H3/t4-,5+,6+,7-,8-,9-,10+/m1</a:t>
            </a:r>
            <a:r>
              <a:rPr lang="pt-BR" b="1" dirty="0"/>
              <a:t>/s1</a:t>
            </a:r>
            <a:endParaRPr lang="en-US" b="1" dirty="0"/>
          </a:p>
          <a:p>
            <a:r>
              <a:rPr lang="en-US" dirty="0"/>
              <a:t>InChI with enhanced stereochemistry</a:t>
            </a:r>
          </a:p>
          <a:p>
            <a:pPr lvl="1"/>
            <a:r>
              <a:rPr lang="en-US" dirty="0"/>
              <a:t>Centers are represented according to their stereochemistry</a:t>
            </a:r>
          </a:p>
          <a:p>
            <a:pPr lvl="2"/>
            <a:r>
              <a:rPr lang="en-US" dirty="0"/>
              <a:t>Related centers are grouped, e.g. or1, or2</a:t>
            </a:r>
          </a:p>
          <a:p>
            <a:pPr lvl="2"/>
            <a:r>
              <a:rPr lang="en-US" dirty="0"/>
              <a:t>Multiple groups are ordered alphanumerically beginning with the lowest number</a:t>
            </a:r>
          </a:p>
          <a:p>
            <a:pPr lvl="1"/>
            <a:r>
              <a:rPr lang="pt-BR" dirty="0"/>
              <a:t>InChI=1B/C10H20BrClINO2/c1-4(6(3)15)9(14)10(16)8(13)7(11)5(2)12/h4-10,15-16H,14H2,1-3H3/t4-,5-,6-,7+,8-,9-,10+/m0</a:t>
            </a:r>
            <a:r>
              <a:rPr lang="pt-BR" b="1" dirty="0"/>
              <a:t>/</a:t>
            </a:r>
            <a:r>
              <a:rPr lang="pt-BR" b="1" dirty="0">
                <a:solidFill>
                  <a:srgbClr val="00B050"/>
                </a:solidFill>
              </a:rPr>
              <a:t>s</a:t>
            </a:r>
            <a:r>
              <a:rPr lang="pt-BR" b="1" dirty="0">
                <a:solidFill>
                  <a:schemeClr val="accent4">
                    <a:lumMod val="75000"/>
                  </a:schemeClr>
                </a:solidFill>
              </a:rPr>
              <a:t>1(5,7)</a:t>
            </a:r>
            <a:r>
              <a:rPr lang="pt-BR" b="1" dirty="0">
                <a:solidFill>
                  <a:schemeClr val="accent6">
                    <a:lumMod val="75000"/>
                  </a:schemeClr>
                </a:solidFill>
              </a:rPr>
              <a:t>2(8,10)(9)</a:t>
            </a:r>
            <a:r>
              <a:rPr lang="pt-BR" b="1" dirty="0">
                <a:solidFill>
                  <a:srgbClr val="0070C0"/>
                </a:solidFill>
              </a:rPr>
              <a:t>3(4)(6)</a:t>
            </a:r>
          </a:p>
          <a:p>
            <a:r>
              <a:rPr lang="pt-BR" dirty="0"/>
              <a:t>Note</a:t>
            </a:r>
          </a:p>
          <a:p>
            <a:pPr lvl="1"/>
            <a:r>
              <a:rPr lang="pt-BR" dirty="0"/>
              <a:t>The string part for the extended sterechemistry is an extension to the stereochemistry layer of the current standard InChI</a:t>
            </a:r>
            <a:endParaRPr lang="en-US" dirty="0"/>
          </a:p>
        </p:txBody>
      </p:sp>
      <p:grpSp>
        <p:nvGrpSpPr>
          <p:cNvPr id="15" name="Gruppieren 14">
            <a:extLst>
              <a:ext uri="{FF2B5EF4-FFF2-40B4-BE49-F238E27FC236}">
                <a16:creationId xmlns:a16="http://schemas.microsoft.com/office/drawing/2014/main" id="{E07BF094-2CEF-F435-5E08-A298553C3DC2}"/>
              </a:ext>
            </a:extLst>
          </p:cNvPr>
          <p:cNvGrpSpPr/>
          <p:nvPr/>
        </p:nvGrpSpPr>
        <p:grpSpPr>
          <a:xfrm>
            <a:off x="8572400" y="645049"/>
            <a:ext cx="2865403" cy="1552792"/>
            <a:chOff x="3176211" y="1164220"/>
            <a:chExt cx="2865403" cy="1552792"/>
          </a:xfrm>
        </p:grpSpPr>
        <p:pic>
          <p:nvPicPr>
            <p:cNvPr id="5" name="Grafik 4">
              <a:extLst>
                <a:ext uri="{FF2B5EF4-FFF2-40B4-BE49-F238E27FC236}">
                  <a16:creationId xmlns:a16="http://schemas.microsoft.com/office/drawing/2014/main" id="{A352EE07-C6EB-5F96-886A-AE6984A2740D}"/>
                </a:ext>
              </a:extLst>
            </p:cNvPr>
            <p:cNvPicPr>
              <a:picLocks noChangeAspect="1"/>
            </p:cNvPicPr>
            <p:nvPr/>
          </p:nvPicPr>
          <p:blipFill>
            <a:blip r:embed="rId2"/>
            <a:stretch>
              <a:fillRect/>
            </a:stretch>
          </p:blipFill>
          <p:spPr>
            <a:xfrm>
              <a:off x="3278978" y="1164220"/>
              <a:ext cx="2762636" cy="1552792"/>
            </a:xfrm>
            <a:prstGeom prst="rect">
              <a:avLst/>
            </a:prstGeom>
          </p:spPr>
        </p:pic>
        <p:sp>
          <p:nvSpPr>
            <p:cNvPr id="4" name="Textfeld 3">
              <a:extLst>
                <a:ext uri="{FF2B5EF4-FFF2-40B4-BE49-F238E27FC236}">
                  <a16:creationId xmlns:a16="http://schemas.microsoft.com/office/drawing/2014/main" id="{597D6393-D1CC-DA82-5F16-A25E5D057A44}"/>
                </a:ext>
              </a:extLst>
            </p:cNvPr>
            <p:cNvSpPr txBox="1"/>
            <p:nvPr/>
          </p:nvSpPr>
          <p:spPr>
            <a:xfrm>
              <a:off x="3464879" y="2038620"/>
              <a:ext cx="254229" cy="276999"/>
            </a:xfrm>
            <a:prstGeom prst="rect">
              <a:avLst/>
            </a:prstGeom>
            <a:noFill/>
          </p:spPr>
          <p:txBody>
            <a:bodyPr wrap="square" rtlCol="0">
              <a:spAutoFit/>
            </a:bodyPr>
            <a:lstStyle/>
            <a:p>
              <a:r>
                <a:rPr lang="en-US" sz="1200" b="1" dirty="0">
                  <a:solidFill>
                    <a:schemeClr val="accent4">
                      <a:lumMod val="75000"/>
                    </a:schemeClr>
                  </a:solidFill>
                </a:rPr>
                <a:t>5</a:t>
              </a:r>
            </a:p>
          </p:txBody>
        </p:sp>
        <p:sp>
          <p:nvSpPr>
            <p:cNvPr id="7" name="Textfeld 6">
              <a:extLst>
                <a:ext uri="{FF2B5EF4-FFF2-40B4-BE49-F238E27FC236}">
                  <a16:creationId xmlns:a16="http://schemas.microsoft.com/office/drawing/2014/main" id="{B11578C1-699C-1C90-345A-32AABB7D1A3C}"/>
                </a:ext>
              </a:extLst>
            </p:cNvPr>
            <p:cNvSpPr txBox="1"/>
            <p:nvPr/>
          </p:nvSpPr>
          <p:spPr>
            <a:xfrm>
              <a:off x="4137207" y="2083461"/>
              <a:ext cx="254229" cy="276999"/>
            </a:xfrm>
            <a:prstGeom prst="rect">
              <a:avLst/>
            </a:prstGeom>
            <a:noFill/>
          </p:spPr>
          <p:txBody>
            <a:bodyPr wrap="square" rtlCol="0">
              <a:spAutoFit/>
            </a:bodyPr>
            <a:lstStyle/>
            <a:p>
              <a:r>
                <a:rPr lang="en-US" sz="1200" b="1" dirty="0">
                  <a:solidFill>
                    <a:schemeClr val="accent6">
                      <a:lumMod val="75000"/>
                    </a:schemeClr>
                  </a:solidFill>
                </a:rPr>
                <a:t>8</a:t>
              </a:r>
            </a:p>
          </p:txBody>
        </p:sp>
        <p:sp>
          <p:nvSpPr>
            <p:cNvPr id="8" name="Textfeld 7">
              <a:extLst>
                <a:ext uri="{FF2B5EF4-FFF2-40B4-BE49-F238E27FC236}">
                  <a16:creationId xmlns:a16="http://schemas.microsoft.com/office/drawing/2014/main" id="{07C722D6-DBD4-D68E-B133-423D797122CC}"/>
                </a:ext>
              </a:extLst>
            </p:cNvPr>
            <p:cNvSpPr txBox="1"/>
            <p:nvPr/>
          </p:nvSpPr>
          <p:spPr>
            <a:xfrm>
              <a:off x="4738350" y="2053604"/>
              <a:ext cx="254229" cy="276999"/>
            </a:xfrm>
            <a:prstGeom prst="rect">
              <a:avLst/>
            </a:prstGeom>
            <a:noFill/>
          </p:spPr>
          <p:txBody>
            <a:bodyPr wrap="square" rtlCol="0">
              <a:spAutoFit/>
            </a:bodyPr>
            <a:lstStyle/>
            <a:p>
              <a:r>
                <a:rPr lang="en-US" sz="1200" b="1" dirty="0">
                  <a:solidFill>
                    <a:schemeClr val="accent6">
                      <a:lumMod val="75000"/>
                    </a:schemeClr>
                  </a:solidFill>
                </a:rPr>
                <a:t>9</a:t>
              </a:r>
            </a:p>
          </p:txBody>
        </p:sp>
        <p:sp>
          <p:nvSpPr>
            <p:cNvPr id="9" name="Textfeld 8">
              <a:extLst>
                <a:ext uri="{FF2B5EF4-FFF2-40B4-BE49-F238E27FC236}">
                  <a16:creationId xmlns:a16="http://schemas.microsoft.com/office/drawing/2014/main" id="{9576A03D-B922-C22C-69FE-D1EFED2D8108}"/>
                </a:ext>
              </a:extLst>
            </p:cNvPr>
            <p:cNvSpPr txBox="1"/>
            <p:nvPr/>
          </p:nvSpPr>
          <p:spPr>
            <a:xfrm>
              <a:off x="4355160" y="1812954"/>
              <a:ext cx="350589" cy="276999"/>
            </a:xfrm>
            <a:prstGeom prst="rect">
              <a:avLst/>
            </a:prstGeom>
            <a:noFill/>
          </p:spPr>
          <p:txBody>
            <a:bodyPr wrap="square" rtlCol="0">
              <a:spAutoFit/>
            </a:bodyPr>
            <a:lstStyle/>
            <a:p>
              <a:r>
                <a:rPr lang="en-US" sz="1200" b="1" dirty="0">
                  <a:solidFill>
                    <a:schemeClr val="accent6">
                      <a:lumMod val="75000"/>
                    </a:schemeClr>
                  </a:solidFill>
                </a:rPr>
                <a:t>10</a:t>
              </a:r>
            </a:p>
          </p:txBody>
        </p:sp>
        <p:sp>
          <p:nvSpPr>
            <p:cNvPr id="6" name="Textfeld 5">
              <a:extLst>
                <a:ext uri="{FF2B5EF4-FFF2-40B4-BE49-F238E27FC236}">
                  <a16:creationId xmlns:a16="http://schemas.microsoft.com/office/drawing/2014/main" id="{8B2D125C-FC21-48AF-48DD-E53B1DF69EBA}"/>
                </a:ext>
              </a:extLst>
            </p:cNvPr>
            <p:cNvSpPr txBox="1"/>
            <p:nvPr/>
          </p:nvSpPr>
          <p:spPr>
            <a:xfrm>
              <a:off x="3814101" y="1806462"/>
              <a:ext cx="254229" cy="276999"/>
            </a:xfrm>
            <a:prstGeom prst="rect">
              <a:avLst/>
            </a:prstGeom>
            <a:noFill/>
          </p:spPr>
          <p:txBody>
            <a:bodyPr wrap="square" rtlCol="0">
              <a:spAutoFit/>
            </a:bodyPr>
            <a:lstStyle/>
            <a:p>
              <a:r>
                <a:rPr lang="en-US" sz="1200" b="1" dirty="0">
                  <a:solidFill>
                    <a:schemeClr val="accent4">
                      <a:lumMod val="75000"/>
                    </a:schemeClr>
                  </a:solidFill>
                </a:rPr>
                <a:t>7</a:t>
              </a:r>
            </a:p>
          </p:txBody>
        </p:sp>
        <p:sp>
          <p:nvSpPr>
            <p:cNvPr id="10" name="Textfeld 9">
              <a:extLst>
                <a:ext uri="{FF2B5EF4-FFF2-40B4-BE49-F238E27FC236}">
                  <a16:creationId xmlns:a16="http://schemas.microsoft.com/office/drawing/2014/main" id="{94EC71C7-AC74-80B8-32F0-EA87A36C5FB2}"/>
                </a:ext>
              </a:extLst>
            </p:cNvPr>
            <p:cNvSpPr txBox="1"/>
            <p:nvPr/>
          </p:nvSpPr>
          <p:spPr>
            <a:xfrm>
              <a:off x="5052663" y="1806056"/>
              <a:ext cx="254229" cy="276999"/>
            </a:xfrm>
            <a:prstGeom prst="rect">
              <a:avLst/>
            </a:prstGeom>
            <a:noFill/>
          </p:spPr>
          <p:txBody>
            <a:bodyPr wrap="square" rtlCol="0">
              <a:spAutoFit/>
            </a:bodyPr>
            <a:lstStyle/>
            <a:p>
              <a:r>
                <a:rPr lang="en-US" sz="1200" b="1" dirty="0">
                  <a:solidFill>
                    <a:srgbClr val="0070C0"/>
                  </a:solidFill>
                </a:rPr>
                <a:t>4</a:t>
              </a:r>
            </a:p>
          </p:txBody>
        </p:sp>
        <p:sp>
          <p:nvSpPr>
            <p:cNvPr id="11" name="Textfeld 10">
              <a:extLst>
                <a:ext uri="{FF2B5EF4-FFF2-40B4-BE49-F238E27FC236}">
                  <a16:creationId xmlns:a16="http://schemas.microsoft.com/office/drawing/2014/main" id="{39DB2C82-096B-704D-5FAC-143A9981FADF}"/>
                </a:ext>
              </a:extLst>
            </p:cNvPr>
            <p:cNvSpPr txBox="1"/>
            <p:nvPr/>
          </p:nvSpPr>
          <p:spPr>
            <a:xfrm>
              <a:off x="5339493" y="2053604"/>
              <a:ext cx="254229" cy="276999"/>
            </a:xfrm>
            <a:prstGeom prst="rect">
              <a:avLst/>
            </a:prstGeom>
            <a:noFill/>
          </p:spPr>
          <p:txBody>
            <a:bodyPr wrap="square" rtlCol="0">
              <a:spAutoFit/>
            </a:bodyPr>
            <a:lstStyle/>
            <a:p>
              <a:r>
                <a:rPr lang="en-US" sz="1200" b="1" dirty="0">
                  <a:solidFill>
                    <a:srgbClr val="0070C0"/>
                  </a:solidFill>
                </a:rPr>
                <a:t>6</a:t>
              </a:r>
            </a:p>
          </p:txBody>
        </p:sp>
        <p:sp>
          <p:nvSpPr>
            <p:cNvPr id="12" name="Textfeld 11">
              <a:extLst>
                <a:ext uri="{FF2B5EF4-FFF2-40B4-BE49-F238E27FC236}">
                  <a16:creationId xmlns:a16="http://schemas.microsoft.com/office/drawing/2014/main" id="{09C3BF1A-EFFB-9E26-02A4-D2339269811D}"/>
                </a:ext>
              </a:extLst>
            </p:cNvPr>
            <p:cNvSpPr txBox="1"/>
            <p:nvPr/>
          </p:nvSpPr>
          <p:spPr>
            <a:xfrm>
              <a:off x="5755481" y="1761621"/>
              <a:ext cx="254229" cy="276999"/>
            </a:xfrm>
            <a:prstGeom prst="rect">
              <a:avLst/>
            </a:prstGeom>
            <a:noFill/>
          </p:spPr>
          <p:txBody>
            <a:bodyPr wrap="square" rtlCol="0">
              <a:spAutoFit/>
            </a:bodyPr>
            <a:lstStyle/>
            <a:p>
              <a:r>
                <a:rPr lang="en-US" sz="1200" dirty="0"/>
                <a:t>3</a:t>
              </a:r>
            </a:p>
          </p:txBody>
        </p:sp>
        <p:sp>
          <p:nvSpPr>
            <p:cNvPr id="13" name="Textfeld 12">
              <a:extLst>
                <a:ext uri="{FF2B5EF4-FFF2-40B4-BE49-F238E27FC236}">
                  <a16:creationId xmlns:a16="http://schemas.microsoft.com/office/drawing/2014/main" id="{56C694EC-5706-9B52-6F5C-8188A24CCEDB}"/>
                </a:ext>
              </a:extLst>
            </p:cNvPr>
            <p:cNvSpPr txBox="1"/>
            <p:nvPr/>
          </p:nvSpPr>
          <p:spPr>
            <a:xfrm>
              <a:off x="5047196" y="1456647"/>
              <a:ext cx="254229" cy="276999"/>
            </a:xfrm>
            <a:prstGeom prst="rect">
              <a:avLst/>
            </a:prstGeom>
            <a:noFill/>
          </p:spPr>
          <p:txBody>
            <a:bodyPr wrap="square" rtlCol="0">
              <a:spAutoFit/>
            </a:bodyPr>
            <a:lstStyle/>
            <a:p>
              <a:r>
                <a:rPr lang="en-US" sz="1200" dirty="0"/>
                <a:t>1</a:t>
              </a:r>
            </a:p>
          </p:txBody>
        </p:sp>
        <p:sp>
          <p:nvSpPr>
            <p:cNvPr id="14" name="Textfeld 13">
              <a:extLst>
                <a:ext uri="{FF2B5EF4-FFF2-40B4-BE49-F238E27FC236}">
                  <a16:creationId xmlns:a16="http://schemas.microsoft.com/office/drawing/2014/main" id="{30AA8B71-778C-4691-40E4-A30C17B015B2}"/>
                </a:ext>
              </a:extLst>
            </p:cNvPr>
            <p:cNvSpPr txBox="1"/>
            <p:nvPr/>
          </p:nvSpPr>
          <p:spPr>
            <a:xfrm>
              <a:off x="3176211" y="1812954"/>
              <a:ext cx="254229" cy="276999"/>
            </a:xfrm>
            <a:prstGeom prst="rect">
              <a:avLst/>
            </a:prstGeom>
            <a:noFill/>
          </p:spPr>
          <p:txBody>
            <a:bodyPr wrap="square" rtlCol="0">
              <a:spAutoFit/>
            </a:bodyPr>
            <a:lstStyle/>
            <a:p>
              <a:r>
                <a:rPr lang="en-US" sz="1200" dirty="0"/>
                <a:t>2</a:t>
              </a:r>
            </a:p>
          </p:txBody>
        </p:sp>
      </p:grpSp>
    </p:spTree>
    <p:extLst>
      <p:ext uri="{BB962C8B-B14F-4D97-AF65-F5344CB8AC3E}">
        <p14:creationId xmlns:p14="http://schemas.microsoft.com/office/powerpoint/2010/main" val="3834496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8C6404-9352-0D29-3616-2290CEA1FEB0}"/>
              </a:ext>
            </a:extLst>
          </p:cNvPr>
          <p:cNvSpPr>
            <a:spLocks noGrp="1"/>
          </p:cNvSpPr>
          <p:nvPr>
            <p:ph type="title"/>
          </p:nvPr>
        </p:nvSpPr>
        <p:spPr/>
        <p:txBody>
          <a:bodyPr/>
          <a:lstStyle/>
          <a:p>
            <a:r>
              <a:rPr lang="en-US" dirty="0"/>
              <a:t>MDL enhanced stereochemistry – Edge cases</a:t>
            </a:r>
          </a:p>
        </p:txBody>
      </p:sp>
      <p:sp>
        <p:nvSpPr>
          <p:cNvPr id="3" name="Inhaltsplatzhalter 2">
            <a:extLst>
              <a:ext uri="{FF2B5EF4-FFF2-40B4-BE49-F238E27FC236}">
                <a16:creationId xmlns:a16="http://schemas.microsoft.com/office/drawing/2014/main" id="{9834BD82-3CC5-C7BD-9584-3645E7B4A589}"/>
              </a:ext>
            </a:extLst>
          </p:cNvPr>
          <p:cNvSpPr>
            <a:spLocks noGrp="1"/>
          </p:cNvSpPr>
          <p:nvPr>
            <p:ph idx="1"/>
          </p:nvPr>
        </p:nvSpPr>
        <p:spPr/>
        <p:txBody>
          <a:bodyPr/>
          <a:lstStyle/>
          <a:p>
            <a:r>
              <a:rPr lang="en-US" dirty="0"/>
              <a:t>If all </a:t>
            </a:r>
            <a:r>
              <a:rPr lang="en-US" dirty="0" err="1"/>
              <a:t>stereochenters</a:t>
            </a:r>
            <a:r>
              <a:rPr lang="en-US" dirty="0"/>
              <a:t> belong to the same representation class (e.g. ABS, OR1, AND1) they represent the same structure drawn as V2 molfile with the related InChI parameters </a:t>
            </a:r>
            <a:r>
              <a:rPr lang="en-US" dirty="0" err="1"/>
              <a:t>SAbs</a:t>
            </a:r>
            <a:r>
              <a:rPr lang="en-US" dirty="0"/>
              <a:t>, </a:t>
            </a:r>
            <a:r>
              <a:rPr lang="en-US" dirty="0" err="1"/>
              <a:t>SRel</a:t>
            </a:r>
            <a:r>
              <a:rPr lang="en-US" dirty="0"/>
              <a:t>, </a:t>
            </a:r>
            <a:r>
              <a:rPr lang="en-US" dirty="0" err="1"/>
              <a:t>SRac</a:t>
            </a:r>
            <a:r>
              <a:rPr lang="en-US" dirty="0"/>
              <a:t>.</a:t>
            </a:r>
          </a:p>
          <a:p>
            <a:pPr lvl="1"/>
            <a:r>
              <a:rPr lang="en-US" dirty="0"/>
              <a:t>In case the structure consists out of one stereo class (e.g. ABS, OR1, AND1) only, the additional index grouping used for the enhanced stereochemistry is redundant and is not to be used.</a:t>
            </a:r>
          </a:p>
          <a:p>
            <a:pPr lvl="1"/>
            <a:r>
              <a:rPr lang="en-US" dirty="0"/>
              <a:t>/m0 and /m1 are only used in the context of absolute centers.</a:t>
            </a:r>
          </a:p>
          <a:p>
            <a:pPr lvl="2"/>
            <a:r>
              <a:rPr lang="en-US" dirty="0"/>
              <a:t>In case that the structure only contains OR# and/or AND# centers /m# is obsolete </a:t>
            </a:r>
            <a:r>
              <a:rPr lang="en-US" dirty="0" err="1"/>
              <a:t>abd</a:t>
            </a:r>
            <a:r>
              <a:rPr lang="en-US" dirty="0"/>
              <a:t> must not be used.</a:t>
            </a:r>
          </a:p>
        </p:txBody>
      </p:sp>
    </p:spTree>
    <p:extLst>
      <p:ext uri="{BB962C8B-B14F-4D97-AF65-F5344CB8AC3E}">
        <p14:creationId xmlns:p14="http://schemas.microsoft.com/office/powerpoint/2010/main" val="3813239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2CCF86-2327-A153-404D-A3E4277BBD0E}"/>
              </a:ext>
            </a:extLst>
          </p:cNvPr>
          <p:cNvSpPr>
            <a:spLocks noGrp="1"/>
          </p:cNvSpPr>
          <p:nvPr>
            <p:ph type="title"/>
          </p:nvPr>
        </p:nvSpPr>
        <p:spPr/>
        <p:txBody>
          <a:bodyPr/>
          <a:lstStyle/>
          <a:p>
            <a:r>
              <a:rPr lang="en-US" dirty="0"/>
              <a:t>MDL enhanced stereochemistry – Edge cases</a:t>
            </a:r>
          </a:p>
        </p:txBody>
      </p:sp>
      <p:sp>
        <p:nvSpPr>
          <p:cNvPr id="3" name="Inhaltsplatzhalter 2">
            <a:extLst>
              <a:ext uri="{FF2B5EF4-FFF2-40B4-BE49-F238E27FC236}">
                <a16:creationId xmlns:a16="http://schemas.microsoft.com/office/drawing/2014/main" id="{7AAF3759-F4E2-231A-24BE-5AD88E68627A}"/>
              </a:ext>
            </a:extLst>
          </p:cNvPr>
          <p:cNvSpPr>
            <a:spLocks noGrp="1"/>
          </p:cNvSpPr>
          <p:nvPr>
            <p:ph idx="1"/>
          </p:nvPr>
        </p:nvSpPr>
        <p:spPr/>
        <p:txBody>
          <a:bodyPr/>
          <a:lstStyle/>
          <a:p>
            <a:endParaRPr lang="en-US" dirty="0"/>
          </a:p>
        </p:txBody>
      </p:sp>
      <p:graphicFrame>
        <p:nvGraphicFramePr>
          <p:cNvPr id="4" name="Inhaltsplatzhalter 3">
            <a:extLst>
              <a:ext uri="{FF2B5EF4-FFF2-40B4-BE49-F238E27FC236}">
                <a16:creationId xmlns:a16="http://schemas.microsoft.com/office/drawing/2014/main" id="{BEF57A3C-8B22-0FA8-08A7-31DEAF6CE150}"/>
              </a:ext>
            </a:extLst>
          </p:cNvPr>
          <p:cNvGraphicFramePr>
            <a:graphicFrameLocks/>
          </p:cNvGraphicFramePr>
          <p:nvPr>
            <p:extLst>
              <p:ext uri="{D42A27DB-BD31-4B8C-83A1-F6EECF244321}">
                <p14:modId xmlns:p14="http://schemas.microsoft.com/office/powerpoint/2010/main" val="1343682476"/>
              </p:ext>
            </p:extLst>
          </p:nvPr>
        </p:nvGraphicFramePr>
        <p:xfrm>
          <a:off x="802839" y="1690688"/>
          <a:ext cx="11101251" cy="3882831"/>
        </p:xfrm>
        <a:graphic>
          <a:graphicData uri="http://schemas.openxmlformats.org/drawingml/2006/table">
            <a:tbl>
              <a:tblPr firstRow="1" bandRow="1">
                <a:tableStyleId>{5C22544A-7EE6-4342-B048-85BDC9FD1C3A}</a:tableStyleId>
              </a:tblPr>
              <a:tblGrid>
                <a:gridCol w="1380144">
                  <a:extLst>
                    <a:ext uri="{9D8B030D-6E8A-4147-A177-3AD203B41FA5}">
                      <a16:colId xmlns:a16="http://schemas.microsoft.com/office/drawing/2014/main" val="287185313"/>
                    </a:ext>
                  </a:extLst>
                </a:gridCol>
                <a:gridCol w="1089175">
                  <a:extLst>
                    <a:ext uri="{9D8B030D-6E8A-4147-A177-3AD203B41FA5}">
                      <a16:colId xmlns:a16="http://schemas.microsoft.com/office/drawing/2014/main" val="1423090391"/>
                    </a:ext>
                  </a:extLst>
                </a:gridCol>
                <a:gridCol w="1094820">
                  <a:extLst>
                    <a:ext uri="{9D8B030D-6E8A-4147-A177-3AD203B41FA5}">
                      <a16:colId xmlns:a16="http://schemas.microsoft.com/office/drawing/2014/main" val="4036090240"/>
                    </a:ext>
                  </a:extLst>
                </a:gridCol>
                <a:gridCol w="1256185">
                  <a:extLst>
                    <a:ext uri="{9D8B030D-6E8A-4147-A177-3AD203B41FA5}">
                      <a16:colId xmlns:a16="http://schemas.microsoft.com/office/drawing/2014/main" val="2474538591"/>
                    </a:ext>
                  </a:extLst>
                </a:gridCol>
                <a:gridCol w="1256186">
                  <a:extLst>
                    <a:ext uri="{9D8B030D-6E8A-4147-A177-3AD203B41FA5}">
                      <a16:colId xmlns:a16="http://schemas.microsoft.com/office/drawing/2014/main" val="1124131880"/>
                    </a:ext>
                  </a:extLst>
                </a:gridCol>
                <a:gridCol w="568609">
                  <a:extLst>
                    <a:ext uri="{9D8B030D-6E8A-4147-A177-3AD203B41FA5}">
                      <a16:colId xmlns:a16="http://schemas.microsoft.com/office/drawing/2014/main" val="2390572215"/>
                    </a:ext>
                  </a:extLst>
                </a:gridCol>
                <a:gridCol w="687576">
                  <a:extLst>
                    <a:ext uri="{9D8B030D-6E8A-4147-A177-3AD203B41FA5}">
                      <a16:colId xmlns:a16="http://schemas.microsoft.com/office/drawing/2014/main" val="1183542736"/>
                    </a:ext>
                  </a:extLst>
                </a:gridCol>
                <a:gridCol w="1256185">
                  <a:extLst>
                    <a:ext uri="{9D8B030D-6E8A-4147-A177-3AD203B41FA5}">
                      <a16:colId xmlns:a16="http://schemas.microsoft.com/office/drawing/2014/main" val="3753502094"/>
                    </a:ext>
                  </a:extLst>
                </a:gridCol>
                <a:gridCol w="284305">
                  <a:extLst>
                    <a:ext uri="{9D8B030D-6E8A-4147-A177-3AD203B41FA5}">
                      <a16:colId xmlns:a16="http://schemas.microsoft.com/office/drawing/2014/main" val="2353406161"/>
                    </a:ext>
                  </a:extLst>
                </a:gridCol>
                <a:gridCol w="971881">
                  <a:extLst>
                    <a:ext uri="{9D8B030D-6E8A-4147-A177-3AD203B41FA5}">
                      <a16:colId xmlns:a16="http://schemas.microsoft.com/office/drawing/2014/main" val="2353868379"/>
                    </a:ext>
                  </a:extLst>
                </a:gridCol>
                <a:gridCol w="1256185">
                  <a:extLst>
                    <a:ext uri="{9D8B030D-6E8A-4147-A177-3AD203B41FA5}">
                      <a16:colId xmlns:a16="http://schemas.microsoft.com/office/drawing/2014/main" val="1506403924"/>
                    </a:ext>
                  </a:extLst>
                </a:gridCol>
              </a:tblGrid>
              <a:tr h="494703">
                <a:tc>
                  <a:txBody>
                    <a:bodyPr/>
                    <a:lstStyle/>
                    <a:p>
                      <a:endParaRPr lang="en-US" dirty="0"/>
                    </a:p>
                  </a:txBody>
                  <a:tcPr/>
                </a:tc>
                <a:tc gridSpan="2">
                  <a:txBody>
                    <a:bodyPr/>
                    <a:lstStyle/>
                    <a:p>
                      <a:pPr algn="ctr"/>
                      <a:r>
                        <a:rPr lang="en-US" dirty="0"/>
                        <a:t>Drawings</a:t>
                      </a:r>
                    </a:p>
                  </a:txBody>
                  <a:tcPr/>
                </a:tc>
                <a:tc hMerge="1">
                  <a:txBody>
                    <a:bodyPr/>
                    <a:lstStyle/>
                    <a:p>
                      <a:endParaRPr lang="en-US" dirty="0"/>
                    </a:p>
                  </a:txBody>
                  <a:tcPr/>
                </a:tc>
                <a:tc gridSpan="8">
                  <a:txBody>
                    <a:bodyPr/>
                    <a:lstStyle/>
                    <a:p>
                      <a:pPr algn="ctr"/>
                      <a:r>
                        <a:rPr lang="en-US" dirty="0"/>
                        <a:t>Interpretations</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3244659"/>
                  </a:ext>
                </a:extLst>
              </a:tr>
              <a:tr h="1115159">
                <a:tc>
                  <a:txBody>
                    <a:bodyPr/>
                    <a:lstStyle/>
                    <a:p>
                      <a:r>
                        <a:rPr lang="en-US" dirty="0"/>
                        <a:t>Absolutely known enantiomer </a:t>
                      </a:r>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gridSpan="2">
                  <a:txBody>
                    <a:bodyPr/>
                    <a:lstStyle/>
                    <a:p>
                      <a:endParaRPr lang="en-US" dirty="0"/>
                    </a:p>
                  </a:txBody>
                  <a:tcPr/>
                </a:tc>
                <a:tc hMerge="1">
                  <a:txBody>
                    <a:bodyPr/>
                    <a:lstStyle/>
                    <a:p>
                      <a:endParaRPr lang="en-US"/>
                    </a:p>
                  </a:txBody>
                  <a:tcPr/>
                </a:tc>
                <a:tc>
                  <a:txBody>
                    <a:bodyPr/>
                    <a:lstStyle/>
                    <a:p>
                      <a:endParaRPr lang="en-US" dirty="0"/>
                    </a:p>
                  </a:txBody>
                  <a:tcPr/>
                </a:tc>
                <a:tc gridSpan="2">
                  <a:txBody>
                    <a:bodyPr/>
                    <a:lstStyle/>
                    <a:p>
                      <a:endParaRPr lang="en-US" dirty="0"/>
                    </a:p>
                  </a:txBody>
                  <a:tcPr/>
                </a:tc>
                <a:tc hMerge="1">
                  <a:txBody>
                    <a:bodyPr/>
                    <a:lstStyle/>
                    <a:p>
                      <a:endParaRPr lang="en-US"/>
                    </a:p>
                  </a:txBody>
                  <a:tcPr/>
                </a:tc>
                <a:tc>
                  <a:txBody>
                    <a:bodyPr/>
                    <a:lstStyle/>
                    <a:p>
                      <a:endParaRPr lang="en-US" dirty="0"/>
                    </a:p>
                  </a:txBody>
                  <a:tcPr/>
                </a:tc>
                <a:extLst>
                  <a:ext uri="{0D108BD9-81ED-4DB2-BD59-A6C34878D82A}">
                    <a16:rowId xmlns:a16="http://schemas.microsoft.com/office/drawing/2014/main" val="17394596"/>
                  </a:ext>
                </a:extLst>
              </a:tr>
              <a:tr h="1099704">
                <a:tc>
                  <a:txBody>
                    <a:bodyPr/>
                    <a:lstStyle/>
                    <a:p>
                      <a:r>
                        <a:rPr lang="en-US" dirty="0"/>
                        <a:t>Pure but unknown enantiomer</a:t>
                      </a:r>
                    </a:p>
                  </a:txBody>
                  <a:tcPr/>
                </a:tc>
                <a:tc>
                  <a:txBody>
                    <a:bodyPr/>
                    <a:lstStyle/>
                    <a:p>
                      <a:endParaRPr lang="en-US" dirty="0"/>
                    </a:p>
                  </a:txBody>
                  <a:tcPr/>
                </a:tc>
                <a:tc>
                  <a:txBody>
                    <a:bodyPr/>
                    <a:lstStyle/>
                    <a:p>
                      <a:endParaRPr lang="en-US"/>
                    </a:p>
                  </a:txBody>
                  <a:tcPr/>
                </a:tc>
                <a:tc gridSpan="3">
                  <a:txBody>
                    <a:bodyPr/>
                    <a:lstStyle/>
                    <a:p>
                      <a:endParaRPr lang="en-US" dirty="0"/>
                    </a:p>
                  </a:txBody>
                  <a:tcPr/>
                </a:tc>
                <a:tc hMerge="1">
                  <a:txBody>
                    <a:bodyPr/>
                    <a:lstStyle/>
                    <a:p>
                      <a:endParaRPr lang="en-US"/>
                    </a:p>
                  </a:txBody>
                  <a:tcPr/>
                </a:tc>
                <a:tc hMerge="1">
                  <a:txBody>
                    <a:bodyPr/>
                    <a:lstStyle/>
                    <a:p>
                      <a:endParaRPr lang="en-US"/>
                    </a:p>
                  </a:txBody>
                  <a:tcPr/>
                </a:tc>
                <a:tc gridSpan="3">
                  <a:txBody>
                    <a:bodyPr/>
                    <a:lstStyle/>
                    <a:p>
                      <a:endParaRPr lang="en-US" dirty="0"/>
                    </a:p>
                  </a:txBody>
                  <a:tcPr/>
                </a:tc>
                <a:tc hMerge="1">
                  <a:txBody>
                    <a:bodyPr/>
                    <a:lstStyle/>
                    <a:p>
                      <a:endParaRPr lang="en-US"/>
                    </a:p>
                  </a:txBody>
                  <a:tcPr/>
                </a:tc>
                <a:tc hMerge="1">
                  <a:txBody>
                    <a:bodyPr/>
                    <a:lstStyle/>
                    <a:p>
                      <a:endParaRPr lang="en-US"/>
                    </a:p>
                  </a:txBody>
                  <a:tcPr/>
                </a:tc>
                <a:tc gridSpan="2">
                  <a:txBody>
                    <a:bodyPr/>
                    <a:lstStyle/>
                    <a:p>
                      <a:endParaRPr lang="en-US" dirty="0"/>
                    </a:p>
                  </a:txBody>
                  <a:tcPr/>
                </a:tc>
                <a:tc hMerge="1">
                  <a:txBody>
                    <a:bodyPr/>
                    <a:lstStyle/>
                    <a:p>
                      <a:endParaRPr lang="en-US"/>
                    </a:p>
                  </a:txBody>
                  <a:tcPr/>
                </a:tc>
                <a:extLst>
                  <a:ext uri="{0D108BD9-81ED-4DB2-BD59-A6C34878D82A}">
                    <a16:rowId xmlns:a16="http://schemas.microsoft.com/office/drawing/2014/main" val="4106681907"/>
                  </a:ext>
                </a:extLst>
              </a:tr>
              <a:tr h="1099704">
                <a:tc>
                  <a:txBody>
                    <a:bodyPr/>
                    <a:lstStyle/>
                    <a:p>
                      <a:r>
                        <a:rPr lang="en-US" dirty="0"/>
                        <a:t>(Racemic) mixture of enantiomers</a:t>
                      </a:r>
                    </a:p>
                  </a:txBody>
                  <a:tcPr/>
                </a:tc>
                <a:tc>
                  <a:txBody>
                    <a:bodyPr/>
                    <a:lstStyle/>
                    <a:p>
                      <a:endParaRPr lang="en-US" dirty="0"/>
                    </a:p>
                  </a:txBody>
                  <a:tcPr/>
                </a:tc>
                <a:tc>
                  <a:txBody>
                    <a:bodyPr/>
                    <a:lstStyle/>
                    <a:p>
                      <a:endParaRPr lang="en-US"/>
                    </a:p>
                  </a:txBody>
                  <a:tcPr/>
                </a:tc>
                <a:tc gridSpan="3">
                  <a:txBody>
                    <a:bodyPr/>
                    <a:lstStyle/>
                    <a:p>
                      <a:endParaRPr lang="en-US" dirty="0"/>
                    </a:p>
                  </a:txBody>
                  <a:tcPr/>
                </a:tc>
                <a:tc hMerge="1">
                  <a:txBody>
                    <a:bodyPr/>
                    <a:lstStyle/>
                    <a:p>
                      <a:endParaRPr lang="en-US"/>
                    </a:p>
                  </a:txBody>
                  <a:tcPr/>
                </a:tc>
                <a:tc hMerge="1">
                  <a:txBody>
                    <a:bodyPr/>
                    <a:lstStyle/>
                    <a:p>
                      <a:endParaRPr lang="en-US"/>
                    </a:p>
                  </a:txBody>
                  <a:tcPr/>
                </a:tc>
                <a:tc gridSpan="3">
                  <a:txBody>
                    <a:bodyPr/>
                    <a:lstStyle/>
                    <a:p>
                      <a:endParaRPr lang="en-US" dirty="0"/>
                    </a:p>
                  </a:txBody>
                  <a:tcPr/>
                </a:tc>
                <a:tc hMerge="1">
                  <a:txBody>
                    <a:bodyPr/>
                    <a:lstStyle/>
                    <a:p>
                      <a:endParaRPr lang="en-US"/>
                    </a:p>
                  </a:txBody>
                  <a:tcPr/>
                </a:tc>
                <a:tc hMerge="1">
                  <a:txBody>
                    <a:bodyPr/>
                    <a:lstStyle/>
                    <a:p>
                      <a:endParaRPr lang="en-US"/>
                    </a:p>
                  </a:txBody>
                  <a:tcPr/>
                </a:tc>
                <a:tc gridSpan="2">
                  <a:txBody>
                    <a:bodyPr/>
                    <a:lstStyle/>
                    <a:p>
                      <a:endParaRPr lang="en-US" dirty="0"/>
                    </a:p>
                  </a:txBody>
                  <a:tcPr/>
                </a:tc>
                <a:tc hMerge="1">
                  <a:txBody>
                    <a:bodyPr/>
                    <a:lstStyle/>
                    <a:p>
                      <a:endParaRPr lang="en-US"/>
                    </a:p>
                  </a:txBody>
                  <a:tcPr/>
                </a:tc>
                <a:extLst>
                  <a:ext uri="{0D108BD9-81ED-4DB2-BD59-A6C34878D82A}">
                    <a16:rowId xmlns:a16="http://schemas.microsoft.com/office/drawing/2014/main" val="1170398609"/>
                  </a:ext>
                </a:extLst>
              </a:tr>
            </a:tbl>
          </a:graphicData>
        </a:graphic>
      </p:graphicFrame>
      <p:pic>
        <p:nvPicPr>
          <p:cNvPr id="5" name="Grafik 4">
            <a:extLst>
              <a:ext uri="{FF2B5EF4-FFF2-40B4-BE49-F238E27FC236}">
                <a16:creationId xmlns:a16="http://schemas.microsoft.com/office/drawing/2014/main" id="{E07A5496-AF8B-7BFC-E7B2-5C5EA26559CD}"/>
              </a:ext>
            </a:extLst>
          </p:cNvPr>
          <p:cNvPicPr>
            <a:picLocks noChangeAspect="1"/>
          </p:cNvPicPr>
          <p:nvPr/>
        </p:nvPicPr>
        <p:blipFill>
          <a:blip r:embed="rId2"/>
          <a:stretch>
            <a:fillRect/>
          </a:stretch>
        </p:blipFill>
        <p:spPr>
          <a:xfrm>
            <a:off x="2266010" y="3403428"/>
            <a:ext cx="912318" cy="1032694"/>
          </a:xfrm>
          <a:prstGeom prst="rect">
            <a:avLst/>
          </a:prstGeom>
        </p:spPr>
      </p:pic>
      <p:pic>
        <p:nvPicPr>
          <p:cNvPr id="6" name="Grafik 5">
            <a:extLst>
              <a:ext uri="{FF2B5EF4-FFF2-40B4-BE49-F238E27FC236}">
                <a16:creationId xmlns:a16="http://schemas.microsoft.com/office/drawing/2014/main" id="{4A70216A-A2B3-DA05-AD3B-38D6AA94471E}"/>
              </a:ext>
            </a:extLst>
          </p:cNvPr>
          <p:cNvPicPr>
            <a:picLocks noChangeAspect="1"/>
          </p:cNvPicPr>
          <p:nvPr/>
        </p:nvPicPr>
        <p:blipFill>
          <a:blip r:embed="rId3"/>
          <a:stretch>
            <a:fillRect/>
          </a:stretch>
        </p:blipFill>
        <p:spPr>
          <a:xfrm>
            <a:off x="2280135" y="4557365"/>
            <a:ext cx="912318" cy="978341"/>
          </a:xfrm>
          <a:prstGeom prst="rect">
            <a:avLst/>
          </a:prstGeom>
        </p:spPr>
      </p:pic>
      <p:pic>
        <p:nvPicPr>
          <p:cNvPr id="7" name="Grafik 6">
            <a:extLst>
              <a:ext uri="{FF2B5EF4-FFF2-40B4-BE49-F238E27FC236}">
                <a16:creationId xmlns:a16="http://schemas.microsoft.com/office/drawing/2014/main" id="{A20D7D02-A6BF-9667-4E98-8F152F1CE21E}"/>
              </a:ext>
            </a:extLst>
          </p:cNvPr>
          <p:cNvPicPr>
            <a:picLocks noChangeAspect="1"/>
          </p:cNvPicPr>
          <p:nvPr/>
        </p:nvPicPr>
        <p:blipFill>
          <a:blip r:embed="rId4"/>
          <a:stretch>
            <a:fillRect/>
          </a:stretch>
        </p:blipFill>
        <p:spPr>
          <a:xfrm>
            <a:off x="3336190" y="3371041"/>
            <a:ext cx="912318" cy="1032694"/>
          </a:xfrm>
          <a:prstGeom prst="rect">
            <a:avLst/>
          </a:prstGeom>
        </p:spPr>
      </p:pic>
      <p:pic>
        <p:nvPicPr>
          <p:cNvPr id="8" name="Grafik 7">
            <a:extLst>
              <a:ext uri="{FF2B5EF4-FFF2-40B4-BE49-F238E27FC236}">
                <a16:creationId xmlns:a16="http://schemas.microsoft.com/office/drawing/2014/main" id="{4A4C01BC-D679-DA2D-B7E0-C2BC4DB30467}"/>
              </a:ext>
            </a:extLst>
          </p:cNvPr>
          <p:cNvPicPr>
            <a:picLocks noChangeAspect="1"/>
          </p:cNvPicPr>
          <p:nvPr/>
        </p:nvPicPr>
        <p:blipFill>
          <a:blip r:embed="rId5"/>
          <a:stretch>
            <a:fillRect/>
          </a:stretch>
        </p:blipFill>
        <p:spPr>
          <a:xfrm>
            <a:off x="3334901" y="4545247"/>
            <a:ext cx="912318" cy="978341"/>
          </a:xfrm>
          <a:prstGeom prst="rect">
            <a:avLst/>
          </a:prstGeom>
        </p:spPr>
      </p:pic>
      <p:pic>
        <p:nvPicPr>
          <p:cNvPr id="9" name="Grafik 8">
            <a:extLst>
              <a:ext uri="{FF2B5EF4-FFF2-40B4-BE49-F238E27FC236}">
                <a16:creationId xmlns:a16="http://schemas.microsoft.com/office/drawing/2014/main" id="{42843E61-67E5-6E84-F4AA-F07FBC9B370B}"/>
              </a:ext>
            </a:extLst>
          </p:cNvPr>
          <p:cNvPicPr>
            <a:picLocks noChangeAspect="1"/>
          </p:cNvPicPr>
          <p:nvPr/>
        </p:nvPicPr>
        <p:blipFill>
          <a:blip r:embed="rId6"/>
          <a:stretch>
            <a:fillRect/>
          </a:stretch>
        </p:blipFill>
        <p:spPr>
          <a:xfrm>
            <a:off x="2262014" y="2274920"/>
            <a:ext cx="938555" cy="923890"/>
          </a:xfrm>
          <a:prstGeom prst="rect">
            <a:avLst/>
          </a:prstGeom>
        </p:spPr>
      </p:pic>
      <p:pic>
        <p:nvPicPr>
          <p:cNvPr id="10" name="Grafik 9">
            <a:extLst>
              <a:ext uri="{FF2B5EF4-FFF2-40B4-BE49-F238E27FC236}">
                <a16:creationId xmlns:a16="http://schemas.microsoft.com/office/drawing/2014/main" id="{F38CA0AE-7E71-C60A-F7B0-20A2F9BD6D24}"/>
              </a:ext>
            </a:extLst>
          </p:cNvPr>
          <p:cNvPicPr>
            <a:picLocks noChangeAspect="1"/>
          </p:cNvPicPr>
          <p:nvPr/>
        </p:nvPicPr>
        <p:blipFill>
          <a:blip r:embed="rId7"/>
          <a:stretch>
            <a:fillRect/>
          </a:stretch>
        </p:blipFill>
        <p:spPr>
          <a:xfrm>
            <a:off x="3336190" y="2262802"/>
            <a:ext cx="982071" cy="966727"/>
          </a:xfrm>
          <a:prstGeom prst="rect">
            <a:avLst/>
          </a:prstGeom>
        </p:spPr>
      </p:pic>
      <p:pic>
        <p:nvPicPr>
          <p:cNvPr id="11" name="Grafik 10">
            <a:extLst>
              <a:ext uri="{FF2B5EF4-FFF2-40B4-BE49-F238E27FC236}">
                <a16:creationId xmlns:a16="http://schemas.microsoft.com/office/drawing/2014/main" id="{2B6426FD-AA55-52DD-8A86-B3165632C66F}"/>
              </a:ext>
            </a:extLst>
          </p:cNvPr>
          <p:cNvPicPr>
            <a:picLocks noChangeAspect="1"/>
          </p:cNvPicPr>
          <p:nvPr/>
        </p:nvPicPr>
        <p:blipFill>
          <a:blip r:embed="rId6"/>
          <a:stretch>
            <a:fillRect/>
          </a:stretch>
        </p:blipFill>
        <p:spPr>
          <a:xfrm>
            <a:off x="4430354" y="2274920"/>
            <a:ext cx="938555" cy="923890"/>
          </a:xfrm>
          <a:prstGeom prst="rect">
            <a:avLst/>
          </a:prstGeom>
        </p:spPr>
      </p:pic>
      <p:pic>
        <p:nvPicPr>
          <p:cNvPr id="12" name="Grafik 11">
            <a:extLst>
              <a:ext uri="{FF2B5EF4-FFF2-40B4-BE49-F238E27FC236}">
                <a16:creationId xmlns:a16="http://schemas.microsoft.com/office/drawing/2014/main" id="{19A4D8E2-37EF-B74C-AB7C-EC041DB01CD2}"/>
              </a:ext>
            </a:extLst>
          </p:cNvPr>
          <p:cNvPicPr>
            <a:picLocks noChangeAspect="1"/>
          </p:cNvPicPr>
          <p:nvPr/>
        </p:nvPicPr>
        <p:blipFill>
          <a:blip r:embed="rId7"/>
          <a:stretch>
            <a:fillRect/>
          </a:stretch>
        </p:blipFill>
        <p:spPr>
          <a:xfrm>
            <a:off x="6178445" y="3436411"/>
            <a:ext cx="982071" cy="966727"/>
          </a:xfrm>
          <a:prstGeom prst="rect">
            <a:avLst/>
          </a:prstGeom>
        </p:spPr>
      </p:pic>
      <p:pic>
        <p:nvPicPr>
          <p:cNvPr id="13" name="Grafik 12">
            <a:extLst>
              <a:ext uri="{FF2B5EF4-FFF2-40B4-BE49-F238E27FC236}">
                <a16:creationId xmlns:a16="http://schemas.microsoft.com/office/drawing/2014/main" id="{144E15AE-ABC6-7899-BAB2-7882E1E0FABE}"/>
              </a:ext>
            </a:extLst>
          </p:cNvPr>
          <p:cNvPicPr>
            <a:picLocks noChangeAspect="1"/>
          </p:cNvPicPr>
          <p:nvPr/>
        </p:nvPicPr>
        <p:blipFill>
          <a:blip r:embed="rId6"/>
          <a:stretch>
            <a:fillRect/>
          </a:stretch>
        </p:blipFill>
        <p:spPr>
          <a:xfrm>
            <a:off x="4430355" y="3457830"/>
            <a:ext cx="938555" cy="923890"/>
          </a:xfrm>
          <a:prstGeom prst="rect">
            <a:avLst/>
          </a:prstGeom>
        </p:spPr>
      </p:pic>
      <p:pic>
        <p:nvPicPr>
          <p:cNvPr id="14" name="Grafik 13">
            <a:extLst>
              <a:ext uri="{FF2B5EF4-FFF2-40B4-BE49-F238E27FC236}">
                <a16:creationId xmlns:a16="http://schemas.microsoft.com/office/drawing/2014/main" id="{0997B20F-87AA-0281-4624-0371771210EE}"/>
              </a:ext>
            </a:extLst>
          </p:cNvPr>
          <p:cNvPicPr>
            <a:picLocks noChangeAspect="1"/>
          </p:cNvPicPr>
          <p:nvPr/>
        </p:nvPicPr>
        <p:blipFill>
          <a:blip r:embed="rId7"/>
          <a:stretch>
            <a:fillRect/>
          </a:stretch>
        </p:blipFill>
        <p:spPr>
          <a:xfrm>
            <a:off x="6207873" y="4570582"/>
            <a:ext cx="982071" cy="966727"/>
          </a:xfrm>
          <a:prstGeom prst="rect">
            <a:avLst/>
          </a:prstGeom>
        </p:spPr>
      </p:pic>
      <p:pic>
        <p:nvPicPr>
          <p:cNvPr id="15" name="Grafik 14">
            <a:extLst>
              <a:ext uri="{FF2B5EF4-FFF2-40B4-BE49-F238E27FC236}">
                <a16:creationId xmlns:a16="http://schemas.microsoft.com/office/drawing/2014/main" id="{415C4D23-23A2-4694-C03F-95B0E560AA53}"/>
              </a:ext>
            </a:extLst>
          </p:cNvPr>
          <p:cNvPicPr>
            <a:picLocks noChangeAspect="1"/>
          </p:cNvPicPr>
          <p:nvPr/>
        </p:nvPicPr>
        <p:blipFill>
          <a:blip r:embed="rId6"/>
          <a:stretch>
            <a:fillRect/>
          </a:stretch>
        </p:blipFill>
        <p:spPr>
          <a:xfrm>
            <a:off x="4445442" y="4557365"/>
            <a:ext cx="938555" cy="923890"/>
          </a:xfrm>
          <a:prstGeom prst="rect">
            <a:avLst/>
          </a:prstGeom>
        </p:spPr>
      </p:pic>
      <p:sp>
        <p:nvSpPr>
          <p:cNvPr id="16" name="Textfeld 15">
            <a:extLst>
              <a:ext uri="{FF2B5EF4-FFF2-40B4-BE49-F238E27FC236}">
                <a16:creationId xmlns:a16="http://schemas.microsoft.com/office/drawing/2014/main" id="{20E6326D-D8A5-1729-0878-CBDA3A302E69}"/>
              </a:ext>
            </a:extLst>
          </p:cNvPr>
          <p:cNvSpPr txBox="1"/>
          <p:nvPr/>
        </p:nvSpPr>
        <p:spPr>
          <a:xfrm>
            <a:off x="5574485" y="2305818"/>
            <a:ext cx="1347805" cy="1015663"/>
          </a:xfrm>
          <a:prstGeom prst="rect">
            <a:avLst/>
          </a:prstGeom>
          <a:noFill/>
        </p:spPr>
        <p:txBody>
          <a:bodyPr wrap="square" rtlCol="0">
            <a:spAutoFit/>
          </a:bodyPr>
          <a:lstStyle/>
          <a:p>
            <a:r>
              <a:rPr lang="pt-BR" sz="1200" dirty="0"/>
              <a:t>Enhanced stereo:</a:t>
            </a:r>
          </a:p>
          <a:p>
            <a:r>
              <a:rPr lang="pt-BR" sz="1200" dirty="0"/>
              <a:t>InChI=1B/C2H4ClNO2/c3-1(4)2(5)6 /h1H,4H2,(H,5,6) /t1-/m1/s1</a:t>
            </a:r>
            <a:endParaRPr lang="en-US" sz="1200" dirty="0"/>
          </a:p>
        </p:txBody>
      </p:sp>
      <p:pic>
        <p:nvPicPr>
          <p:cNvPr id="17" name="Grafik 16">
            <a:extLst>
              <a:ext uri="{FF2B5EF4-FFF2-40B4-BE49-F238E27FC236}">
                <a16:creationId xmlns:a16="http://schemas.microsoft.com/office/drawing/2014/main" id="{343C3B87-25A3-7FE8-A710-92D76207DF40}"/>
              </a:ext>
            </a:extLst>
          </p:cNvPr>
          <p:cNvPicPr>
            <a:picLocks noChangeAspect="1"/>
          </p:cNvPicPr>
          <p:nvPr/>
        </p:nvPicPr>
        <p:blipFill>
          <a:blip r:embed="rId7"/>
          <a:stretch>
            <a:fillRect/>
          </a:stretch>
        </p:blipFill>
        <p:spPr>
          <a:xfrm>
            <a:off x="8242391" y="2294414"/>
            <a:ext cx="982071" cy="966727"/>
          </a:xfrm>
          <a:prstGeom prst="rect">
            <a:avLst/>
          </a:prstGeom>
        </p:spPr>
      </p:pic>
      <p:sp>
        <p:nvSpPr>
          <p:cNvPr id="18" name="Textfeld 17">
            <a:extLst>
              <a:ext uri="{FF2B5EF4-FFF2-40B4-BE49-F238E27FC236}">
                <a16:creationId xmlns:a16="http://schemas.microsoft.com/office/drawing/2014/main" id="{21B50A52-58CB-F5AC-5F6E-3A75A5945FBC}"/>
              </a:ext>
            </a:extLst>
          </p:cNvPr>
          <p:cNvSpPr txBox="1"/>
          <p:nvPr/>
        </p:nvSpPr>
        <p:spPr>
          <a:xfrm>
            <a:off x="5641278" y="3721185"/>
            <a:ext cx="386644" cy="369332"/>
          </a:xfrm>
          <a:prstGeom prst="rect">
            <a:avLst/>
          </a:prstGeom>
          <a:noFill/>
        </p:spPr>
        <p:txBody>
          <a:bodyPr wrap="square" rtlCol="0">
            <a:spAutoFit/>
          </a:bodyPr>
          <a:lstStyle/>
          <a:p>
            <a:r>
              <a:rPr lang="en-US" dirty="0"/>
              <a:t>or</a:t>
            </a:r>
          </a:p>
        </p:txBody>
      </p:sp>
      <p:sp>
        <p:nvSpPr>
          <p:cNvPr id="19" name="Textfeld 18">
            <a:extLst>
              <a:ext uri="{FF2B5EF4-FFF2-40B4-BE49-F238E27FC236}">
                <a16:creationId xmlns:a16="http://schemas.microsoft.com/office/drawing/2014/main" id="{B375C8D2-A1F4-BD8E-1E1C-5E6548DA88B8}"/>
              </a:ext>
            </a:extLst>
          </p:cNvPr>
          <p:cNvSpPr txBox="1"/>
          <p:nvPr/>
        </p:nvSpPr>
        <p:spPr>
          <a:xfrm>
            <a:off x="5604154" y="4766634"/>
            <a:ext cx="538930" cy="369332"/>
          </a:xfrm>
          <a:prstGeom prst="rect">
            <a:avLst/>
          </a:prstGeom>
          <a:noFill/>
        </p:spPr>
        <p:txBody>
          <a:bodyPr wrap="none" rtlCol="0">
            <a:spAutoFit/>
          </a:bodyPr>
          <a:lstStyle/>
          <a:p>
            <a:r>
              <a:rPr lang="en-US" dirty="0"/>
              <a:t>and</a:t>
            </a:r>
          </a:p>
        </p:txBody>
      </p:sp>
      <p:sp>
        <p:nvSpPr>
          <p:cNvPr id="20" name="Textfeld 19">
            <a:extLst>
              <a:ext uri="{FF2B5EF4-FFF2-40B4-BE49-F238E27FC236}">
                <a16:creationId xmlns:a16="http://schemas.microsoft.com/office/drawing/2014/main" id="{FCD2689F-AED5-AB87-0D84-45143C35BA1D}"/>
              </a:ext>
            </a:extLst>
          </p:cNvPr>
          <p:cNvSpPr txBox="1"/>
          <p:nvPr/>
        </p:nvSpPr>
        <p:spPr>
          <a:xfrm>
            <a:off x="9374778" y="2245478"/>
            <a:ext cx="1356238" cy="1015663"/>
          </a:xfrm>
          <a:prstGeom prst="rect">
            <a:avLst/>
          </a:prstGeom>
          <a:noFill/>
        </p:spPr>
        <p:txBody>
          <a:bodyPr wrap="square" rtlCol="0">
            <a:spAutoFit/>
          </a:bodyPr>
          <a:lstStyle/>
          <a:p>
            <a:r>
              <a:rPr lang="pt-BR" sz="1200" dirty="0"/>
              <a:t>Enhanced stereo:</a:t>
            </a:r>
          </a:p>
          <a:p>
            <a:r>
              <a:rPr lang="pt-BR" sz="1200" dirty="0"/>
              <a:t>InChI=1B/C2H4ClNO2/c3-1(4)2(5)6 /h1H,4H2,(H,5,6) /t1-/m0/s1</a:t>
            </a:r>
            <a:endParaRPr lang="en-US" sz="1200" dirty="0"/>
          </a:p>
        </p:txBody>
      </p:sp>
      <p:sp>
        <p:nvSpPr>
          <p:cNvPr id="21" name="Textfeld 20">
            <a:extLst>
              <a:ext uri="{FF2B5EF4-FFF2-40B4-BE49-F238E27FC236}">
                <a16:creationId xmlns:a16="http://schemas.microsoft.com/office/drawing/2014/main" id="{0FA5FAB5-5174-C118-C3B7-E02020EE65F7}"/>
              </a:ext>
            </a:extLst>
          </p:cNvPr>
          <p:cNvSpPr txBox="1"/>
          <p:nvPr/>
        </p:nvSpPr>
        <p:spPr>
          <a:xfrm>
            <a:off x="7504897" y="3427613"/>
            <a:ext cx="1747167" cy="954107"/>
          </a:xfrm>
          <a:prstGeom prst="rect">
            <a:avLst/>
          </a:prstGeom>
          <a:noFill/>
        </p:spPr>
        <p:txBody>
          <a:bodyPr wrap="square" rtlCol="0">
            <a:spAutoFit/>
          </a:bodyPr>
          <a:lstStyle/>
          <a:p>
            <a:r>
              <a:rPr lang="pt-BR" sz="1400" dirty="0"/>
              <a:t>Enhanced stereo:</a:t>
            </a:r>
          </a:p>
          <a:p>
            <a:r>
              <a:rPr lang="pt-BR" sz="1400" dirty="0"/>
              <a:t>InChI=1B/C2H4ClNO2 /c3-1(4)2(5)6/h1H, 4H2,(H,5,6)/t1-/s2</a:t>
            </a:r>
            <a:endParaRPr lang="en-US" sz="1400" dirty="0"/>
          </a:p>
        </p:txBody>
      </p:sp>
      <p:sp>
        <p:nvSpPr>
          <p:cNvPr id="22" name="Textfeld 21">
            <a:extLst>
              <a:ext uri="{FF2B5EF4-FFF2-40B4-BE49-F238E27FC236}">
                <a16:creationId xmlns:a16="http://schemas.microsoft.com/office/drawing/2014/main" id="{86D8C701-22B0-FFF4-94F5-AB2D712EC6FB}"/>
              </a:ext>
            </a:extLst>
          </p:cNvPr>
          <p:cNvSpPr txBox="1"/>
          <p:nvPr/>
        </p:nvSpPr>
        <p:spPr>
          <a:xfrm>
            <a:off x="7533127" y="4557365"/>
            <a:ext cx="1763569" cy="954107"/>
          </a:xfrm>
          <a:prstGeom prst="rect">
            <a:avLst/>
          </a:prstGeom>
          <a:noFill/>
        </p:spPr>
        <p:txBody>
          <a:bodyPr wrap="square" rtlCol="0">
            <a:spAutoFit/>
          </a:bodyPr>
          <a:lstStyle/>
          <a:p>
            <a:r>
              <a:rPr lang="pt-BR" sz="1400" dirty="0"/>
              <a:t>Enhanced stereo:</a:t>
            </a:r>
          </a:p>
          <a:p>
            <a:r>
              <a:rPr lang="pt-BR" sz="1400" dirty="0"/>
              <a:t>InChI=1B/C2H4ClNO2 /c3-1(4)2(5)6/h1H, 4H2,(H,5,6)/t1-/s3</a:t>
            </a:r>
            <a:endParaRPr lang="en-US" sz="1400" dirty="0"/>
          </a:p>
        </p:txBody>
      </p:sp>
      <p:sp>
        <p:nvSpPr>
          <p:cNvPr id="26" name="Textfeld 25">
            <a:extLst>
              <a:ext uri="{FF2B5EF4-FFF2-40B4-BE49-F238E27FC236}">
                <a16:creationId xmlns:a16="http://schemas.microsoft.com/office/drawing/2014/main" id="{02A8FD7F-06B8-6EB5-7AEF-EDFDC51C3199}"/>
              </a:ext>
            </a:extLst>
          </p:cNvPr>
          <p:cNvSpPr txBox="1"/>
          <p:nvPr/>
        </p:nvSpPr>
        <p:spPr>
          <a:xfrm>
            <a:off x="9773637" y="3448318"/>
            <a:ext cx="1661516" cy="954107"/>
          </a:xfrm>
          <a:prstGeom prst="rect">
            <a:avLst/>
          </a:prstGeom>
          <a:noFill/>
        </p:spPr>
        <p:txBody>
          <a:bodyPr wrap="square" rtlCol="0">
            <a:spAutoFit/>
          </a:bodyPr>
          <a:lstStyle/>
          <a:p>
            <a:r>
              <a:rPr lang="pt-BR" sz="1400" dirty="0"/>
              <a:t>/SRel:</a:t>
            </a:r>
          </a:p>
          <a:p>
            <a:r>
              <a:rPr lang="pt-BR" sz="1400" dirty="0"/>
              <a:t>InChI=1/C2H4ClNO2/c3-1(4)2(5)6/h1H, 4H2,(H,5,6)</a:t>
            </a:r>
            <a:r>
              <a:rPr lang="pt-BR" sz="1400" b="1" dirty="0"/>
              <a:t>/t1-/s2</a:t>
            </a:r>
            <a:endParaRPr lang="en-US" sz="1400" b="1" dirty="0"/>
          </a:p>
        </p:txBody>
      </p:sp>
      <p:sp>
        <p:nvSpPr>
          <p:cNvPr id="27" name="Textfeld 26">
            <a:extLst>
              <a:ext uri="{FF2B5EF4-FFF2-40B4-BE49-F238E27FC236}">
                <a16:creationId xmlns:a16="http://schemas.microsoft.com/office/drawing/2014/main" id="{2064C13A-E9ED-1AC2-94C5-E0DD28298474}"/>
              </a:ext>
            </a:extLst>
          </p:cNvPr>
          <p:cNvSpPr txBox="1"/>
          <p:nvPr/>
        </p:nvSpPr>
        <p:spPr>
          <a:xfrm>
            <a:off x="9802953" y="4527148"/>
            <a:ext cx="1661516" cy="954107"/>
          </a:xfrm>
          <a:prstGeom prst="rect">
            <a:avLst/>
          </a:prstGeom>
          <a:noFill/>
        </p:spPr>
        <p:txBody>
          <a:bodyPr wrap="square" rtlCol="0">
            <a:spAutoFit/>
          </a:bodyPr>
          <a:lstStyle/>
          <a:p>
            <a:r>
              <a:rPr lang="pt-BR" sz="1400" dirty="0"/>
              <a:t>/SRac:</a:t>
            </a:r>
          </a:p>
          <a:p>
            <a:r>
              <a:rPr lang="pt-BR" sz="1400" dirty="0"/>
              <a:t>InChI=1/C2H4ClNO2/c3-1(4)2(5)6/h1H, 4H2,(H,5,6)</a:t>
            </a:r>
            <a:r>
              <a:rPr lang="pt-BR" sz="1400" b="1" dirty="0"/>
              <a:t>/t1-/s3</a:t>
            </a:r>
            <a:endParaRPr lang="en-US" sz="1400" b="1" dirty="0"/>
          </a:p>
        </p:txBody>
      </p:sp>
      <p:sp>
        <p:nvSpPr>
          <p:cNvPr id="28" name="Textfeld 27">
            <a:extLst>
              <a:ext uri="{FF2B5EF4-FFF2-40B4-BE49-F238E27FC236}">
                <a16:creationId xmlns:a16="http://schemas.microsoft.com/office/drawing/2014/main" id="{7CA9D42E-7C31-C45F-B092-345421A2084F}"/>
              </a:ext>
            </a:extLst>
          </p:cNvPr>
          <p:cNvSpPr txBox="1"/>
          <p:nvPr/>
        </p:nvSpPr>
        <p:spPr>
          <a:xfrm>
            <a:off x="6859224" y="2303515"/>
            <a:ext cx="1347806" cy="1015663"/>
          </a:xfrm>
          <a:prstGeom prst="rect">
            <a:avLst/>
          </a:prstGeom>
          <a:noFill/>
        </p:spPr>
        <p:txBody>
          <a:bodyPr wrap="square" rtlCol="0">
            <a:spAutoFit/>
          </a:bodyPr>
          <a:lstStyle/>
          <a:p>
            <a:r>
              <a:rPr lang="pt-BR" sz="1200" dirty="0"/>
              <a:t>Standard / SAbs:</a:t>
            </a:r>
          </a:p>
          <a:p>
            <a:r>
              <a:rPr lang="pt-BR" sz="1200" dirty="0"/>
              <a:t>InChI=1S/C2H4ClNO2/c3-1(4)2(5)6 /h1H,4H2,(H,5,6) /t1-/m1/s1</a:t>
            </a:r>
            <a:endParaRPr lang="en-US" sz="1200" dirty="0"/>
          </a:p>
        </p:txBody>
      </p:sp>
      <p:sp>
        <p:nvSpPr>
          <p:cNvPr id="29" name="Textfeld 28">
            <a:extLst>
              <a:ext uri="{FF2B5EF4-FFF2-40B4-BE49-F238E27FC236}">
                <a16:creationId xmlns:a16="http://schemas.microsoft.com/office/drawing/2014/main" id="{F289C09F-AC93-B815-37AD-FA7D012565D4}"/>
              </a:ext>
            </a:extLst>
          </p:cNvPr>
          <p:cNvSpPr txBox="1"/>
          <p:nvPr/>
        </p:nvSpPr>
        <p:spPr>
          <a:xfrm>
            <a:off x="10623010" y="2245477"/>
            <a:ext cx="1356238" cy="1015663"/>
          </a:xfrm>
          <a:prstGeom prst="rect">
            <a:avLst/>
          </a:prstGeom>
          <a:noFill/>
        </p:spPr>
        <p:txBody>
          <a:bodyPr wrap="square" rtlCol="0">
            <a:spAutoFit/>
          </a:bodyPr>
          <a:lstStyle/>
          <a:p>
            <a:r>
              <a:rPr lang="pt-BR" sz="1200" dirty="0"/>
              <a:t>Standard / SAbs:</a:t>
            </a:r>
          </a:p>
          <a:p>
            <a:r>
              <a:rPr lang="pt-BR" sz="1200" dirty="0"/>
              <a:t>InChI=1S/C2H4ClNO2/c3-1(4)2(5)6 /h1H,4H2,(H,5,6)/t1-/m0/s1</a:t>
            </a:r>
            <a:endParaRPr lang="en-US" sz="1200" dirty="0"/>
          </a:p>
        </p:txBody>
      </p:sp>
    </p:spTree>
    <p:extLst>
      <p:ext uri="{BB962C8B-B14F-4D97-AF65-F5344CB8AC3E}">
        <p14:creationId xmlns:p14="http://schemas.microsoft.com/office/powerpoint/2010/main" val="13969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BF596C-F50B-47BE-7E89-99D752014CEC}"/>
              </a:ext>
            </a:extLst>
          </p:cNvPr>
          <p:cNvSpPr>
            <a:spLocks noGrp="1"/>
          </p:cNvSpPr>
          <p:nvPr>
            <p:ph type="title"/>
          </p:nvPr>
        </p:nvSpPr>
        <p:spPr>
          <a:xfrm>
            <a:off x="838200" y="365125"/>
            <a:ext cx="7785043" cy="1325563"/>
          </a:xfrm>
        </p:spPr>
        <p:txBody>
          <a:bodyPr/>
          <a:lstStyle/>
          <a:p>
            <a:r>
              <a:rPr lang="en-US" dirty="0"/>
              <a:t>MDL enhanced stereochemistry – Edge cases</a:t>
            </a:r>
          </a:p>
        </p:txBody>
      </p:sp>
      <p:graphicFrame>
        <p:nvGraphicFramePr>
          <p:cNvPr id="16" name="Inhaltsplatzhalter 15">
            <a:extLst>
              <a:ext uri="{FF2B5EF4-FFF2-40B4-BE49-F238E27FC236}">
                <a16:creationId xmlns:a16="http://schemas.microsoft.com/office/drawing/2014/main" id="{71E98FA2-D47A-F6AC-813B-043FB1CDB4FB}"/>
              </a:ext>
            </a:extLst>
          </p:cNvPr>
          <p:cNvGraphicFramePr>
            <a:graphicFrameLocks noGrp="1"/>
          </p:cNvGraphicFramePr>
          <p:nvPr>
            <p:ph idx="1"/>
            <p:extLst>
              <p:ext uri="{D42A27DB-BD31-4B8C-83A1-F6EECF244321}">
                <p14:modId xmlns:p14="http://schemas.microsoft.com/office/powerpoint/2010/main" val="2073355268"/>
              </p:ext>
            </p:extLst>
          </p:nvPr>
        </p:nvGraphicFramePr>
        <p:xfrm>
          <a:off x="838200" y="1690688"/>
          <a:ext cx="10515600" cy="5054549"/>
        </p:xfrm>
        <a:graphic>
          <a:graphicData uri="http://schemas.openxmlformats.org/drawingml/2006/table">
            <a:tbl>
              <a:tblPr firstRow="1" bandRow="1">
                <a:tableStyleId>{5C22544A-7EE6-4342-B048-85BDC9FD1C3A}</a:tableStyleId>
              </a:tblPr>
              <a:tblGrid>
                <a:gridCol w="2425757">
                  <a:extLst>
                    <a:ext uri="{9D8B030D-6E8A-4147-A177-3AD203B41FA5}">
                      <a16:colId xmlns:a16="http://schemas.microsoft.com/office/drawing/2014/main" val="1921622555"/>
                    </a:ext>
                  </a:extLst>
                </a:gridCol>
                <a:gridCol w="8089843">
                  <a:extLst>
                    <a:ext uri="{9D8B030D-6E8A-4147-A177-3AD203B41FA5}">
                      <a16:colId xmlns:a16="http://schemas.microsoft.com/office/drawing/2014/main" val="1502193077"/>
                    </a:ext>
                  </a:extLst>
                </a:gridCol>
              </a:tblGrid>
              <a:tr h="439133">
                <a:tc>
                  <a:txBody>
                    <a:bodyPr/>
                    <a:lstStyle/>
                    <a:p>
                      <a:r>
                        <a:rPr lang="en-US" dirty="0"/>
                        <a:t>Drawing</a:t>
                      </a:r>
                    </a:p>
                  </a:txBody>
                  <a:tcPr/>
                </a:tc>
                <a:tc>
                  <a:txBody>
                    <a:bodyPr/>
                    <a:lstStyle/>
                    <a:p>
                      <a:r>
                        <a:rPr lang="en-US" dirty="0"/>
                        <a:t>InChI with enhanced stereochemistry</a:t>
                      </a:r>
                    </a:p>
                  </a:txBody>
                  <a:tcPr/>
                </a:tc>
                <a:extLst>
                  <a:ext uri="{0D108BD9-81ED-4DB2-BD59-A6C34878D82A}">
                    <a16:rowId xmlns:a16="http://schemas.microsoft.com/office/drawing/2014/main" val="2206725673"/>
                  </a:ext>
                </a:extLst>
              </a:tr>
              <a:tr h="769236">
                <a:tc>
                  <a:txBody>
                    <a:bodyPr/>
                    <a:lstStyle/>
                    <a:p>
                      <a:endParaRPr lang="en-US"/>
                    </a:p>
                  </a:txBody>
                  <a:tcPr/>
                </a:tc>
                <a:tc>
                  <a:txBody>
                    <a:bodyPr/>
                    <a:lstStyle/>
                    <a:p>
                      <a:r>
                        <a:rPr lang="pt-BR" dirty="0"/>
                        <a:t>InChI=1B/C10H20BrClINO2/c1-4(6(3)15)9(14)10(16)8(13)7(11)5(2)12/h4-10,15-16H,14H2,1-3H3/t4-,5+,6+,7-,8-,9-,10+/m1/s1</a:t>
                      </a:r>
                      <a:endParaRPr lang="en-US" dirty="0"/>
                    </a:p>
                  </a:txBody>
                  <a:tcPr/>
                </a:tc>
                <a:extLst>
                  <a:ext uri="{0D108BD9-81ED-4DB2-BD59-A6C34878D82A}">
                    <a16:rowId xmlns:a16="http://schemas.microsoft.com/office/drawing/2014/main" val="1685020099"/>
                  </a:ext>
                </a:extLst>
              </a:tr>
              <a:tr h="769236">
                <a:tc>
                  <a:txBody>
                    <a:bodyPr/>
                    <a:lstStyle/>
                    <a:p>
                      <a:endParaRPr lang="en-US"/>
                    </a:p>
                  </a:txBody>
                  <a:tcPr/>
                </a:tc>
                <a:tc>
                  <a:txBody>
                    <a:bodyPr/>
                    <a:lstStyle/>
                    <a:p>
                      <a:r>
                        <a:rPr lang="pt-BR" dirty="0"/>
                        <a:t>InChI=1B/C10H20BrClINO2/c1-4(6(3)15)9(14)10(16)8(13)7(11)5(2)12/h4-10,15-16H,14H2,1-3H3/t4-,5-,6-,7+,8-,9-,10+/m0/s1(5,7)2(8,10)(9)3(4)(6)</a:t>
                      </a:r>
                      <a:endParaRPr lang="en-US" dirty="0"/>
                    </a:p>
                  </a:txBody>
                  <a:tcPr/>
                </a:tc>
                <a:extLst>
                  <a:ext uri="{0D108BD9-81ED-4DB2-BD59-A6C34878D82A}">
                    <a16:rowId xmlns:a16="http://schemas.microsoft.com/office/drawing/2014/main" val="2577219002"/>
                  </a:ext>
                </a:extLst>
              </a:tr>
              <a:tr h="769236">
                <a:tc>
                  <a:txBody>
                    <a:bodyPr/>
                    <a:lstStyle/>
                    <a:p>
                      <a:endParaRPr lang="en-US"/>
                    </a:p>
                  </a:txBody>
                  <a:tcPr/>
                </a:tc>
                <a:tc>
                  <a:txBody>
                    <a:bodyPr/>
                    <a:lstStyle/>
                    <a:p>
                      <a:r>
                        <a:rPr lang="pt-BR" dirty="0"/>
                        <a:t>InChI=1B/C10H20BrClINO2/c1-4(6(3)15)9(14)10(16)8(13)7(11)5(2)12/h4-10,15-16H,14H2,1-3H3/t4-,5+,6+,7-,8-,9-,10+/s2</a:t>
                      </a:r>
                      <a:endParaRPr lang="en-US" dirty="0"/>
                    </a:p>
                  </a:txBody>
                  <a:tcPr/>
                </a:tc>
                <a:extLst>
                  <a:ext uri="{0D108BD9-81ED-4DB2-BD59-A6C34878D82A}">
                    <a16:rowId xmlns:a16="http://schemas.microsoft.com/office/drawing/2014/main" val="630215284"/>
                  </a:ext>
                </a:extLst>
              </a:tr>
              <a:tr h="769236">
                <a:tc>
                  <a:txBody>
                    <a:bodyPr/>
                    <a:lstStyle/>
                    <a:p>
                      <a:endParaRPr lang="en-US"/>
                    </a:p>
                  </a:txBody>
                  <a:tcPr/>
                </a:tc>
                <a:tc>
                  <a:txBody>
                    <a:bodyPr/>
                    <a:lstStyle/>
                    <a:p>
                      <a:r>
                        <a:rPr lang="pt-BR" dirty="0"/>
                        <a:t>InChI=1B/C10H20BrClINO2/c1-4(6(3)15)9(14)10(16)8(13)7(11)5(2)12/h4-10,15-16H,14H2,1-3H3/t4-,5-,6-,7+,8+,9-,10-/s2(4)(5,7, 8,10)(6)(9)</a:t>
                      </a:r>
                      <a:endParaRPr lang="en-US" dirty="0"/>
                    </a:p>
                  </a:txBody>
                  <a:tcPr/>
                </a:tc>
                <a:extLst>
                  <a:ext uri="{0D108BD9-81ED-4DB2-BD59-A6C34878D82A}">
                    <a16:rowId xmlns:a16="http://schemas.microsoft.com/office/drawing/2014/main" val="3738892245"/>
                  </a:ext>
                </a:extLst>
              </a:tr>
              <a:tr h="769236">
                <a:tc>
                  <a:txBody>
                    <a:bodyPr/>
                    <a:lstStyle/>
                    <a:p>
                      <a:endParaRPr lang="en-US" dirty="0"/>
                    </a:p>
                  </a:txBody>
                  <a:tcPr/>
                </a:tc>
                <a:tc>
                  <a:txBody>
                    <a:bodyPr/>
                    <a:lstStyle/>
                    <a:p>
                      <a:r>
                        <a:rPr lang="pt-BR" dirty="0"/>
                        <a:t>InChI=1B/C10H20BrClINO2/c1-4(6(3)15)9(14)10(16)8(13)7(11)5(2)12/h4-10,15-16H,14H2,1-3H3/t4-,5+,6+,7-,8-,9-,10+/s3</a:t>
                      </a:r>
                      <a:endParaRPr lang="en-US" dirty="0"/>
                    </a:p>
                  </a:txBody>
                  <a:tcPr/>
                </a:tc>
                <a:extLst>
                  <a:ext uri="{0D108BD9-81ED-4DB2-BD59-A6C34878D82A}">
                    <a16:rowId xmlns:a16="http://schemas.microsoft.com/office/drawing/2014/main" val="594786282"/>
                  </a:ext>
                </a:extLst>
              </a:tr>
              <a:tr h="769236">
                <a:tc>
                  <a:txBody>
                    <a:bodyPr/>
                    <a:lstStyle/>
                    <a:p>
                      <a:endParaRPr lang="en-US"/>
                    </a:p>
                  </a:txBody>
                  <a:tcPr/>
                </a:tc>
                <a:tc>
                  <a:txBody>
                    <a:bodyPr/>
                    <a:lstStyle/>
                    <a:p>
                      <a:r>
                        <a:rPr lang="pt-BR" dirty="0"/>
                        <a:t>InChI=1B/C10H20BrClINO2/c1-4(6(3)15)9(14)10(16)8(13)7(11)5(2)12/h4-10,15-16H,14H2,1-3H3/t4-,5-,6-,7+,8+,9-,10-/s3(4)(5,7,8,10)(6)(9)</a:t>
                      </a:r>
                      <a:endParaRPr lang="en-US" dirty="0"/>
                    </a:p>
                  </a:txBody>
                  <a:tcPr/>
                </a:tc>
                <a:extLst>
                  <a:ext uri="{0D108BD9-81ED-4DB2-BD59-A6C34878D82A}">
                    <a16:rowId xmlns:a16="http://schemas.microsoft.com/office/drawing/2014/main" val="3969342327"/>
                  </a:ext>
                </a:extLst>
              </a:tr>
            </a:tbl>
          </a:graphicData>
        </a:graphic>
      </p:graphicFrame>
      <p:grpSp>
        <p:nvGrpSpPr>
          <p:cNvPr id="4" name="Gruppieren 3">
            <a:extLst>
              <a:ext uri="{FF2B5EF4-FFF2-40B4-BE49-F238E27FC236}">
                <a16:creationId xmlns:a16="http://schemas.microsoft.com/office/drawing/2014/main" id="{A99A55F0-1F40-B6CA-5D0D-5169BC975C9C}"/>
              </a:ext>
            </a:extLst>
          </p:cNvPr>
          <p:cNvGrpSpPr/>
          <p:nvPr/>
        </p:nvGrpSpPr>
        <p:grpSpPr>
          <a:xfrm>
            <a:off x="9008685" y="365125"/>
            <a:ext cx="2412430" cy="1295560"/>
            <a:chOff x="3176211" y="1164220"/>
            <a:chExt cx="2865403" cy="1552792"/>
          </a:xfrm>
        </p:grpSpPr>
        <p:pic>
          <p:nvPicPr>
            <p:cNvPr id="5" name="Grafik 4">
              <a:extLst>
                <a:ext uri="{FF2B5EF4-FFF2-40B4-BE49-F238E27FC236}">
                  <a16:creationId xmlns:a16="http://schemas.microsoft.com/office/drawing/2014/main" id="{404CCD08-9026-D864-7514-33B327566B0A}"/>
                </a:ext>
              </a:extLst>
            </p:cNvPr>
            <p:cNvPicPr>
              <a:picLocks noChangeAspect="1"/>
            </p:cNvPicPr>
            <p:nvPr/>
          </p:nvPicPr>
          <p:blipFill>
            <a:blip r:embed="rId2"/>
            <a:stretch>
              <a:fillRect/>
            </a:stretch>
          </p:blipFill>
          <p:spPr>
            <a:xfrm>
              <a:off x="3278978" y="1164220"/>
              <a:ext cx="2762636" cy="1552792"/>
            </a:xfrm>
            <a:prstGeom prst="rect">
              <a:avLst/>
            </a:prstGeom>
          </p:spPr>
        </p:pic>
        <p:sp>
          <p:nvSpPr>
            <p:cNvPr id="6" name="Textfeld 5">
              <a:extLst>
                <a:ext uri="{FF2B5EF4-FFF2-40B4-BE49-F238E27FC236}">
                  <a16:creationId xmlns:a16="http://schemas.microsoft.com/office/drawing/2014/main" id="{52E1C6FC-7B57-4239-1CCB-7691CDFDC7C3}"/>
                </a:ext>
              </a:extLst>
            </p:cNvPr>
            <p:cNvSpPr txBox="1"/>
            <p:nvPr/>
          </p:nvSpPr>
          <p:spPr>
            <a:xfrm>
              <a:off x="3464879" y="2038620"/>
              <a:ext cx="254229" cy="276999"/>
            </a:xfrm>
            <a:prstGeom prst="rect">
              <a:avLst/>
            </a:prstGeom>
            <a:noFill/>
          </p:spPr>
          <p:txBody>
            <a:bodyPr wrap="square" rtlCol="0">
              <a:spAutoFit/>
            </a:bodyPr>
            <a:lstStyle/>
            <a:p>
              <a:r>
                <a:rPr lang="en-US" sz="1200" b="1" dirty="0">
                  <a:solidFill>
                    <a:schemeClr val="accent4">
                      <a:lumMod val="75000"/>
                    </a:schemeClr>
                  </a:solidFill>
                </a:rPr>
                <a:t>5</a:t>
              </a:r>
            </a:p>
          </p:txBody>
        </p:sp>
        <p:sp>
          <p:nvSpPr>
            <p:cNvPr id="7" name="Textfeld 6">
              <a:extLst>
                <a:ext uri="{FF2B5EF4-FFF2-40B4-BE49-F238E27FC236}">
                  <a16:creationId xmlns:a16="http://schemas.microsoft.com/office/drawing/2014/main" id="{7122AF2E-6351-D911-4E80-D4EB9260D738}"/>
                </a:ext>
              </a:extLst>
            </p:cNvPr>
            <p:cNvSpPr txBox="1"/>
            <p:nvPr/>
          </p:nvSpPr>
          <p:spPr>
            <a:xfrm>
              <a:off x="4137207" y="2083461"/>
              <a:ext cx="254229" cy="276999"/>
            </a:xfrm>
            <a:prstGeom prst="rect">
              <a:avLst/>
            </a:prstGeom>
            <a:noFill/>
          </p:spPr>
          <p:txBody>
            <a:bodyPr wrap="square" rtlCol="0">
              <a:spAutoFit/>
            </a:bodyPr>
            <a:lstStyle/>
            <a:p>
              <a:r>
                <a:rPr lang="en-US" sz="1200" b="1" dirty="0">
                  <a:solidFill>
                    <a:schemeClr val="accent6">
                      <a:lumMod val="75000"/>
                    </a:schemeClr>
                  </a:solidFill>
                </a:rPr>
                <a:t>8</a:t>
              </a:r>
            </a:p>
          </p:txBody>
        </p:sp>
        <p:sp>
          <p:nvSpPr>
            <p:cNvPr id="8" name="Textfeld 7">
              <a:extLst>
                <a:ext uri="{FF2B5EF4-FFF2-40B4-BE49-F238E27FC236}">
                  <a16:creationId xmlns:a16="http://schemas.microsoft.com/office/drawing/2014/main" id="{C5DA68C0-2A64-574E-394A-D944B933C269}"/>
                </a:ext>
              </a:extLst>
            </p:cNvPr>
            <p:cNvSpPr txBox="1"/>
            <p:nvPr/>
          </p:nvSpPr>
          <p:spPr>
            <a:xfrm>
              <a:off x="4738350" y="2053604"/>
              <a:ext cx="254229" cy="276999"/>
            </a:xfrm>
            <a:prstGeom prst="rect">
              <a:avLst/>
            </a:prstGeom>
            <a:noFill/>
          </p:spPr>
          <p:txBody>
            <a:bodyPr wrap="square" rtlCol="0">
              <a:spAutoFit/>
            </a:bodyPr>
            <a:lstStyle/>
            <a:p>
              <a:r>
                <a:rPr lang="en-US" sz="1200" b="1" dirty="0">
                  <a:solidFill>
                    <a:schemeClr val="accent6">
                      <a:lumMod val="75000"/>
                    </a:schemeClr>
                  </a:solidFill>
                </a:rPr>
                <a:t>9</a:t>
              </a:r>
            </a:p>
          </p:txBody>
        </p:sp>
        <p:sp>
          <p:nvSpPr>
            <p:cNvPr id="9" name="Textfeld 8">
              <a:extLst>
                <a:ext uri="{FF2B5EF4-FFF2-40B4-BE49-F238E27FC236}">
                  <a16:creationId xmlns:a16="http://schemas.microsoft.com/office/drawing/2014/main" id="{5BD71FD4-5224-3E68-9AFA-F79E89A9CA31}"/>
                </a:ext>
              </a:extLst>
            </p:cNvPr>
            <p:cNvSpPr txBox="1"/>
            <p:nvPr/>
          </p:nvSpPr>
          <p:spPr>
            <a:xfrm>
              <a:off x="4355160" y="1812954"/>
              <a:ext cx="454374" cy="331997"/>
            </a:xfrm>
            <a:prstGeom prst="rect">
              <a:avLst/>
            </a:prstGeom>
            <a:noFill/>
          </p:spPr>
          <p:txBody>
            <a:bodyPr wrap="square" rtlCol="0">
              <a:spAutoFit/>
            </a:bodyPr>
            <a:lstStyle/>
            <a:p>
              <a:r>
                <a:rPr lang="en-US" sz="1200" b="1" dirty="0">
                  <a:solidFill>
                    <a:schemeClr val="accent6">
                      <a:lumMod val="75000"/>
                    </a:schemeClr>
                  </a:solidFill>
                </a:rPr>
                <a:t>10</a:t>
              </a:r>
            </a:p>
          </p:txBody>
        </p:sp>
        <p:sp>
          <p:nvSpPr>
            <p:cNvPr id="10" name="Textfeld 9">
              <a:extLst>
                <a:ext uri="{FF2B5EF4-FFF2-40B4-BE49-F238E27FC236}">
                  <a16:creationId xmlns:a16="http://schemas.microsoft.com/office/drawing/2014/main" id="{9B125AEA-D054-BA23-D0DE-821D74CD3EDF}"/>
                </a:ext>
              </a:extLst>
            </p:cNvPr>
            <p:cNvSpPr txBox="1"/>
            <p:nvPr/>
          </p:nvSpPr>
          <p:spPr>
            <a:xfrm>
              <a:off x="3814101" y="1806462"/>
              <a:ext cx="254229" cy="276999"/>
            </a:xfrm>
            <a:prstGeom prst="rect">
              <a:avLst/>
            </a:prstGeom>
            <a:noFill/>
          </p:spPr>
          <p:txBody>
            <a:bodyPr wrap="square" rtlCol="0">
              <a:spAutoFit/>
            </a:bodyPr>
            <a:lstStyle/>
            <a:p>
              <a:r>
                <a:rPr lang="en-US" sz="1200" b="1" dirty="0">
                  <a:solidFill>
                    <a:schemeClr val="accent4">
                      <a:lumMod val="75000"/>
                    </a:schemeClr>
                  </a:solidFill>
                </a:rPr>
                <a:t>7</a:t>
              </a:r>
            </a:p>
          </p:txBody>
        </p:sp>
        <p:sp>
          <p:nvSpPr>
            <p:cNvPr id="11" name="Textfeld 10">
              <a:extLst>
                <a:ext uri="{FF2B5EF4-FFF2-40B4-BE49-F238E27FC236}">
                  <a16:creationId xmlns:a16="http://schemas.microsoft.com/office/drawing/2014/main" id="{54F20F9F-215F-3B04-5785-7C4DFEDD9833}"/>
                </a:ext>
              </a:extLst>
            </p:cNvPr>
            <p:cNvSpPr txBox="1"/>
            <p:nvPr/>
          </p:nvSpPr>
          <p:spPr>
            <a:xfrm>
              <a:off x="5052663" y="1806056"/>
              <a:ext cx="254229" cy="276999"/>
            </a:xfrm>
            <a:prstGeom prst="rect">
              <a:avLst/>
            </a:prstGeom>
            <a:noFill/>
          </p:spPr>
          <p:txBody>
            <a:bodyPr wrap="square" rtlCol="0">
              <a:spAutoFit/>
            </a:bodyPr>
            <a:lstStyle/>
            <a:p>
              <a:r>
                <a:rPr lang="en-US" sz="1200" b="1" dirty="0">
                  <a:solidFill>
                    <a:srgbClr val="0070C0"/>
                  </a:solidFill>
                </a:rPr>
                <a:t>4</a:t>
              </a:r>
            </a:p>
          </p:txBody>
        </p:sp>
        <p:sp>
          <p:nvSpPr>
            <p:cNvPr id="12" name="Textfeld 11">
              <a:extLst>
                <a:ext uri="{FF2B5EF4-FFF2-40B4-BE49-F238E27FC236}">
                  <a16:creationId xmlns:a16="http://schemas.microsoft.com/office/drawing/2014/main" id="{F8C64CAC-13A5-6F63-08E1-56C24938CD1A}"/>
                </a:ext>
              </a:extLst>
            </p:cNvPr>
            <p:cNvSpPr txBox="1"/>
            <p:nvPr/>
          </p:nvSpPr>
          <p:spPr>
            <a:xfrm>
              <a:off x="5339493" y="2053604"/>
              <a:ext cx="254229" cy="276999"/>
            </a:xfrm>
            <a:prstGeom prst="rect">
              <a:avLst/>
            </a:prstGeom>
            <a:noFill/>
          </p:spPr>
          <p:txBody>
            <a:bodyPr wrap="square" rtlCol="0">
              <a:spAutoFit/>
            </a:bodyPr>
            <a:lstStyle/>
            <a:p>
              <a:r>
                <a:rPr lang="en-US" sz="1200" b="1" dirty="0">
                  <a:solidFill>
                    <a:srgbClr val="0070C0"/>
                  </a:solidFill>
                </a:rPr>
                <a:t>6</a:t>
              </a:r>
            </a:p>
          </p:txBody>
        </p:sp>
        <p:sp>
          <p:nvSpPr>
            <p:cNvPr id="13" name="Textfeld 12">
              <a:extLst>
                <a:ext uri="{FF2B5EF4-FFF2-40B4-BE49-F238E27FC236}">
                  <a16:creationId xmlns:a16="http://schemas.microsoft.com/office/drawing/2014/main" id="{3FA6AFC2-CC92-E7D4-363C-D632EA9C5FA1}"/>
                </a:ext>
              </a:extLst>
            </p:cNvPr>
            <p:cNvSpPr txBox="1"/>
            <p:nvPr/>
          </p:nvSpPr>
          <p:spPr>
            <a:xfrm>
              <a:off x="5755481" y="1761621"/>
              <a:ext cx="254229" cy="276999"/>
            </a:xfrm>
            <a:prstGeom prst="rect">
              <a:avLst/>
            </a:prstGeom>
            <a:noFill/>
          </p:spPr>
          <p:txBody>
            <a:bodyPr wrap="square" rtlCol="0">
              <a:spAutoFit/>
            </a:bodyPr>
            <a:lstStyle/>
            <a:p>
              <a:r>
                <a:rPr lang="en-US" sz="1200" dirty="0"/>
                <a:t>3</a:t>
              </a:r>
            </a:p>
          </p:txBody>
        </p:sp>
        <p:sp>
          <p:nvSpPr>
            <p:cNvPr id="14" name="Textfeld 13">
              <a:extLst>
                <a:ext uri="{FF2B5EF4-FFF2-40B4-BE49-F238E27FC236}">
                  <a16:creationId xmlns:a16="http://schemas.microsoft.com/office/drawing/2014/main" id="{17B8E2BD-5208-D1B1-8B80-46D17EBBFC26}"/>
                </a:ext>
              </a:extLst>
            </p:cNvPr>
            <p:cNvSpPr txBox="1"/>
            <p:nvPr/>
          </p:nvSpPr>
          <p:spPr>
            <a:xfrm>
              <a:off x="5047196" y="1456647"/>
              <a:ext cx="254229" cy="276999"/>
            </a:xfrm>
            <a:prstGeom prst="rect">
              <a:avLst/>
            </a:prstGeom>
            <a:noFill/>
          </p:spPr>
          <p:txBody>
            <a:bodyPr wrap="square" rtlCol="0">
              <a:spAutoFit/>
            </a:bodyPr>
            <a:lstStyle/>
            <a:p>
              <a:r>
                <a:rPr lang="en-US" sz="1200" dirty="0"/>
                <a:t>1</a:t>
              </a:r>
            </a:p>
          </p:txBody>
        </p:sp>
        <p:sp>
          <p:nvSpPr>
            <p:cNvPr id="15" name="Textfeld 14">
              <a:extLst>
                <a:ext uri="{FF2B5EF4-FFF2-40B4-BE49-F238E27FC236}">
                  <a16:creationId xmlns:a16="http://schemas.microsoft.com/office/drawing/2014/main" id="{D8081733-CBE9-E009-A488-DF05FA77B864}"/>
                </a:ext>
              </a:extLst>
            </p:cNvPr>
            <p:cNvSpPr txBox="1"/>
            <p:nvPr/>
          </p:nvSpPr>
          <p:spPr>
            <a:xfrm>
              <a:off x="3176211" y="1812954"/>
              <a:ext cx="254229" cy="276999"/>
            </a:xfrm>
            <a:prstGeom prst="rect">
              <a:avLst/>
            </a:prstGeom>
            <a:noFill/>
          </p:spPr>
          <p:txBody>
            <a:bodyPr wrap="square" rtlCol="0">
              <a:spAutoFit/>
            </a:bodyPr>
            <a:lstStyle/>
            <a:p>
              <a:r>
                <a:rPr lang="en-US" sz="1200" dirty="0"/>
                <a:t>2</a:t>
              </a:r>
            </a:p>
          </p:txBody>
        </p:sp>
      </p:grpSp>
      <p:pic>
        <p:nvPicPr>
          <p:cNvPr id="18" name="Grafik 17">
            <a:extLst>
              <a:ext uri="{FF2B5EF4-FFF2-40B4-BE49-F238E27FC236}">
                <a16:creationId xmlns:a16="http://schemas.microsoft.com/office/drawing/2014/main" id="{8F36AD16-61A1-03B3-6D5F-ABD9AAB63A00}"/>
              </a:ext>
            </a:extLst>
          </p:cNvPr>
          <p:cNvPicPr>
            <a:picLocks noChangeAspect="1"/>
          </p:cNvPicPr>
          <p:nvPr/>
        </p:nvPicPr>
        <p:blipFill>
          <a:blip r:embed="rId3"/>
          <a:stretch>
            <a:fillRect/>
          </a:stretch>
        </p:blipFill>
        <p:spPr>
          <a:xfrm>
            <a:off x="901265" y="2221972"/>
            <a:ext cx="1378961" cy="599135"/>
          </a:xfrm>
          <a:prstGeom prst="rect">
            <a:avLst/>
          </a:prstGeom>
        </p:spPr>
      </p:pic>
      <p:pic>
        <p:nvPicPr>
          <p:cNvPr id="20" name="Grafik 19">
            <a:extLst>
              <a:ext uri="{FF2B5EF4-FFF2-40B4-BE49-F238E27FC236}">
                <a16:creationId xmlns:a16="http://schemas.microsoft.com/office/drawing/2014/main" id="{3F0C9E35-C33D-5208-73D0-242D36F688D9}"/>
              </a:ext>
            </a:extLst>
          </p:cNvPr>
          <p:cNvPicPr>
            <a:picLocks noChangeAspect="1"/>
          </p:cNvPicPr>
          <p:nvPr/>
        </p:nvPicPr>
        <p:blipFill>
          <a:blip r:embed="rId4"/>
          <a:stretch>
            <a:fillRect/>
          </a:stretch>
        </p:blipFill>
        <p:spPr>
          <a:xfrm>
            <a:off x="901265" y="2900132"/>
            <a:ext cx="1381318" cy="776396"/>
          </a:xfrm>
          <a:prstGeom prst="rect">
            <a:avLst/>
          </a:prstGeom>
        </p:spPr>
      </p:pic>
      <p:pic>
        <p:nvPicPr>
          <p:cNvPr id="22" name="Grafik 21">
            <a:extLst>
              <a:ext uri="{FF2B5EF4-FFF2-40B4-BE49-F238E27FC236}">
                <a16:creationId xmlns:a16="http://schemas.microsoft.com/office/drawing/2014/main" id="{3773D7DC-5FAA-F9F5-AE43-8754158B5469}"/>
              </a:ext>
            </a:extLst>
          </p:cNvPr>
          <p:cNvPicPr>
            <a:picLocks noChangeAspect="1"/>
          </p:cNvPicPr>
          <p:nvPr/>
        </p:nvPicPr>
        <p:blipFill>
          <a:blip r:embed="rId5"/>
          <a:stretch>
            <a:fillRect/>
          </a:stretch>
        </p:blipFill>
        <p:spPr>
          <a:xfrm>
            <a:off x="901265" y="3682604"/>
            <a:ext cx="1378960" cy="732152"/>
          </a:xfrm>
          <a:prstGeom prst="rect">
            <a:avLst/>
          </a:prstGeom>
        </p:spPr>
      </p:pic>
      <p:pic>
        <p:nvPicPr>
          <p:cNvPr id="24" name="Grafik 23">
            <a:extLst>
              <a:ext uri="{FF2B5EF4-FFF2-40B4-BE49-F238E27FC236}">
                <a16:creationId xmlns:a16="http://schemas.microsoft.com/office/drawing/2014/main" id="{6BD09D55-BBC2-6D8C-0B64-D2C69ED961BF}"/>
              </a:ext>
            </a:extLst>
          </p:cNvPr>
          <p:cNvPicPr>
            <a:picLocks noChangeAspect="1"/>
          </p:cNvPicPr>
          <p:nvPr/>
        </p:nvPicPr>
        <p:blipFill>
          <a:blip r:embed="rId6"/>
          <a:stretch>
            <a:fillRect/>
          </a:stretch>
        </p:blipFill>
        <p:spPr>
          <a:xfrm>
            <a:off x="901265" y="4445432"/>
            <a:ext cx="1378960" cy="775071"/>
          </a:xfrm>
          <a:prstGeom prst="rect">
            <a:avLst/>
          </a:prstGeom>
        </p:spPr>
      </p:pic>
      <p:pic>
        <p:nvPicPr>
          <p:cNvPr id="26" name="Grafik 25">
            <a:extLst>
              <a:ext uri="{FF2B5EF4-FFF2-40B4-BE49-F238E27FC236}">
                <a16:creationId xmlns:a16="http://schemas.microsoft.com/office/drawing/2014/main" id="{A6B04240-2E3A-91AD-AEDF-9505A43BADB2}"/>
              </a:ext>
            </a:extLst>
          </p:cNvPr>
          <p:cNvPicPr>
            <a:picLocks noChangeAspect="1"/>
          </p:cNvPicPr>
          <p:nvPr/>
        </p:nvPicPr>
        <p:blipFill>
          <a:blip r:embed="rId7"/>
          <a:stretch>
            <a:fillRect/>
          </a:stretch>
        </p:blipFill>
        <p:spPr>
          <a:xfrm>
            <a:off x="901265" y="5226364"/>
            <a:ext cx="1378960" cy="713557"/>
          </a:xfrm>
          <a:prstGeom prst="rect">
            <a:avLst/>
          </a:prstGeom>
        </p:spPr>
      </p:pic>
      <p:pic>
        <p:nvPicPr>
          <p:cNvPr id="28" name="Grafik 27">
            <a:extLst>
              <a:ext uri="{FF2B5EF4-FFF2-40B4-BE49-F238E27FC236}">
                <a16:creationId xmlns:a16="http://schemas.microsoft.com/office/drawing/2014/main" id="{CC261DB2-AED9-9A5A-5D17-111037B4D611}"/>
              </a:ext>
            </a:extLst>
          </p:cNvPr>
          <p:cNvPicPr>
            <a:picLocks noChangeAspect="1"/>
          </p:cNvPicPr>
          <p:nvPr/>
        </p:nvPicPr>
        <p:blipFill>
          <a:blip r:embed="rId8"/>
          <a:stretch>
            <a:fillRect/>
          </a:stretch>
        </p:blipFill>
        <p:spPr>
          <a:xfrm>
            <a:off x="901266" y="6000170"/>
            <a:ext cx="1378960" cy="775070"/>
          </a:xfrm>
          <a:prstGeom prst="rect">
            <a:avLst/>
          </a:prstGeom>
        </p:spPr>
      </p:pic>
    </p:spTree>
    <p:extLst>
      <p:ext uri="{BB962C8B-B14F-4D97-AF65-F5344CB8AC3E}">
        <p14:creationId xmlns:p14="http://schemas.microsoft.com/office/powerpoint/2010/main" val="4028794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CC10C9-77BC-E26D-9795-D6F6498C4733}"/>
              </a:ext>
            </a:extLst>
          </p:cNvPr>
          <p:cNvSpPr>
            <a:spLocks noGrp="1"/>
          </p:cNvSpPr>
          <p:nvPr>
            <p:ph type="title"/>
          </p:nvPr>
        </p:nvSpPr>
        <p:spPr/>
        <p:txBody>
          <a:bodyPr/>
          <a:lstStyle/>
          <a:p>
            <a:r>
              <a:rPr lang="en-US" dirty="0"/>
              <a:t>Enhanced stereochemistry </a:t>
            </a:r>
          </a:p>
        </p:txBody>
      </p:sp>
      <p:sp>
        <p:nvSpPr>
          <p:cNvPr id="3" name="Inhaltsplatzhalter 2">
            <a:extLst>
              <a:ext uri="{FF2B5EF4-FFF2-40B4-BE49-F238E27FC236}">
                <a16:creationId xmlns:a16="http://schemas.microsoft.com/office/drawing/2014/main" id="{51599246-0049-1B74-AFAF-C18267D438A1}"/>
              </a:ext>
            </a:extLst>
          </p:cNvPr>
          <p:cNvSpPr>
            <a:spLocks noGrp="1"/>
          </p:cNvSpPr>
          <p:nvPr>
            <p:ph idx="1"/>
          </p:nvPr>
        </p:nvSpPr>
        <p:spPr/>
        <p:txBody>
          <a:bodyPr/>
          <a:lstStyle/>
          <a:p>
            <a:r>
              <a:rPr lang="en-US" dirty="0"/>
              <a:t>The concept of the enhanced stereochemistry has been transferred to non-tetrahedral stereocenters:</a:t>
            </a:r>
          </a:p>
          <a:p>
            <a:pPr lvl="1"/>
            <a:r>
              <a:rPr lang="en-US" dirty="0"/>
              <a:t>Allenes</a:t>
            </a:r>
          </a:p>
          <a:p>
            <a:pPr lvl="1"/>
            <a:r>
              <a:rPr lang="en-US" dirty="0"/>
              <a:t>Atropisomers</a:t>
            </a:r>
          </a:p>
          <a:p>
            <a:pPr lvl="1"/>
            <a:r>
              <a:rPr lang="en-US" dirty="0"/>
              <a:t>Double bonds (E/Z)</a:t>
            </a:r>
          </a:p>
        </p:txBody>
      </p:sp>
    </p:spTree>
    <p:extLst>
      <p:ext uri="{BB962C8B-B14F-4D97-AF65-F5344CB8AC3E}">
        <p14:creationId xmlns:p14="http://schemas.microsoft.com/office/powerpoint/2010/main" val="1055688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48E43-1A2D-E3D7-355E-FEAE68A536B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D0C1A4-D238-8938-6E11-A9B577085268}"/>
              </a:ext>
            </a:extLst>
          </p:cNvPr>
          <p:cNvSpPr>
            <a:spLocks noGrp="1"/>
          </p:cNvSpPr>
          <p:nvPr>
            <p:ph type="title"/>
          </p:nvPr>
        </p:nvSpPr>
        <p:spPr/>
        <p:txBody>
          <a:bodyPr/>
          <a:lstStyle/>
          <a:p>
            <a:r>
              <a:rPr lang="en-US" dirty="0"/>
              <a:t>Allenes</a:t>
            </a:r>
          </a:p>
        </p:txBody>
      </p:sp>
      <p:sp>
        <p:nvSpPr>
          <p:cNvPr id="3" name="Inhaltsplatzhalter 2">
            <a:extLst>
              <a:ext uri="{FF2B5EF4-FFF2-40B4-BE49-F238E27FC236}">
                <a16:creationId xmlns:a16="http://schemas.microsoft.com/office/drawing/2014/main" id="{D3DF8346-5688-2ABE-CDCA-0EC65F71863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09490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F8E00-19D4-B62C-388A-7D5E2F380830}"/>
            </a:ext>
          </a:extLst>
        </p:cNvPr>
        <p:cNvGrpSpPr/>
        <p:nvPr/>
      </p:nvGrpSpPr>
      <p:grpSpPr>
        <a:xfrm>
          <a:off x="0" y="0"/>
          <a:ext cx="0" cy="0"/>
          <a:chOff x="0" y="0"/>
          <a:chExt cx="0" cy="0"/>
        </a:xfrm>
      </p:grpSpPr>
      <p:pic>
        <p:nvPicPr>
          <p:cNvPr id="15" name="Grafik 14">
            <a:extLst>
              <a:ext uri="{FF2B5EF4-FFF2-40B4-BE49-F238E27FC236}">
                <a16:creationId xmlns:a16="http://schemas.microsoft.com/office/drawing/2014/main" id="{EFC4C200-A8DA-C070-F89D-4720ED085C2B}"/>
              </a:ext>
            </a:extLst>
          </p:cNvPr>
          <p:cNvPicPr>
            <a:picLocks noChangeAspect="1"/>
          </p:cNvPicPr>
          <p:nvPr/>
        </p:nvPicPr>
        <p:blipFill>
          <a:blip r:embed="rId2"/>
          <a:stretch>
            <a:fillRect/>
          </a:stretch>
        </p:blipFill>
        <p:spPr>
          <a:xfrm>
            <a:off x="9291672" y="3370677"/>
            <a:ext cx="1428949" cy="924054"/>
          </a:xfrm>
          <a:prstGeom prst="rect">
            <a:avLst/>
          </a:prstGeom>
        </p:spPr>
      </p:pic>
      <p:pic>
        <p:nvPicPr>
          <p:cNvPr id="9" name="Grafik 8">
            <a:extLst>
              <a:ext uri="{FF2B5EF4-FFF2-40B4-BE49-F238E27FC236}">
                <a16:creationId xmlns:a16="http://schemas.microsoft.com/office/drawing/2014/main" id="{5CC23D31-85AE-9121-27F1-BB8EC166D5A2}"/>
              </a:ext>
            </a:extLst>
          </p:cNvPr>
          <p:cNvPicPr>
            <a:picLocks noChangeAspect="1"/>
          </p:cNvPicPr>
          <p:nvPr/>
        </p:nvPicPr>
        <p:blipFill>
          <a:blip r:embed="rId3"/>
          <a:stretch>
            <a:fillRect/>
          </a:stretch>
        </p:blipFill>
        <p:spPr>
          <a:xfrm>
            <a:off x="9233302" y="1736658"/>
            <a:ext cx="1428949" cy="924054"/>
          </a:xfrm>
          <a:prstGeom prst="rect">
            <a:avLst/>
          </a:prstGeom>
        </p:spPr>
      </p:pic>
      <p:sp>
        <p:nvSpPr>
          <p:cNvPr id="2" name="Titel 1">
            <a:extLst>
              <a:ext uri="{FF2B5EF4-FFF2-40B4-BE49-F238E27FC236}">
                <a16:creationId xmlns:a16="http://schemas.microsoft.com/office/drawing/2014/main" id="{E6E44732-623A-9FA0-36C6-2AD1B3F73481}"/>
              </a:ext>
            </a:extLst>
          </p:cNvPr>
          <p:cNvSpPr>
            <a:spLocks noGrp="1"/>
          </p:cNvSpPr>
          <p:nvPr>
            <p:ph type="title"/>
          </p:nvPr>
        </p:nvSpPr>
        <p:spPr/>
        <p:txBody>
          <a:bodyPr/>
          <a:lstStyle/>
          <a:p>
            <a:r>
              <a:rPr lang="en-US" dirty="0"/>
              <a:t>Tetrahedral stereocenters</a:t>
            </a:r>
          </a:p>
        </p:txBody>
      </p:sp>
      <p:sp>
        <p:nvSpPr>
          <p:cNvPr id="3" name="Inhaltsplatzhalter 2">
            <a:extLst>
              <a:ext uri="{FF2B5EF4-FFF2-40B4-BE49-F238E27FC236}">
                <a16:creationId xmlns:a16="http://schemas.microsoft.com/office/drawing/2014/main" id="{202B3358-DF3B-6524-6550-23F7D48F7546}"/>
              </a:ext>
            </a:extLst>
          </p:cNvPr>
          <p:cNvSpPr>
            <a:spLocks noGrp="1"/>
          </p:cNvSpPr>
          <p:nvPr>
            <p:ph idx="1"/>
          </p:nvPr>
        </p:nvSpPr>
        <p:spPr>
          <a:xfrm>
            <a:off x="838200" y="1690688"/>
            <a:ext cx="7286897" cy="4351338"/>
          </a:xfrm>
        </p:spPr>
        <p:txBody>
          <a:bodyPr/>
          <a:lstStyle/>
          <a:p>
            <a:r>
              <a:rPr lang="en-US" dirty="0"/>
              <a:t>To let InChI recognize the stereochemistry of allenes each of the and atoms of the allene section have to be marked by a </a:t>
            </a:r>
            <a:r>
              <a:rPr lang="en-US" dirty="0" err="1"/>
              <a:t>stereobond</a:t>
            </a:r>
            <a:endParaRPr lang="en-US" dirty="0"/>
          </a:p>
          <a:p>
            <a:pPr lvl="1"/>
            <a:r>
              <a:rPr lang="en-US" dirty="0"/>
              <a:t>Only the combinations up/up and down/down are handled.</a:t>
            </a:r>
          </a:p>
          <a:p>
            <a:r>
              <a:rPr lang="en-US" dirty="0"/>
              <a:t>Although allenes are described by </a:t>
            </a:r>
            <a:r>
              <a:rPr lang="en-US" dirty="0" err="1"/>
              <a:t>stereoaxes</a:t>
            </a:r>
            <a:r>
              <a:rPr lang="en-US" dirty="0"/>
              <a:t>, InChI uses the central C atom of the conjugated double bonds to identify the stereochemistry.</a:t>
            </a:r>
          </a:p>
          <a:p>
            <a:pPr lvl="1"/>
            <a:r>
              <a:rPr lang="en-US" dirty="0"/>
              <a:t>The /t layer is used to keep the </a:t>
            </a:r>
            <a:r>
              <a:rPr lang="en-US" dirty="0" err="1"/>
              <a:t>stereoinformation</a:t>
            </a:r>
            <a:r>
              <a:rPr lang="en-US" dirty="0"/>
              <a:t> analog to the tetrahedral centers</a:t>
            </a:r>
          </a:p>
        </p:txBody>
      </p:sp>
      <p:sp>
        <p:nvSpPr>
          <p:cNvPr id="6" name="Textfeld 5">
            <a:extLst>
              <a:ext uri="{FF2B5EF4-FFF2-40B4-BE49-F238E27FC236}">
                <a16:creationId xmlns:a16="http://schemas.microsoft.com/office/drawing/2014/main" id="{203C565F-D8BE-C31A-25D9-66E4371B7F88}"/>
              </a:ext>
            </a:extLst>
          </p:cNvPr>
          <p:cNvSpPr txBox="1"/>
          <p:nvPr/>
        </p:nvSpPr>
        <p:spPr>
          <a:xfrm>
            <a:off x="8125097" y="2720161"/>
            <a:ext cx="4045146" cy="307777"/>
          </a:xfrm>
          <a:prstGeom prst="rect">
            <a:avLst/>
          </a:prstGeom>
          <a:noFill/>
        </p:spPr>
        <p:txBody>
          <a:bodyPr wrap="none" rtlCol="0">
            <a:spAutoFit/>
          </a:bodyPr>
          <a:lstStyle/>
          <a:p>
            <a:r>
              <a:rPr lang="pt-BR" sz="1400" dirty="0"/>
              <a:t>InChI=1B/C4H3BrClF/c1-3(6)</a:t>
            </a:r>
            <a:r>
              <a:rPr lang="pt-BR" sz="1400" dirty="0">
                <a:solidFill>
                  <a:srgbClr val="FF0000"/>
                </a:solidFill>
              </a:rPr>
              <a:t>2</a:t>
            </a:r>
            <a:r>
              <a:rPr lang="pt-BR" sz="1400" dirty="0"/>
              <a:t>-4(5)7/h1H3</a:t>
            </a:r>
            <a:r>
              <a:rPr lang="pt-BR" sz="1400" dirty="0">
                <a:solidFill>
                  <a:srgbClr val="FF0000"/>
                </a:solidFill>
              </a:rPr>
              <a:t>/t2-/m1/s1</a:t>
            </a:r>
          </a:p>
        </p:txBody>
      </p:sp>
      <p:sp>
        <p:nvSpPr>
          <p:cNvPr id="7" name="Textfeld 6">
            <a:extLst>
              <a:ext uri="{FF2B5EF4-FFF2-40B4-BE49-F238E27FC236}">
                <a16:creationId xmlns:a16="http://schemas.microsoft.com/office/drawing/2014/main" id="{1E93A0D7-C4F6-A984-239E-3DA5F72FDC69}"/>
              </a:ext>
            </a:extLst>
          </p:cNvPr>
          <p:cNvSpPr txBox="1"/>
          <p:nvPr/>
        </p:nvSpPr>
        <p:spPr>
          <a:xfrm>
            <a:off x="9816169" y="2238922"/>
            <a:ext cx="263214" cy="276999"/>
          </a:xfrm>
          <a:prstGeom prst="rect">
            <a:avLst/>
          </a:prstGeom>
          <a:noFill/>
        </p:spPr>
        <p:txBody>
          <a:bodyPr wrap="none" rtlCol="0">
            <a:spAutoFit/>
          </a:bodyPr>
          <a:lstStyle/>
          <a:p>
            <a:r>
              <a:rPr lang="en-US" sz="1200" dirty="0">
                <a:solidFill>
                  <a:srgbClr val="FF0000"/>
                </a:solidFill>
              </a:rPr>
              <a:t>2</a:t>
            </a:r>
          </a:p>
        </p:txBody>
      </p:sp>
      <p:sp>
        <p:nvSpPr>
          <p:cNvPr id="11" name="Textfeld 10">
            <a:extLst>
              <a:ext uri="{FF2B5EF4-FFF2-40B4-BE49-F238E27FC236}">
                <a16:creationId xmlns:a16="http://schemas.microsoft.com/office/drawing/2014/main" id="{F592953C-6E87-442E-42D3-7CE0468EFE10}"/>
              </a:ext>
            </a:extLst>
          </p:cNvPr>
          <p:cNvSpPr txBox="1"/>
          <p:nvPr/>
        </p:nvSpPr>
        <p:spPr>
          <a:xfrm>
            <a:off x="9879302" y="5754923"/>
            <a:ext cx="263214" cy="276999"/>
          </a:xfrm>
          <a:prstGeom prst="rect">
            <a:avLst/>
          </a:prstGeom>
          <a:noFill/>
        </p:spPr>
        <p:txBody>
          <a:bodyPr wrap="none" rtlCol="0">
            <a:spAutoFit/>
          </a:bodyPr>
          <a:lstStyle/>
          <a:p>
            <a:r>
              <a:rPr lang="en-US" sz="1200" dirty="0">
                <a:solidFill>
                  <a:srgbClr val="FF0000"/>
                </a:solidFill>
              </a:rPr>
              <a:t>2</a:t>
            </a:r>
          </a:p>
        </p:txBody>
      </p:sp>
      <p:sp>
        <p:nvSpPr>
          <p:cNvPr id="13" name="Textfeld 12">
            <a:extLst>
              <a:ext uri="{FF2B5EF4-FFF2-40B4-BE49-F238E27FC236}">
                <a16:creationId xmlns:a16="http://schemas.microsoft.com/office/drawing/2014/main" id="{8AD8B883-D324-5599-10EE-1EC6B79A7AED}"/>
              </a:ext>
            </a:extLst>
          </p:cNvPr>
          <p:cNvSpPr txBox="1"/>
          <p:nvPr/>
        </p:nvSpPr>
        <p:spPr>
          <a:xfrm>
            <a:off x="8188418" y="4576277"/>
            <a:ext cx="4045146" cy="307777"/>
          </a:xfrm>
          <a:prstGeom prst="rect">
            <a:avLst/>
          </a:prstGeom>
          <a:noFill/>
        </p:spPr>
        <p:txBody>
          <a:bodyPr wrap="none" rtlCol="0">
            <a:spAutoFit/>
          </a:bodyPr>
          <a:lstStyle/>
          <a:p>
            <a:r>
              <a:rPr lang="pt-BR" sz="1400" dirty="0"/>
              <a:t>InChI=1B/C4H3BrClF/c1-3(6)</a:t>
            </a:r>
            <a:r>
              <a:rPr lang="pt-BR" sz="1400" dirty="0">
                <a:solidFill>
                  <a:srgbClr val="FF0000"/>
                </a:solidFill>
              </a:rPr>
              <a:t>2</a:t>
            </a:r>
            <a:r>
              <a:rPr lang="pt-BR" sz="1400" dirty="0"/>
              <a:t>-4(5)7/h1H3</a:t>
            </a:r>
            <a:r>
              <a:rPr lang="pt-BR" sz="1400" dirty="0">
                <a:solidFill>
                  <a:srgbClr val="FF0000"/>
                </a:solidFill>
              </a:rPr>
              <a:t>/t2-/m0/s1</a:t>
            </a:r>
          </a:p>
        </p:txBody>
      </p:sp>
      <p:sp>
        <p:nvSpPr>
          <p:cNvPr id="16" name="Textfeld 15">
            <a:extLst>
              <a:ext uri="{FF2B5EF4-FFF2-40B4-BE49-F238E27FC236}">
                <a16:creationId xmlns:a16="http://schemas.microsoft.com/office/drawing/2014/main" id="{7E467F7E-E8F7-91C1-94BD-1658AF361192}"/>
              </a:ext>
            </a:extLst>
          </p:cNvPr>
          <p:cNvSpPr txBox="1"/>
          <p:nvPr/>
        </p:nvSpPr>
        <p:spPr>
          <a:xfrm>
            <a:off x="9869106" y="3852727"/>
            <a:ext cx="263214" cy="276999"/>
          </a:xfrm>
          <a:prstGeom prst="rect">
            <a:avLst/>
          </a:prstGeom>
          <a:noFill/>
        </p:spPr>
        <p:txBody>
          <a:bodyPr wrap="none" rtlCol="0">
            <a:spAutoFit/>
          </a:bodyPr>
          <a:lstStyle/>
          <a:p>
            <a:r>
              <a:rPr lang="en-US" sz="1200" dirty="0">
                <a:solidFill>
                  <a:srgbClr val="FF0000"/>
                </a:solidFill>
              </a:rPr>
              <a:t>2</a:t>
            </a:r>
          </a:p>
        </p:txBody>
      </p:sp>
    </p:spTree>
    <p:extLst>
      <p:ext uri="{BB962C8B-B14F-4D97-AF65-F5344CB8AC3E}">
        <p14:creationId xmlns:p14="http://schemas.microsoft.com/office/powerpoint/2010/main" val="3881332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B5E761-11BA-7397-CDC6-24ADBB9F8ADC}"/>
              </a:ext>
            </a:extLst>
          </p:cNvPr>
          <p:cNvSpPr>
            <a:spLocks noGrp="1"/>
          </p:cNvSpPr>
          <p:nvPr>
            <p:ph type="title"/>
          </p:nvPr>
        </p:nvSpPr>
        <p:spPr/>
        <p:txBody>
          <a:bodyPr/>
          <a:lstStyle/>
          <a:p>
            <a:r>
              <a:rPr lang="en-US" dirty="0"/>
              <a:t>InChI stereo parameters</a:t>
            </a:r>
          </a:p>
        </p:txBody>
      </p:sp>
      <p:sp>
        <p:nvSpPr>
          <p:cNvPr id="3" name="Inhaltsplatzhalter 2">
            <a:extLst>
              <a:ext uri="{FF2B5EF4-FFF2-40B4-BE49-F238E27FC236}">
                <a16:creationId xmlns:a16="http://schemas.microsoft.com/office/drawing/2014/main" id="{B561A42F-4B6C-B503-377C-9CC01D538DDD}"/>
              </a:ext>
            </a:extLst>
          </p:cNvPr>
          <p:cNvSpPr>
            <a:spLocks noGrp="1"/>
          </p:cNvSpPr>
          <p:nvPr>
            <p:ph idx="1"/>
          </p:nvPr>
        </p:nvSpPr>
        <p:spPr>
          <a:xfrm>
            <a:off x="838200" y="1690687"/>
            <a:ext cx="5754189" cy="4802187"/>
          </a:xfrm>
        </p:spPr>
        <p:txBody>
          <a:bodyPr>
            <a:normAutofit fontScale="92500" lnSpcReduction="20000"/>
          </a:bodyPr>
          <a:lstStyle/>
          <a:p>
            <a:pPr marL="0" indent="0">
              <a:buNone/>
            </a:pPr>
            <a:r>
              <a:rPr lang="en-US" dirty="0"/>
              <a:t>Currently available InChI parameters</a:t>
            </a:r>
          </a:p>
          <a:p>
            <a:endParaRPr lang="en-US" dirty="0"/>
          </a:p>
          <a:p>
            <a:endParaRPr lang="en-US" dirty="0"/>
          </a:p>
          <a:p>
            <a:pPr>
              <a:spcBef>
                <a:spcPts val="0"/>
              </a:spcBef>
            </a:pPr>
            <a:r>
              <a:rPr lang="en-US" dirty="0" err="1"/>
              <a:t>SAbs</a:t>
            </a:r>
            <a:r>
              <a:rPr lang="en-US" dirty="0"/>
              <a:t> (standard InChI), </a:t>
            </a:r>
          </a:p>
          <a:p>
            <a:pPr lvl="1">
              <a:spcAft>
                <a:spcPts val="600"/>
              </a:spcAft>
            </a:pPr>
            <a:r>
              <a:rPr lang="en-US" dirty="0" err="1"/>
              <a:t>Stereoaxis</a:t>
            </a:r>
            <a:r>
              <a:rPr lang="en-US" dirty="0"/>
              <a:t> is absolutely described</a:t>
            </a:r>
          </a:p>
          <a:p>
            <a:r>
              <a:rPr lang="en-US" dirty="0" err="1"/>
              <a:t>SRel</a:t>
            </a:r>
            <a:endParaRPr lang="en-US" dirty="0"/>
          </a:p>
          <a:p>
            <a:pPr lvl="1">
              <a:spcAft>
                <a:spcPts val="600"/>
              </a:spcAft>
            </a:pPr>
            <a:r>
              <a:rPr lang="en-US" dirty="0" err="1"/>
              <a:t>Stereoaxis</a:t>
            </a:r>
            <a:r>
              <a:rPr lang="en-US" dirty="0"/>
              <a:t> is relatively described </a:t>
            </a:r>
          </a:p>
          <a:p>
            <a:r>
              <a:rPr lang="en-US" dirty="0" err="1"/>
              <a:t>SRac</a:t>
            </a:r>
            <a:endParaRPr lang="en-US" dirty="0"/>
          </a:p>
          <a:p>
            <a:pPr lvl="1">
              <a:spcAft>
                <a:spcPts val="600"/>
              </a:spcAft>
            </a:pPr>
            <a:r>
              <a:rPr lang="en-US" dirty="0" err="1"/>
              <a:t>Stereoaxis</a:t>
            </a:r>
            <a:r>
              <a:rPr lang="en-US" dirty="0"/>
              <a:t> is racemic (mixture of both enantiomers)</a:t>
            </a:r>
          </a:p>
          <a:p>
            <a:r>
              <a:rPr lang="en-US" dirty="0"/>
              <a:t>SUCF (Use Chiral Flag)</a:t>
            </a:r>
          </a:p>
          <a:p>
            <a:pPr lvl="1"/>
            <a:r>
              <a:rPr lang="en-US" dirty="0"/>
              <a:t>With Chiral flag = absolute (here not valid)</a:t>
            </a:r>
          </a:p>
          <a:p>
            <a:pPr lvl="1"/>
            <a:r>
              <a:rPr lang="en-US" dirty="0"/>
              <a:t>Without Chiral flag = racemic</a:t>
            </a:r>
          </a:p>
          <a:p>
            <a:pPr lvl="1"/>
            <a:endParaRPr lang="en-US" dirty="0"/>
          </a:p>
          <a:p>
            <a:pPr lvl="1"/>
            <a:endParaRPr lang="en-US" dirty="0"/>
          </a:p>
        </p:txBody>
      </p:sp>
      <p:graphicFrame>
        <p:nvGraphicFramePr>
          <p:cNvPr id="4" name="Tabelle 3">
            <a:extLst>
              <a:ext uri="{FF2B5EF4-FFF2-40B4-BE49-F238E27FC236}">
                <a16:creationId xmlns:a16="http://schemas.microsoft.com/office/drawing/2014/main" id="{6F3A739A-5211-4698-DBAA-BA39B2CBB3E2}"/>
              </a:ext>
            </a:extLst>
          </p:cNvPr>
          <p:cNvGraphicFramePr>
            <a:graphicFrameLocks noGrp="1"/>
          </p:cNvGraphicFramePr>
          <p:nvPr>
            <p:extLst>
              <p:ext uri="{D42A27DB-BD31-4B8C-83A1-F6EECF244321}">
                <p14:modId xmlns:p14="http://schemas.microsoft.com/office/powerpoint/2010/main" val="1668645070"/>
              </p:ext>
            </p:extLst>
          </p:nvPr>
        </p:nvGraphicFramePr>
        <p:xfrm>
          <a:off x="6592389" y="1662384"/>
          <a:ext cx="5318040" cy="4726093"/>
        </p:xfrm>
        <a:graphic>
          <a:graphicData uri="http://schemas.openxmlformats.org/drawingml/2006/table">
            <a:tbl>
              <a:tblPr firstRow="1" bandRow="1">
                <a:tableStyleId>{5C22544A-7EE6-4342-B048-85BDC9FD1C3A}</a:tableStyleId>
              </a:tblPr>
              <a:tblGrid>
                <a:gridCol w="2659020">
                  <a:extLst>
                    <a:ext uri="{9D8B030D-6E8A-4147-A177-3AD203B41FA5}">
                      <a16:colId xmlns:a16="http://schemas.microsoft.com/office/drawing/2014/main" val="3341917300"/>
                    </a:ext>
                  </a:extLst>
                </a:gridCol>
                <a:gridCol w="2659020">
                  <a:extLst>
                    <a:ext uri="{9D8B030D-6E8A-4147-A177-3AD203B41FA5}">
                      <a16:colId xmlns:a16="http://schemas.microsoft.com/office/drawing/2014/main" val="1085145345"/>
                    </a:ext>
                  </a:extLst>
                </a:gridCol>
              </a:tblGrid>
              <a:tr h="866303">
                <a:tc>
                  <a:txBody>
                    <a:bodyPr/>
                    <a:lstStyle/>
                    <a:p>
                      <a:endParaRPr lang="en-US" dirty="0"/>
                    </a:p>
                  </a:txBody>
                  <a:tcPr/>
                </a:tc>
                <a:tc>
                  <a:txBody>
                    <a:bodyPr/>
                    <a:lstStyle/>
                    <a:p>
                      <a:endParaRPr lang="en-US"/>
                    </a:p>
                  </a:txBody>
                  <a:tcPr/>
                </a:tc>
                <a:extLst>
                  <a:ext uri="{0D108BD9-81ED-4DB2-BD59-A6C34878D82A}">
                    <a16:rowId xmlns:a16="http://schemas.microsoft.com/office/drawing/2014/main" val="3426913535"/>
                  </a:ext>
                </a:extLst>
              </a:tr>
              <a:tr h="878335">
                <a:tc>
                  <a:txBody>
                    <a:bodyPr/>
                    <a:lstStyle/>
                    <a:p>
                      <a:r>
                        <a:rPr lang="pt-BR" sz="1800" kern="1200" dirty="0">
                          <a:solidFill>
                            <a:schemeClr val="dk1"/>
                          </a:solidFill>
                          <a:effectLst/>
                          <a:latin typeface="+mn-lt"/>
                          <a:ea typeface="+mn-ea"/>
                          <a:cs typeface="+mn-cs"/>
                        </a:rPr>
                        <a:t>InChI=1S/C4H3BrClF/c1-3(6)2-4(5)7/h1H3</a:t>
                      </a:r>
                      <a:r>
                        <a:rPr lang="pt-BR" sz="1800" b="1" kern="1200" dirty="0">
                          <a:solidFill>
                            <a:schemeClr val="dk1"/>
                          </a:solidFill>
                          <a:effectLst/>
                          <a:latin typeface="+mn-lt"/>
                          <a:ea typeface="+mn-ea"/>
                          <a:cs typeface="+mn-cs"/>
                        </a:rPr>
                        <a:t>/t2-/m0/s1</a:t>
                      </a:r>
                    </a:p>
                  </a:txBody>
                  <a:tcPr/>
                </a:tc>
                <a:tc>
                  <a:txBody>
                    <a:bodyPr/>
                    <a:lstStyle/>
                    <a:p>
                      <a:r>
                        <a:rPr lang="pt-BR" sz="1800" kern="1200" dirty="0">
                          <a:solidFill>
                            <a:schemeClr val="dk1"/>
                          </a:solidFill>
                          <a:effectLst/>
                          <a:latin typeface="+mn-lt"/>
                          <a:ea typeface="+mn-ea"/>
                          <a:cs typeface="+mn-cs"/>
                        </a:rPr>
                        <a:t>InChI=1S/C4H3BrClF/c1-3(6)2-4(5)7/h1H3</a:t>
                      </a:r>
                      <a:r>
                        <a:rPr lang="pt-BR" sz="1800" b="1" kern="1200" dirty="0">
                          <a:solidFill>
                            <a:schemeClr val="dk1"/>
                          </a:solidFill>
                          <a:effectLst/>
                          <a:latin typeface="+mn-lt"/>
                          <a:ea typeface="+mn-ea"/>
                          <a:cs typeface="+mn-cs"/>
                        </a:rPr>
                        <a:t>/t2-/m1/s1</a:t>
                      </a:r>
                    </a:p>
                  </a:txBody>
                  <a:tcPr/>
                </a:tc>
                <a:extLst>
                  <a:ext uri="{0D108BD9-81ED-4DB2-BD59-A6C34878D82A}">
                    <a16:rowId xmlns:a16="http://schemas.microsoft.com/office/drawing/2014/main" val="308466461"/>
                  </a:ext>
                </a:extLst>
              </a:tr>
              <a:tr h="878335">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/t2-/s2</a:t>
                      </a:r>
                    </a:p>
                  </a:txBody>
                  <a:tcPr/>
                </a:tc>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/t2-/s2</a:t>
                      </a:r>
                    </a:p>
                  </a:txBody>
                  <a:tcPr/>
                </a:tc>
                <a:extLst>
                  <a:ext uri="{0D108BD9-81ED-4DB2-BD59-A6C34878D82A}">
                    <a16:rowId xmlns:a16="http://schemas.microsoft.com/office/drawing/2014/main" val="3125003825"/>
                  </a:ext>
                </a:extLst>
              </a:tr>
              <a:tr h="878335">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/t2-/s3</a:t>
                      </a:r>
                    </a:p>
                  </a:txBody>
                  <a:tcPr/>
                </a:tc>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/t2-/s3</a:t>
                      </a:r>
                    </a:p>
                  </a:txBody>
                  <a:tcPr/>
                </a:tc>
                <a:extLst>
                  <a:ext uri="{0D108BD9-81ED-4DB2-BD59-A6C34878D82A}">
                    <a16:rowId xmlns:a16="http://schemas.microsoft.com/office/drawing/2014/main" val="2302148525"/>
                  </a:ext>
                </a:extLst>
              </a:tr>
              <a:tr h="878335">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/t2-/s2</a:t>
                      </a:r>
                    </a:p>
                    <a:p>
                      <a:r>
                        <a:rPr lang="pt-BR" sz="1800" b="0" dirty="0"/>
                        <a:t>(Chiral flag not valid, should be s3 without flag)</a:t>
                      </a:r>
                      <a:endParaRPr lang="en-US" sz="1800" b="0" dirty="0"/>
                    </a:p>
                  </a:txBody>
                  <a:tcPr/>
                </a:tc>
                <a:tc>
                  <a:txBody>
                    <a:bodyPr/>
                    <a:lstStyle/>
                    <a:p>
                      <a:r>
                        <a:rPr lang="pt-BR" sz="1800" kern="1200" dirty="0">
                          <a:solidFill>
                            <a:schemeClr val="dk1"/>
                          </a:solidFill>
                          <a:effectLst/>
                          <a:latin typeface="+mn-lt"/>
                          <a:ea typeface="+mn-ea"/>
                          <a:cs typeface="+mn-cs"/>
                        </a:rPr>
                        <a:t>InChI=1/C4H3BrClF/c1-3(6)2-4(5)7/h1H3</a:t>
                      </a:r>
                      <a:r>
                        <a:rPr lang="pt-BR" sz="1800" b="1" kern="1200" dirty="0">
                          <a:solidFill>
                            <a:schemeClr val="dk1"/>
                          </a:solidFill>
                          <a:effectLst/>
                          <a:latin typeface="+mn-lt"/>
                          <a:ea typeface="+mn-ea"/>
                          <a:cs typeface="+mn-cs"/>
                        </a:rPr>
                        <a:t>/t2-/s2</a:t>
                      </a:r>
                    </a:p>
                    <a:p>
                      <a:r>
                        <a:rPr lang="pt-BR" sz="1800" b="0" dirty="0"/>
                        <a:t>(Chiral flag not valid, should be s3 without flag)</a:t>
                      </a:r>
                      <a:endParaRPr lang="en-US" sz="1800" b="0" dirty="0"/>
                    </a:p>
                  </a:txBody>
                  <a:tcPr/>
                </a:tc>
                <a:extLst>
                  <a:ext uri="{0D108BD9-81ED-4DB2-BD59-A6C34878D82A}">
                    <a16:rowId xmlns:a16="http://schemas.microsoft.com/office/drawing/2014/main" val="2847527807"/>
                  </a:ext>
                </a:extLst>
              </a:tr>
            </a:tbl>
          </a:graphicData>
        </a:graphic>
      </p:graphicFrame>
      <p:pic>
        <p:nvPicPr>
          <p:cNvPr id="6" name="Grafik 5">
            <a:extLst>
              <a:ext uri="{FF2B5EF4-FFF2-40B4-BE49-F238E27FC236}">
                <a16:creationId xmlns:a16="http://schemas.microsoft.com/office/drawing/2014/main" id="{79357291-C02A-63EA-061C-C095ABA94DD7}"/>
              </a:ext>
            </a:extLst>
          </p:cNvPr>
          <p:cNvPicPr>
            <a:picLocks noChangeAspect="1"/>
          </p:cNvPicPr>
          <p:nvPr/>
        </p:nvPicPr>
        <p:blipFill>
          <a:blip r:embed="rId2"/>
          <a:stretch>
            <a:fillRect/>
          </a:stretch>
        </p:blipFill>
        <p:spPr>
          <a:xfrm>
            <a:off x="7255428" y="1708617"/>
            <a:ext cx="1188009" cy="768246"/>
          </a:xfrm>
          <a:prstGeom prst="rect">
            <a:avLst/>
          </a:prstGeom>
        </p:spPr>
      </p:pic>
      <p:pic>
        <p:nvPicPr>
          <p:cNvPr id="9" name="Grafik 8">
            <a:extLst>
              <a:ext uri="{FF2B5EF4-FFF2-40B4-BE49-F238E27FC236}">
                <a16:creationId xmlns:a16="http://schemas.microsoft.com/office/drawing/2014/main" id="{372541BF-3A6A-1F43-5601-108336EE88D2}"/>
              </a:ext>
            </a:extLst>
          </p:cNvPr>
          <p:cNvPicPr>
            <a:picLocks noChangeAspect="1"/>
          </p:cNvPicPr>
          <p:nvPr/>
        </p:nvPicPr>
        <p:blipFill>
          <a:blip r:embed="rId3"/>
          <a:stretch>
            <a:fillRect/>
          </a:stretch>
        </p:blipFill>
        <p:spPr>
          <a:xfrm>
            <a:off x="10030450" y="1708617"/>
            <a:ext cx="1188009" cy="768246"/>
          </a:xfrm>
          <a:prstGeom prst="rect">
            <a:avLst/>
          </a:prstGeom>
        </p:spPr>
      </p:pic>
    </p:spTree>
    <p:extLst>
      <p:ext uri="{BB962C8B-B14F-4D97-AF65-F5344CB8AC3E}">
        <p14:creationId xmlns:p14="http://schemas.microsoft.com/office/powerpoint/2010/main" val="186452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2A7CE-4866-CE76-0215-2E405AE067B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2575D5A-E841-DC62-5374-66BB414808E4}"/>
              </a:ext>
            </a:extLst>
          </p:cNvPr>
          <p:cNvSpPr>
            <a:spLocks noGrp="1"/>
          </p:cNvSpPr>
          <p:nvPr>
            <p:ph type="title"/>
          </p:nvPr>
        </p:nvSpPr>
        <p:spPr/>
        <p:txBody>
          <a:bodyPr/>
          <a:lstStyle/>
          <a:p>
            <a:r>
              <a:rPr lang="en-US" dirty="0"/>
              <a:t>Enhanced stereochemistry - allenes</a:t>
            </a:r>
          </a:p>
        </p:txBody>
      </p:sp>
      <p:graphicFrame>
        <p:nvGraphicFramePr>
          <p:cNvPr id="4" name="Inhaltsplatzhalter 3">
            <a:extLst>
              <a:ext uri="{FF2B5EF4-FFF2-40B4-BE49-F238E27FC236}">
                <a16:creationId xmlns:a16="http://schemas.microsoft.com/office/drawing/2014/main" id="{D42B30DF-2889-00AF-3A40-B50791037EC9}"/>
              </a:ext>
            </a:extLst>
          </p:cNvPr>
          <p:cNvGraphicFramePr>
            <a:graphicFrameLocks noGrp="1"/>
          </p:cNvGraphicFramePr>
          <p:nvPr>
            <p:ph idx="1"/>
            <p:extLst>
              <p:ext uri="{D42A27DB-BD31-4B8C-83A1-F6EECF244321}">
                <p14:modId xmlns:p14="http://schemas.microsoft.com/office/powerpoint/2010/main" val="3961806910"/>
              </p:ext>
            </p:extLst>
          </p:nvPr>
        </p:nvGraphicFramePr>
        <p:xfrm>
          <a:off x="838199" y="1690687"/>
          <a:ext cx="11200779" cy="3809270"/>
        </p:xfrm>
        <a:graphic>
          <a:graphicData uri="http://schemas.openxmlformats.org/drawingml/2006/table">
            <a:tbl>
              <a:tblPr firstRow="1" bandRow="1">
                <a:tableStyleId>{5C22544A-7EE6-4342-B048-85BDC9FD1C3A}</a:tableStyleId>
              </a:tblPr>
              <a:tblGrid>
                <a:gridCol w="2240156">
                  <a:extLst>
                    <a:ext uri="{9D8B030D-6E8A-4147-A177-3AD203B41FA5}">
                      <a16:colId xmlns:a16="http://schemas.microsoft.com/office/drawing/2014/main" val="287185313"/>
                    </a:ext>
                  </a:extLst>
                </a:gridCol>
                <a:gridCol w="1641347">
                  <a:extLst>
                    <a:ext uri="{9D8B030D-6E8A-4147-A177-3AD203B41FA5}">
                      <a16:colId xmlns:a16="http://schemas.microsoft.com/office/drawing/2014/main" val="1423090391"/>
                    </a:ext>
                  </a:extLst>
                </a:gridCol>
                <a:gridCol w="1625530">
                  <a:extLst>
                    <a:ext uri="{9D8B030D-6E8A-4147-A177-3AD203B41FA5}">
                      <a16:colId xmlns:a16="http://schemas.microsoft.com/office/drawing/2014/main" val="4036090240"/>
                    </a:ext>
                  </a:extLst>
                </a:gridCol>
                <a:gridCol w="2847973">
                  <a:extLst>
                    <a:ext uri="{9D8B030D-6E8A-4147-A177-3AD203B41FA5}">
                      <a16:colId xmlns:a16="http://schemas.microsoft.com/office/drawing/2014/main" val="2474538591"/>
                    </a:ext>
                  </a:extLst>
                </a:gridCol>
                <a:gridCol w="2845773">
                  <a:extLst>
                    <a:ext uri="{9D8B030D-6E8A-4147-A177-3AD203B41FA5}">
                      <a16:colId xmlns:a16="http://schemas.microsoft.com/office/drawing/2014/main" val="2516578195"/>
                    </a:ext>
                  </a:extLst>
                </a:gridCol>
              </a:tblGrid>
              <a:tr h="494703">
                <a:tc>
                  <a:txBody>
                    <a:bodyPr/>
                    <a:lstStyle/>
                    <a:p>
                      <a:endParaRPr lang="en-US"/>
                    </a:p>
                  </a:txBody>
                  <a:tcPr/>
                </a:tc>
                <a:tc gridSpan="2">
                  <a:txBody>
                    <a:bodyPr/>
                    <a:lstStyle/>
                    <a:p>
                      <a:pPr algn="ctr"/>
                      <a:r>
                        <a:rPr lang="en-US" dirty="0"/>
                        <a:t>Drawings</a:t>
                      </a:r>
                    </a:p>
                  </a:txBody>
                  <a:tcPr/>
                </a:tc>
                <a:tc hMerge="1">
                  <a:txBody>
                    <a:bodyPr/>
                    <a:lstStyle/>
                    <a:p>
                      <a:endParaRPr lang="en-US" dirty="0"/>
                    </a:p>
                  </a:txBody>
                  <a:tcPr/>
                </a:tc>
                <a:tc gridSpan="2">
                  <a:txBody>
                    <a:bodyPr/>
                    <a:lstStyle/>
                    <a:p>
                      <a:pPr algn="ctr"/>
                      <a:r>
                        <a:rPr lang="en-US" dirty="0"/>
                        <a:t>Interpretation</a:t>
                      </a:r>
                    </a:p>
                  </a:txBody>
                  <a:tcPr/>
                </a:tc>
                <a:tc hMerge="1">
                  <a:txBody>
                    <a:bodyPr/>
                    <a:lstStyle/>
                    <a:p>
                      <a:endParaRPr lang="en-US" dirty="0"/>
                    </a:p>
                  </a:txBody>
                  <a:tcPr/>
                </a:tc>
                <a:extLst>
                  <a:ext uri="{0D108BD9-81ED-4DB2-BD59-A6C34878D82A}">
                    <a16:rowId xmlns:a16="http://schemas.microsoft.com/office/drawing/2014/main" val="203244659"/>
                  </a:ext>
                </a:extLst>
              </a:tr>
              <a:tr h="1115159">
                <a:tc>
                  <a:txBody>
                    <a:bodyPr/>
                    <a:lstStyle/>
                    <a:p>
                      <a:r>
                        <a:rPr lang="en-US" dirty="0"/>
                        <a:t>Absolutely known enantiomer </a:t>
                      </a:r>
                    </a:p>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7394596"/>
                  </a:ext>
                </a:extLst>
              </a:tr>
              <a:tr h="1099704">
                <a:tc>
                  <a:txBody>
                    <a:bodyPr/>
                    <a:lstStyle/>
                    <a:p>
                      <a:r>
                        <a:rPr lang="en-US" dirty="0"/>
                        <a:t>Pure but unknown enantiomer</a:t>
                      </a:r>
                    </a:p>
                  </a:txBody>
                  <a:tcPr/>
                </a:tc>
                <a:tc>
                  <a:txBody>
                    <a:bodyPr/>
                    <a:lstStyle/>
                    <a:p>
                      <a:endParaRPr lang="en-US" dirty="0"/>
                    </a:p>
                  </a:txBody>
                  <a:tcPr/>
                </a:tc>
                <a:tc>
                  <a:txBody>
                    <a:bodyPr/>
                    <a:lstStyle/>
                    <a:p>
                      <a:endParaRPr lang="en-US" dirty="0"/>
                    </a:p>
                  </a:txBody>
                  <a:tcPr/>
                </a:tc>
                <a:tc gridSpan="2">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106681907"/>
                  </a:ext>
                </a:extLst>
              </a:tr>
              <a:tr h="1099704">
                <a:tc>
                  <a:txBody>
                    <a:bodyPr/>
                    <a:lstStyle/>
                    <a:p>
                      <a:r>
                        <a:rPr lang="en-US" dirty="0"/>
                        <a:t>(Racemic) mixture of enantiomers</a:t>
                      </a:r>
                    </a:p>
                  </a:txBody>
                  <a:tcPr/>
                </a:tc>
                <a:tc>
                  <a:txBody>
                    <a:bodyPr/>
                    <a:lstStyle/>
                    <a:p>
                      <a:endParaRPr lang="en-US"/>
                    </a:p>
                  </a:txBody>
                  <a:tcPr/>
                </a:tc>
                <a:tc>
                  <a:txBody>
                    <a:bodyPr/>
                    <a:lstStyle/>
                    <a:p>
                      <a:endParaRPr lang="en-US"/>
                    </a:p>
                  </a:txBody>
                  <a:tcPr/>
                </a:tc>
                <a:tc gridSpan="2">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170398609"/>
                  </a:ext>
                </a:extLst>
              </a:tr>
            </a:tbl>
          </a:graphicData>
        </a:graphic>
      </p:graphicFrame>
      <p:sp>
        <p:nvSpPr>
          <p:cNvPr id="21" name="Textfeld 20">
            <a:extLst>
              <a:ext uri="{FF2B5EF4-FFF2-40B4-BE49-F238E27FC236}">
                <a16:creationId xmlns:a16="http://schemas.microsoft.com/office/drawing/2014/main" id="{2529D5BF-57D6-2C26-4F3A-9B7C22B616EC}"/>
              </a:ext>
            </a:extLst>
          </p:cNvPr>
          <p:cNvSpPr txBox="1"/>
          <p:nvPr/>
        </p:nvSpPr>
        <p:spPr>
          <a:xfrm>
            <a:off x="7803317" y="3661105"/>
            <a:ext cx="386644" cy="369332"/>
          </a:xfrm>
          <a:prstGeom prst="rect">
            <a:avLst/>
          </a:prstGeom>
          <a:noFill/>
        </p:spPr>
        <p:txBody>
          <a:bodyPr wrap="none" rtlCol="0">
            <a:spAutoFit/>
          </a:bodyPr>
          <a:lstStyle/>
          <a:p>
            <a:r>
              <a:rPr lang="en-US" dirty="0"/>
              <a:t>or</a:t>
            </a:r>
          </a:p>
        </p:txBody>
      </p:sp>
      <p:sp>
        <p:nvSpPr>
          <p:cNvPr id="24" name="Textfeld 23">
            <a:extLst>
              <a:ext uri="{FF2B5EF4-FFF2-40B4-BE49-F238E27FC236}">
                <a16:creationId xmlns:a16="http://schemas.microsoft.com/office/drawing/2014/main" id="{16FA5ACA-85CE-87DB-0A76-5D1F83F9A19F}"/>
              </a:ext>
            </a:extLst>
          </p:cNvPr>
          <p:cNvSpPr txBox="1"/>
          <p:nvPr/>
        </p:nvSpPr>
        <p:spPr>
          <a:xfrm>
            <a:off x="7830074" y="4802758"/>
            <a:ext cx="538930" cy="369332"/>
          </a:xfrm>
          <a:prstGeom prst="rect">
            <a:avLst/>
          </a:prstGeom>
          <a:noFill/>
        </p:spPr>
        <p:txBody>
          <a:bodyPr wrap="none" rtlCol="0">
            <a:spAutoFit/>
          </a:bodyPr>
          <a:lstStyle/>
          <a:p>
            <a:r>
              <a:rPr lang="en-US" dirty="0"/>
              <a:t>and</a:t>
            </a:r>
          </a:p>
        </p:txBody>
      </p:sp>
      <p:sp>
        <p:nvSpPr>
          <p:cNvPr id="25" name="Textfeld 24">
            <a:extLst>
              <a:ext uri="{FF2B5EF4-FFF2-40B4-BE49-F238E27FC236}">
                <a16:creationId xmlns:a16="http://schemas.microsoft.com/office/drawing/2014/main" id="{54565F86-4852-8F52-F448-4F665DAA766D}"/>
              </a:ext>
            </a:extLst>
          </p:cNvPr>
          <p:cNvSpPr txBox="1"/>
          <p:nvPr/>
        </p:nvSpPr>
        <p:spPr>
          <a:xfrm>
            <a:off x="10621586" y="2227762"/>
            <a:ext cx="1428729" cy="954107"/>
          </a:xfrm>
          <a:prstGeom prst="rect">
            <a:avLst/>
          </a:prstGeom>
          <a:noFill/>
        </p:spPr>
        <p:txBody>
          <a:bodyPr wrap="square" rtlCol="0">
            <a:spAutoFit/>
          </a:bodyPr>
          <a:lstStyle/>
          <a:p>
            <a:r>
              <a:rPr lang="pt-BR" sz="1400" dirty="0"/>
              <a:t>InChI=1S/C4H3BrClF/c1-3(6)2-4(5)7/h1H3/t2-/m0/s1</a:t>
            </a:r>
          </a:p>
        </p:txBody>
      </p:sp>
      <p:sp>
        <p:nvSpPr>
          <p:cNvPr id="26" name="Textfeld 25">
            <a:extLst>
              <a:ext uri="{FF2B5EF4-FFF2-40B4-BE49-F238E27FC236}">
                <a16:creationId xmlns:a16="http://schemas.microsoft.com/office/drawing/2014/main" id="{6F931A78-8EBF-A266-111E-50EB4DBAE151}"/>
              </a:ext>
            </a:extLst>
          </p:cNvPr>
          <p:cNvSpPr txBox="1"/>
          <p:nvPr/>
        </p:nvSpPr>
        <p:spPr>
          <a:xfrm>
            <a:off x="7846795" y="2237404"/>
            <a:ext cx="1389695" cy="954107"/>
          </a:xfrm>
          <a:prstGeom prst="rect">
            <a:avLst/>
          </a:prstGeom>
          <a:noFill/>
        </p:spPr>
        <p:txBody>
          <a:bodyPr wrap="square" rtlCol="0">
            <a:spAutoFit/>
          </a:bodyPr>
          <a:lstStyle/>
          <a:p>
            <a:r>
              <a:rPr lang="pt-BR" sz="1400" dirty="0"/>
              <a:t>InChI=1S/C4H3BrClF/c1-3(6)2-4(5)7/h1H3/t2-/m1/s1</a:t>
            </a:r>
          </a:p>
        </p:txBody>
      </p:sp>
      <p:sp>
        <p:nvSpPr>
          <p:cNvPr id="27" name="Textfeld 26">
            <a:extLst>
              <a:ext uri="{FF2B5EF4-FFF2-40B4-BE49-F238E27FC236}">
                <a16:creationId xmlns:a16="http://schemas.microsoft.com/office/drawing/2014/main" id="{794C3CFC-AB5E-CD4E-8F92-C8B4B74A43F4}"/>
              </a:ext>
            </a:extLst>
          </p:cNvPr>
          <p:cNvSpPr txBox="1"/>
          <p:nvPr/>
        </p:nvSpPr>
        <p:spPr>
          <a:xfrm>
            <a:off x="9946366" y="3471961"/>
            <a:ext cx="1915886" cy="738664"/>
          </a:xfrm>
          <a:prstGeom prst="rect">
            <a:avLst/>
          </a:prstGeom>
          <a:noFill/>
        </p:spPr>
        <p:txBody>
          <a:bodyPr wrap="square" rtlCol="0">
            <a:spAutoFit/>
          </a:bodyPr>
          <a:lstStyle/>
          <a:p>
            <a:r>
              <a:rPr lang="pt-BR" sz="1400" dirty="0"/>
              <a:t>InChI=1S/C4H3BrClF/c1-3(6)2-4(5)7/h1H3/t2-/s2</a:t>
            </a:r>
          </a:p>
        </p:txBody>
      </p:sp>
      <p:sp>
        <p:nvSpPr>
          <p:cNvPr id="41" name="Textfeld 40">
            <a:extLst>
              <a:ext uri="{FF2B5EF4-FFF2-40B4-BE49-F238E27FC236}">
                <a16:creationId xmlns:a16="http://schemas.microsoft.com/office/drawing/2014/main" id="{D493815D-E70A-4B0E-27C9-D0D2C7FD6985}"/>
              </a:ext>
            </a:extLst>
          </p:cNvPr>
          <p:cNvSpPr txBox="1"/>
          <p:nvPr/>
        </p:nvSpPr>
        <p:spPr>
          <a:xfrm>
            <a:off x="10010935" y="4573205"/>
            <a:ext cx="1915886" cy="738664"/>
          </a:xfrm>
          <a:prstGeom prst="rect">
            <a:avLst/>
          </a:prstGeom>
          <a:noFill/>
        </p:spPr>
        <p:txBody>
          <a:bodyPr wrap="square" rtlCol="0">
            <a:spAutoFit/>
          </a:bodyPr>
          <a:lstStyle/>
          <a:p>
            <a:r>
              <a:rPr lang="pt-BR" sz="1400" dirty="0"/>
              <a:t>InChI=1S/C4H3BrClF/c1-3(6)2-4(5)7/h1H3/t2-/s3</a:t>
            </a:r>
          </a:p>
        </p:txBody>
      </p:sp>
      <p:pic>
        <p:nvPicPr>
          <p:cNvPr id="6" name="Grafik 5">
            <a:extLst>
              <a:ext uri="{FF2B5EF4-FFF2-40B4-BE49-F238E27FC236}">
                <a16:creationId xmlns:a16="http://schemas.microsoft.com/office/drawing/2014/main" id="{4503E0E1-DD83-1217-A677-476D41E4AEF7}"/>
              </a:ext>
            </a:extLst>
          </p:cNvPr>
          <p:cNvPicPr>
            <a:picLocks noChangeAspect="1"/>
          </p:cNvPicPr>
          <p:nvPr/>
        </p:nvPicPr>
        <p:blipFill>
          <a:blip r:embed="rId2"/>
          <a:stretch>
            <a:fillRect/>
          </a:stretch>
        </p:blipFill>
        <p:spPr>
          <a:xfrm>
            <a:off x="3163820" y="2257815"/>
            <a:ext cx="1428949" cy="924054"/>
          </a:xfrm>
          <a:prstGeom prst="rect">
            <a:avLst/>
          </a:prstGeom>
        </p:spPr>
      </p:pic>
      <p:pic>
        <p:nvPicPr>
          <p:cNvPr id="8" name="Grafik 7">
            <a:extLst>
              <a:ext uri="{FF2B5EF4-FFF2-40B4-BE49-F238E27FC236}">
                <a16:creationId xmlns:a16="http://schemas.microsoft.com/office/drawing/2014/main" id="{2B3C2F08-28E8-1DE3-5A21-7739A64A2CED}"/>
              </a:ext>
            </a:extLst>
          </p:cNvPr>
          <p:cNvPicPr>
            <a:picLocks noChangeAspect="1"/>
          </p:cNvPicPr>
          <p:nvPr/>
        </p:nvPicPr>
        <p:blipFill>
          <a:blip r:embed="rId2"/>
          <a:stretch>
            <a:fillRect/>
          </a:stretch>
        </p:blipFill>
        <p:spPr>
          <a:xfrm>
            <a:off x="6401771" y="2267457"/>
            <a:ext cx="1428949" cy="924054"/>
          </a:xfrm>
          <a:prstGeom prst="rect">
            <a:avLst/>
          </a:prstGeom>
        </p:spPr>
      </p:pic>
      <p:pic>
        <p:nvPicPr>
          <p:cNvPr id="11" name="Grafik 10">
            <a:extLst>
              <a:ext uri="{FF2B5EF4-FFF2-40B4-BE49-F238E27FC236}">
                <a16:creationId xmlns:a16="http://schemas.microsoft.com/office/drawing/2014/main" id="{4976A3A4-E404-DD39-042F-927964792962}"/>
              </a:ext>
            </a:extLst>
          </p:cNvPr>
          <p:cNvPicPr>
            <a:picLocks noChangeAspect="1"/>
          </p:cNvPicPr>
          <p:nvPr/>
        </p:nvPicPr>
        <p:blipFill>
          <a:blip r:embed="rId2"/>
          <a:stretch>
            <a:fillRect/>
          </a:stretch>
        </p:blipFill>
        <p:spPr>
          <a:xfrm>
            <a:off x="6417846" y="3373983"/>
            <a:ext cx="1428949" cy="924054"/>
          </a:xfrm>
          <a:prstGeom prst="rect">
            <a:avLst/>
          </a:prstGeom>
        </p:spPr>
      </p:pic>
      <p:pic>
        <p:nvPicPr>
          <p:cNvPr id="13" name="Grafik 12">
            <a:extLst>
              <a:ext uri="{FF2B5EF4-FFF2-40B4-BE49-F238E27FC236}">
                <a16:creationId xmlns:a16="http://schemas.microsoft.com/office/drawing/2014/main" id="{EB92EA86-C43D-9BC6-55AC-546A64CF2F7C}"/>
              </a:ext>
            </a:extLst>
          </p:cNvPr>
          <p:cNvPicPr>
            <a:picLocks noChangeAspect="1"/>
          </p:cNvPicPr>
          <p:nvPr/>
        </p:nvPicPr>
        <p:blipFill>
          <a:blip r:embed="rId2"/>
          <a:stretch>
            <a:fillRect/>
          </a:stretch>
        </p:blipFill>
        <p:spPr>
          <a:xfrm>
            <a:off x="6438588" y="4494646"/>
            <a:ext cx="1428949" cy="924054"/>
          </a:xfrm>
          <a:prstGeom prst="rect">
            <a:avLst/>
          </a:prstGeom>
        </p:spPr>
      </p:pic>
      <p:pic>
        <p:nvPicPr>
          <p:cNvPr id="15" name="Grafik 14">
            <a:extLst>
              <a:ext uri="{FF2B5EF4-FFF2-40B4-BE49-F238E27FC236}">
                <a16:creationId xmlns:a16="http://schemas.microsoft.com/office/drawing/2014/main" id="{24097F69-9FB5-FCEE-2E7E-D4D581311191}"/>
              </a:ext>
            </a:extLst>
          </p:cNvPr>
          <p:cNvPicPr>
            <a:picLocks noChangeAspect="1"/>
          </p:cNvPicPr>
          <p:nvPr/>
        </p:nvPicPr>
        <p:blipFill>
          <a:blip r:embed="rId3"/>
          <a:stretch>
            <a:fillRect/>
          </a:stretch>
        </p:blipFill>
        <p:spPr>
          <a:xfrm>
            <a:off x="9231891" y="2267457"/>
            <a:ext cx="1428949" cy="924054"/>
          </a:xfrm>
          <a:prstGeom prst="rect">
            <a:avLst/>
          </a:prstGeom>
        </p:spPr>
      </p:pic>
      <p:pic>
        <p:nvPicPr>
          <p:cNvPr id="17" name="Grafik 16">
            <a:extLst>
              <a:ext uri="{FF2B5EF4-FFF2-40B4-BE49-F238E27FC236}">
                <a16:creationId xmlns:a16="http://schemas.microsoft.com/office/drawing/2014/main" id="{A3068FF7-FF2C-69A9-02A1-A5C6E4D1CC99}"/>
              </a:ext>
            </a:extLst>
          </p:cNvPr>
          <p:cNvPicPr>
            <a:picLocks noChangeAspect="1"/>
          </p:cNvPicPr>
          <p:nvPr/>
        </p:nvPicPr>
        <p:blipFill>
          <a:blip r:embed="rId3"/>
          <a:stretch>
            <a:fillRect/>
          </a:stretch>
        </p:blipFill>
        <p:spPr>
          <a:xfrm>
            <a:off x="4782795" y="2257815"/>
            <a:ext cx="1428949" cy="924054"/>
          </a:xfrm>
          <a:prstGeom prst="rect">
            <a:avLst/>
          </a:prstGeom>
        </p:spPr>
      </p:pic>
      <p:pic>
        <p:nvPicPr>
          <p:cNvPr id="19" name="Grafik 18">
            <a:extLst>
              <a:ext uri="{FF2B5EF4-FFF2-40B4-BE49-F238E27FC236}">
                <a16:creationId xmlns:a16="http://schemas.microsoft.com/office/drawing/2014/main" id="{44DB8EE8-E288-1BDC-41BB-B3CC04208630}"/>
              </a:ext>
            </a:extLst>
          </p:cNvPr>
          <p:cNvPicPr>
            <a:picLocks noChangeAspect="1"/>
          </p:cNvPicPr>
          <p:nvPr/>
        </p:nvPicPr>
        <p:blipFill>
          <a:blip r:embed="rId3"/>
          <a:stretch>
            <a:fillRect/>
          </a:stretch>
        </p:blipFill>
        <p:spPr>
          <a:xfrm>
            <a:off x="8289612" y="3373983"/>
            <a:ext cx="1428949" cy="924054"/>
          </a:xfrm>
          <a:prstGeom prst="rect">
            <a:avLst/>
          </a:prstGeom>
        </p:spPr>
      </p:pic>
      <p:pic>
        <p:nvPicPr>
          <p:cNvPr id="22" name="Grafik 21">
            <a:extLst>
              <a:ext uri="{FF2B5EF4-FFF2-40B4-BE49-F238E27FC236}">
                <a16:creationId xmlns:a16="http://schemas.microsoft.com/office/drawing/2014/main" id="{5D1CD97F-3400-8E27-AF67-8E0FEEE0A11F}"/>
              </a:ext>
            </a:extLst>
          </p:cNvPr>
          <p:cNvPicPr>
            <a:picLocks noChangeAspect="1"/>
          </p:cNvPicPr>
          <p:nvPr/>
        </p:nvPicPr>
        <p:blipFill>
          <a:blip r:embed="rId3"/>
          <a:stretch>
            <a:fillRect/>
          </a:stretch>
        </p:blipFill>
        <p:spPr>
          <a:xfrm>
            <a:off x="8331541" y="4502359"/>
            <a:ext cx="1428949" cy="924054"/>
          </a:xfrm>
          <a:prstGeom prst="rect">
            <a:avLst/>
          </a:prstGeom>
        </p:spPr>
      </p:pic>
      <p:pic>
        <p:nvPicPr>
          <p:cNvPr id="28" name="Grafik 27">
            <a:extLst>
              <a:ext uri="{FF2B5EF4-FFF2-40B4-BE49-F238E27FC236}">
                <a16:creationId xmlns:a16="http://schemas.microsoft.com/office/drawing/2014/main" id="{D480CC94-4450-2F04-34DF-5F60641D7F45}"/>
              </a:ext>
            </a:extLst>
          </p:cNvPr>
          <p:cNvPicPr>
            <a:picLocks noChangeAspect="1"/>
          </p:cNvPicPr>
          <p:nvPr/>
        </p:nvPicPr>
        <p:blipFill>
          <a:blip r:embed="rId4"/>
          <a:stretch>
            <a:fillRect/>
          </a:stretch>
        </p:blipFill>
        <p:spPr>
          <a:xfrm>
            <a:off x="4794351" y="4478889"/>
            <a:ext cx="1225428" cy="960277"/>
          </a:xfrm>
          <a:prstGeom prst="rect">
            <a:avLst/>
          </a:prstGeom>
        </p:spPr>
      </p:pic>
      <p:pic>
        <p:nvPicPr>
          <p:cNvPr id="32" name="Grafik 31">
            <a:extLst>
              <a:ext uri="{FF2B5EF4-FFF2-40B4-BE49-F238E27FC236}">
                <a16:creationId xmlns:a16="http://schemas.microsoft.com/office/drawing/2014/main" id="{F8A9C9E0-70C6-F20B-7BCD-7B9D175D5CA0}"/>
              </a:ext>
            </a:extLst>
          </p:cNvPr>
          <p:cNvPicPr>
            <a:picLocks noChangeAspect="1"/>
          </p:cNvPicPr>
          <p:nvPr/>
        </p:nvPicPr>
        <p:blipFill>
          <a:blip r:embed="rId5"/>
          <a:stretch>
            <a:fillRect/>
          </a:stretch>
        </p:blipFill>
        <p:spPr>
          <a:xfrm>
            <a:off x="4821821" y="3350542"/>
            <a:ext cx="1186401" cy="975324"/>
          </a:xfrm>
          <a:prstGeom prst="rect">
            <a:avLst/>
          </a:prstGeom>
        </p:spPr>
      </p:pic>
      <p:pic>
        <p:nvPicPr>
          <p:cNvPr id="40" name="Grafik 39">
            <a:extLst>
              <a:ext uri="{FF2B5EF4-FFF2-40B4-BE49-F238E27FC236}">
                <a16:creationId xmlns:a16="http://schemas.microsoft.com/office/drawing/2014/main" id="{0CCA019D-392B-2395-65FE-435B5D919C23}"/>
              </a:ext>
            </a:extLst>
          </p:cNvPr>
          <p:cNvPicPr>
            <a:picLocks noChangeAspect="1"/>
          </p:cNvPicPr>
          <p:nvPr/>
        </p:nvPicPr>
        <p:blipFill>
          <a:blip r:embed="rId6"/>
          <a:stretch>
            <a:fillRect/>
          </a:stretch>
        </p:blipFill>
        <p:spPr>
          <a:xfrm>
            <a:off x="3218541" y="4491281"/>
            <a:ext cx="1225428" cy="960277"/>
          </a:xfrm>
          <a:prstGeom prst="rect">
            <a:avLst/>
          </a:prstGeom>
        </p:spPr>
      </p:pic>
      <p:pic>
        <p:nvPicPr>
          <p:cNvPr id="44" name="Grafik 43">
            <a:extLst>
              <a:ext uri="{FF2B5EF4-FFF2-40B4-BE49-F238E27FC236}">
                <a16:creationId xmlns:a16="http://schemas.microsoft.com/office/drawing/2014/main" id="{7D72F460-9F7D-6BC3-0386-B88419AF9753}"/>
              </a:ext>
            </a:extLst>
          </p:cNvPr>
          <p:cNvPicPr>
            <a:picLocks noChangeAspect="1"/>
          </p:cNvPicPr>
          <p:nvPr/>
        </p:nvPicPr>
        <p:blipFill>
          <a:blip r:embed="rId7"/>
          <a:stretch>
            <a:fillRect/>
          </a:stretch>
        </p:blipFill>
        <p:spPr>
          <a:xfrm>
            <a:off x="3218541" y="3350542"/>
            <a:ext cx="1186402" cy="975324"/>
          </a:xfrm>
          <a:prstGeom prst="rect">
            <a:avLst/>
          </a:prstGeom>
        </p:spPr>
      </p:pic>
    </p:spTree>
    <p:extLst>
      <p:ext uri="{BB962C8B-B14F-4D97-AF65-F5344CB8AC3E}">
        <p14:creationId xmlns:p14="http://schemas.microsoft.com/office/powerpoint/2010/main" val="2836447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2953D-D260-2D86-4000-02620C50AE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A373A8D-1AD4-0606-CA14-DBB61B699AFD}"/>
              </a:ext>
            </a:extLst>
          </p:cNvPr>
          <p:cNvSpPr>
            <a:spLocks noGrp="1"/>
          </p:cNvSpPr>
          <p:nvPr>
            <p:ph type="title"/>
          </p:nvPr>
        </p:nvSpPr>
        <p:spPr/>
        <p:txBody>
          <a:bodyPr/>
          <a:lstStyle/>
          <a:p>
            <a:r>
              <a:rPr lang="en-US" dirty="0"/>
              <a:t>Enhanced stereochemistry – allenes</a:t>
            </a:r>
          </a:p>
        </p:txBody>
      </p:sp>
      <p:sp>
        <p:nvSpPr>
          <p:cNvPr id="3" name="Inhaltsplatzhalter 2">
            <a:extLst>
              <a:ext uri="{FF2B5EF4-FFF2-40B4-BE49-F238E27FC236}">
                <a16:creationId xmlns:a16="http://schemas.microsoft.com/office/drawing/2014/main" id="{473912CE-9C6D-3236-92E6-8C31E35EFAB8}"/>
              </a:ext>
            </a:extLst>
          </p:cNvPr>
          <p:cNvSpPr>
            <a:spLocks noGrp="1"/>
          </p:cNvSpPr>
          <p:nvPr>
            <p:ph idx="1"/>
          </p:nvPr>
        </p:nvSpPr>
        <p:spPr/>
        <p:txBody>
          <a:bodyPr/>
          <a:lstStyle/>
          <a:p>
            <a:r>
              <a:rPr lang="en-US" dirty="0"/>
              <a:t>Pure known configuration</a:t>
            </a:r>
          </a:p>
        </p:txBody>
      </p:sp>
      <p:graphicFrame>
        <p:nvGraphicFramePr>
          <p:cNvPr id="8" name="Tabelle 7">
            <a:extLst>
              <a:ext uri="{FF2B5EF4-FFF2-40B4-BE49-F238E27FC236}">
                <a16:creationId xmlns:a16="http://schemas.microsoft.com/office/drawing/2014/main" id="{65BC9C53-ABAA-136D-4B2B-721839F76660}"/>
              </a:ext>
            </a:extLst>
          </p:cNvPr>
          <p:cNvGraphicFramePr>
            <a:graphicFrameLocks noGrp="1"/>
          </p:cNvGraphicFramePr>
          <p:nvPr>
            <p:extLst>
              <p:ext uri="{D42A27DB-BD31-4B8C-83A1-F6EECF244321}">
                <p14:modId xmlns:p14="http://schemas.microsoft.com/office/powerpoint/2010/main" val="1332115042"/>
              </p:ext>
            </p:extLst>
          </p:nvPr>
        </p:nvGraphicFramePr>
        <p:xfrm>
          <a:off x="1094406" y="2203304"/>
          <a:ext cx="10764091" cy="4090883"/>
        </p:xfrm>
        <a:graphic>
          <a:graphicData uri="http://schemas.openxmlformats.org/drawingml/2006/table">
            <a:tbl>
              <a:tblPr firstRow="1" bandRow="1">
                <a:tableStyleId>{5C22544A-7EE6-4342-B048-85BDC9FD1C3A}</a:tableStyleId>
              </a:tblPr>
              <a:tblGrid>
                <a:gridCol w="1673397">
                  <a:extLst>
                    <a:ext uri="{9D8B030D-6E8A-4147-A177-3AD203B41FA5}">
                      <a16:colId xmlns:a16="http://schemas.microsoft.com/office/drawing/2014/main" val="2881776543"/>
                    </a:ext>
                  </a:extLst>
                </a:gridCol>
                <a:gridCol w="3214469">
                  <a:extLst>
                    <a:ext uri="{9D8B030D-6E8A-4147-A177-3AD203B41FA5}">
                      <a16:colId xmlns:a16="http://schemas.microsoft.com/office/drawing/2014/main" val="1813599712"/>
                    </a:ext>
                  </a:extLst>
                </a:gridCol>
                <a:gridCol w="2614611">
                  <a:extLst>
                    <a:ext uri="{9D8B030D-6E8A-4147-A177-3AD203B41FA5}">
                      <a16:colId xmlns:a16="http://schemas.microsoft.com/office/drawing/2014/main" val="3997352813"/>
                    </a:ext>
                  </a:extLst>
                </a:gridCol>
                <a:gridCol w="3261614">
                  <a:extLst>
                    <a:ext uri="{9D8B030D-6E8A-4147-A177-3AD203B41FA5}">
                      <a16:colId xmlns:a16="http://schemas.microsoft.com/office/drawing/2014/main" val="3948548872"/>
                    </a:ext>
                  </a:extLst>
                </a:gridCol>
              </a:tblGrid>
              <a:tr h="481159">
                <a:tc>
                  <a:txBody>
                    <a:bodyPr/>
                    <a:lstStyle/>
                    <a:p>
                      <a:r>
                        <a:rPr lang="en-US" dirty="0"/>
                        <a:t>Drawing</a:t>
                      </a:r>
                    </a:p>
                  </a:txBody>
                  <a:tcPr/>
                </a:tc>
                <a:tc>
                  <a:txBody>
                    <a:bodyPr/>
                    <a:lstStyle/>
                    <a:p>
                      <a:r>
                        <a:rPr lang="en-US" dirty="0"/>
                        <a:t>V2 molfile</a:t>
                      </a:r>
                    </a:p>
                  </a:txBody>
                  <a:tcPr/>
                </a:tc>
                <a:tc>
                  <a:txBody>
                    <a:bodyPr/>
                    <a:lstStyle/>
                    <a:p>
                      <a:r>
                        <a:rPr lang="en-US" sz="800" dirty="0" err="1"/>
                        <a:t>Enh</a:t>
                      </a:r>
                      <a:r>
                        <a:rPr lang="en-US" sz="800" dirty="0"/>
                        <a:t>. Stereo: absolute (V3)</a:t>
                      </a:r>
                    </a:p>
                  </a:txBody>
                  <a:tcPr/>
                </a:tc>
                <a:tc>
                  <a:txBody>
                    <a:bodyPr/>
                    <a:lstStyle/>
                    <a:p>
                      <a:r>
                        <a:rPr lang="en-US" dirty="0"/>
                        <a:t>Notes</a:t>
                      </a:r>
                    </a:p>
                  </a:txBody>
                  <a:tcPr/>
                </a:tc>
                <a:extLst>
                  <a:ext uri="{0D108BD9-81ED-4DB2-BD59-A6C34878D82A}">
                    <a16:rowId xmlns:a16="http://schemas.microsoft.com/office/drawing/2014/main" val="2016881082"/>
                  </a:ext>
                </a:extLst>
              </a:tr>
              <a:tr h="3609724">
                <a:tc>
                  <a:txBody>
                    <a:bodyPr/>
                    <a:lstStyle/>
                    <a:p>
                      <a:endParaRPr lang="en-US" dirty="0"/>
                    </a:p>
                    <a:p>
                      <a:endParaRPr lang="en-US" dirty="0"/>
                    </a:p>
                    <a:p>
                      <a:endParaRPr lang="en-US" dirty="0"/>
                    </a:p>
                    <a:p>
                      <a:endParaRPr lang="en-US" dirty="0"/>
                    </a:p>
                    <a:p>
                      <a:pPr algn="ctr"/>
                      <a:r>
                        <a:rPr lang="pt-BR" sz="1400" kern="1200" dirty="0">
                          <a:solidFill>
                            <a:schemeClr val="dk1"/>
                          </a:solidFill>
                          <a:effectLst/>
                          <a:latin typeface="+mn-lt"/>
                          <a:ea typeface="+mn-ea"/>
                          <a:cs typeface="+mn-cs"/>
                        </a:rPr>
                        <a:t>or</a:t>
                      </a:r>
                    </a:p>
                    <a:p>
                      <a:endParaRPr lang="pt-BR" sz="1400" kern="1200" dirty="0">
                        <a:solidFill>
                          <a:schemeClr val="dk1"/>
                        </a:solidFill>
                        <a:effectLst/>
                        <a:latin typeface="+mn-lt"/>
                        <a:ea typeface="+mn-ea"/>
                        <a:cs typeface="+mn-cs"/>
                      </a:endParaRPr>
                    </a:p>
                    <a:p>
                      <a:endParaRPr lang="pt-BR" sz="1400" kern="1200" dirty="0">
                        <a:solidFill>
                          <a:schemeClr val="dk1"/>
                        </a:solidFill>
                        <a:effectLst/>
                        <a:latin typeface="+mn-lt"/>
                        <a:ea typeface="+mn-ea"/>
                        <a:cs typeface="+mn-cs"/>
                      </a:endParaRPr>
                    </a:p>
                    <a:p>
                      <a:endParaRPr lang="pt-BR" sz="1400" kern="1200" dirty="0">
                        <a:solidFill>
                          <a:schemeClr val="dk1"/>
                        </a:solidFill>
                        <a:effectLst/>
                        <a:latin typeface="+mn-lt"/>
                        <a:ea typeface="+mn-ea"/>
                        <a:cs typeface="+mn-cs"/>
                      </a:endParaRPr>
                    </a:p>
                    <a:p>
                      <a:endParaRPr lang="pt-BR" sz="1400" kern="1200" dirty="0">
                        <a:solidFill>
                          <a:schemeClr val="dk1"/>
                        </a:solidFill>
                        <a:effectLst/>
                        <a:latin typeface="+mn-lt"/>
                        <a:ea typeface="+mn-ea"/>
                        <a:cs typeface="+mn-cs"/>
                      </a:endParaRPr>
                    </a:p>
                    <a:p>
                      <a:endParaRPr lang="pt-BR" sz="1400" kern="1200" dirty="0">
                        <a:solidFill>
                          <a:schemeClr val="dk1"/>
                        </a:solidFill>
                        <a:effectLst/>
                        <a:latin typeface="+mn-lt"/>
                        <a:ea typeface="+mn-ea"/>
                        <a:cs typeface="+mn-cs"/>
                      </a:endParaRPr>
                    </a:p>
                    <a:p>
                      <a:endParaRPr lang="pt-BR" sz="1400" kern="1200" dirty="0">
                        <a:solidFill>
                          <a:schemeClr val="dk1"/>
                        </a:solidFill>
                        <a:effectLst/>
                        <a:latin typeface="+mn-lt"/>
                        <a:ea typeface="+mn-ea"/>
                        <a:cs typeface="+mn-cs"/>
                      </a:endParaRPr>
                    </a:p>
                    <a:p>
                      <a:r>
                        <a:rPr lang="pt-BR" sz="1400" dirty="0"/>
                        <a:t>InChI=1S/C4H3BrClF/c1-3(6)2-4(5)7 /h1H3/t2-/m1/s1</a:t>
                      </a:r>
                    </a:p>
                  </a:txBody>
                  <a:tcPr/>
                </a:tc>
                <a:tc>
                  <a:txBody>
                    <a:bodyPr/>
                    <a:lstStyle/>
                    <a:p>
                      <a:r>
                        <a:rPr lang="en-US" sz="800" dirty="0"/>
                        <a:t> </a:t>
                      </a:r>
                      <a:endParaRPr lang="da-DK" sz="800" dirty="0"/>
                    </a:p>
                    <a:p>
                      <a:r>
                        <a:rPr lang="da-DK" sz="800" dirty="0"/>
                        <a:t>  -ISIS-  07032617432D</a:t>
                      </a:r>
                    </a:p>
                    <a:p>
                      <a:endParaRPr lang="da-DK" sz="800" dirty="0"/>
                    </a:p>
                    <a:p>
                      <a:r>
                        <a:rPr lang="da-DK" sz="800" dirty="0"/>
                        <a:t>  7  6  0  0  </a:t>
                      </a:r>
                      <a:r>
                        <a:rPr lang="da-DK" sz="800" b="1" dirty="0">
                          <a:solidFill>
                            <a:srgbClr val="FF0000"/>
                          </a:solidFill>
                        </a:rPr>
                        <a:t>1</a:t>
                      </a:r>
                      <a:r>
                        <a:rPr lang="da-DK" sz="800" dirty="0"/>
                        <a:t>  0  0  0  0  0999 V2000</a:t>
                      </a:r>
                    </a:p>
                    <a:p>
                      <a:r>
                        <a:rPr lang="da-DK" sz="800" dirty="0"/>
                        <a:t>    0.0411   -0.2833    0.0000 Br  0  0  0  0  0  0  0  0  0  0  0  0</a:t>
                      </a:r>
                    </a:p>
                    <a:p>
                      <a:r>
                        <a:rPr lang="da-DK" sz="800" dirty="0"/>
                        <a:t>    0.6316    0.7395    0.0000 C   0  0  0  0  0  0  0  0  0  0  0  0</a:t>
                      </a:r>
                    </a:p>
                    <a:p>
                      <a:r>
                        <a:rPr lang="da-DK" sz="800" dirty="0"/>
                        <a:t>    1.8127    0.7395    0.0000 C   0  0  0  0  0  0  0  0  0  0  0  0</a:t>
                      </a:r>
                    </a:p>
                    <a:p>
                      <a:r>
                        <a:rPr lang="da-DK" sz="800" dirty="0"/>
                        <a:t>    2.9938    0.7395    0.0000 C   0  0  0  0  0  0  0  0  0  0  0  0</a:t>
                      </a:r>
                    </a:p>
                    <a:p>
                      <a:r>
                        <a:rPr lang="da-DK" sz="800" dirty="0"/>
                        <a:t>    3.5844    1.7624    0.0000 Cl  0  0  0  0  0  0  0  0  0  0  0  0</a:t>
                      </a:r>
                    </a:p>
                    <a:p>
                      <a:r>
                        <a:rPr lang="da-DK" sz="800" dirty="0"/>
                        <a:t>    3.5844   -0.2833    0.0000 C   0  0  0  0  0  0  0  0  0  0  0  0</a:t>
                      </a:r>
                    </a:p>
                    <a:p>
                      <a:r>
                        <a:rPr lang="da-DK" sz="800" dirty="0"/>
                        <a:t>    0.0411    1.7624    0.0000 F   0  0  0  0  0  0  0  0  0  0  0  0</a:t>
                      </a:r>
                    </a:p>
                    <a:p>
                      <a:r>
                        <a:rPr lang="da-DK" sz="800" dirty="0"/>
                        <a:t>  2  1  1  1  0  0  0</a:t>
                      </a:r>
                    </a:p>
                    <a:p>
                      <a:r>
                        <a:rPr lang="da-DK" sz="800" dirty="0"/>
                        <a:t>  2  3  2  0  0  0  0</a:t>
                      </a:r>
                    </a:p>
                    <a:p>
                      <a:r>
                        <a:rPr lang="da-DK" sz="800" dirty="0"/>
                        <a:t>  3  4  2  0  0  0  0</a:t>
                      </a:r>
                    </a:p>
                    <a:p>
                      <a:r>
                        <a:rPr lang="da-DK" sz="800" dirty="0"/>
                        <a:t>  4  5  1  1  0  0  0</a:t>
                      </a:r>
                    </a:p>
                    <a:p>
                      <a:r>
                        <a:rPr lang="da-DK" sz="800" dirty="0"/>
                        <a:t>  4  6  1  0  0  0  0</a:t>
                      </a:r>
                    </a:p>
                    <a:p>
                      <a:r>
                        <a:rPr lang="da-DK" sz="800" dirty="0"/>
                        <a:t>  2  7  1  0  0  0  0</a:t>
                      </a:r>
                    </a:p>
                    <a:p>
                      <a:r>
                        <a:rPr lang="da-DK" sz="800" dirty="0"/>
                        <a:t>M  END</a:t>
                      </a:r>
                      <a:endParaRPr lang="en-US" sz="800" dirty="0"/>
                    </a:p>
                  </a:txBody>
                  <a:tcPr/>
                </a:tc>
                <a:tc>
                  <a:txBody>
                    <a:bodyPr/>
                    <a:lstStyle/>
                    <a:p>
                      <a:endParaRPr lang="de-DE" sz="800" kern="1200" dirty="0">
                        <a:solidFill>
                          <a:schemeClr val="dk1"/>
                        </a:solidFill>
                        <a:latin typeface="+mn-lt"/>
                        <a:ea typeface="+mn-ea"/>
                        <a:cs typeface="+mn-cs"/>
                      </a:endParaRPr>
                    </a:p>
                    <a:p>
                      <a:r>
                        <a:rPr lang="de-DE" sz="800" kern="1200" dirty="0">
                          <a:solidFill>
                            <a:schemeClr val="dk1"/>
                          </a:solidFill>
                          <a:latin typeface="+mn-lt"/>
                          <a:ea typeface="+mn-ea"/>
                          <a:cs typeface="+mn-cs"/>
                        </a:rPr>
                        <a:t>  ACCLDraw07032617502D</a:t>
                      </a:r>
                    </a:p>
                    <a:p>
                      <a:endParaRPr lang="de-DE" sz="800" kern="1200" dirty="0">
                        <a:solidFill>
                          <a:schemeClr val="dk1"/>
                        </a:solidFill>
                        <a:latin typeface="+mn-lt"/>
                        <a:ea typeface="+mn-ea"/>
                        <a:cs typeface="+mn-cs"/>
                      </a:endParaRPr>
                    </a:p>
                    <a:p>
                      <a:r>
                        <a:rPr lang="de-DE" sz="800" kern="1200" dirty="0">
                          <a:solidFill>
                            <a:schemeClr val="dk1"/>
                          </a:solidFill>
                          <a:latin typeface="+mn-lt"/>
                          <a:ea typeface="+mn-ea"/>
                          <a:cs typeface="+mn-cs"/>
                        </a:rPr>
                        <a:t>  0  0  0     0  0            999 V3000</a:t>
                      </a:r>
                    </a:p>
                    <a:p>
                      <a:r>
                        <a:rPr lang="de-DE" sz="800" kern="1200" dirty="0">
                          <a:solidFill>
                            <a:schemeClr val="dk1"/>
                          </a:solidFill>
                          <a:latin typeface="+mn-lt"/>
                          <a:ea typeface="+mn-ea"/>
                          <a:cs typeface="+mn-cs"/>
                        </a:rPr>
                        <a:t>M  V30 BEGIN CTAB</a:t>
                      </a:r>
                    </a:p>
                    <a:p>
                      <a:r>
                        <a:rPr lang="en-US" sz="800" kern="1200" dirty="0">
                          <a:solidFill>
                            <a:schemeClr val="dk1"/>
                          </a:solidFill>
                          <a:latin typeface="+mn-lt"/>
                          <a:ea typeface="+mn-ea"/>
                          <a:cs typeface="+mn-cs"/>
                        </a:rPr>
                        <a:t>M  V30 COUNTS 7 6 0 0 1</a:t>
                      </a:r>
                    </a:p>
                    <a:p>
                      <a:r>
                        <a:rPr lang="de-DE" sz="800" kern="1200" dirty="0">
                          <a:solidFill>
                            <a:schemeClr val="dk1"/>
                          </a:solidFill>
                          <a:latin typeface="+mn-lt"/>
                          <a:ea typeface="+mn-ea"/>
                          <a:cs typeface="+mn-cs"/>
                        </a:rPr>
                        <a:t>M  V30 BEGIN ATOM</a:t>
                      </a:r>
                    </a:p>
                    <a:p>
                      <a:r>
                        <a:rPr lang="de-DE" sz="800" kern="1200" dirty="0">
                          <a:solidFill>
                            <a:schemeClr val="dk1"/>
                          </a:solidFill>
                          <a:latin typeface="+mn-lt"/>
                          <a:ea typeface="+mn-ea"/>
                          <a:cs typeface="+mn-cs"/>
                        </a:rPr>
                        <a:t>M  V30 1 C 5.7812 -4.0938 0 0 </a:t>
                      </a:r>
                    </a:p>
                    <a:p>
                      <a:r>
                        <a:rPr lang="de-DE" sz="800" kern="1200" dirty="0">
                          <a:solidFill>
                            <a:schemeClr val="dk1"/>
                          </a:solidFill>
                          <a:latin typeface="+mn-lt"/>
                          <a:ea typeface="+mn-ea"/>
                          <a:cs typeface="+mn-cs"/>
                        </a:rPr>
                        <a:t>M  V30 2 C 4.6005 -4.0938 0 0 </a:t>
                      </a:r>
                    </a:p>
                    <a:p>
                      <a:r>
                        <a:rPr lang="de-DE" sz="800" kern="1200" dirty="0">
                          <a:solidFill>
                            <a:schemeClr val="dk1"/>
                          </a:solidFill>
                          <a:latin typeface="+mn-lt"/>
                          <a:ea typeface="+mn-ea"/>
                          <a:cs typeface="+mn-cs"/>
                        </a:rPr>
                        <a:t>M  V30 3 C 6.9621 -4.0938 0 0 </a:t>
                      </a:r>
                    </a:p>
                    <a:p>
                      <a:r>
                        <a:rPr lang="de-DE" sz="800" kern="1200" dirty="0">
                          <a:solidFill>
                            <a:schemeClr val="dk1"/>
                          </a:solidFill>
                          <a:latin typeface="+mn-lt"/>
                          <a:ea typeface="+mn-ea"/>
                          <a:cs typeface="+mn-cs"/>
                        </a:rPr>
                        <a:t>M  V30 4 C 7.5524 -5.1163 0 0 </a:t>
                      </a:r>
                    </a:p>
                    <a:p>
                      <a:r>
                        <a:rPr lang="de-DE" sz="800" kern="1200" dirty="0">
                          <a:solidFill>
                            <a:schemeClr val="dk1"/>
                          </a:solidFill>
                          <a:latin typeface="+mn-lt"/>
                          <a:ea typeface="+mn-ea"/>
                          <a:cs typeface="+mn-cs"/>
                        </a:rPr>
                        <a:t>M  V30 5 Cl 7.5524 -3.0712 0 0 </a:t>
                      </a:r>
                    </a:p>
                    <a:p>
                      <a:r>
                        <a:rPr lang="de-DE" sz="800" kern="1200" dirty="0">
                          <a:solidFill>
                            <a:schemeClr val="dk1"/>
                          </a:solidFill>
                          <a:latin typeface="+mn-lt"/>
                          <a:ea typeface="+mn-ea"/>
                          <a:cs typeface="+mn-cs"/>
                        </a:rPr>
                        <a:t>M  V30 6 Br 4.0101 -5.1163 0 0 </a:t>
                      </a:r>
                    </a:p>
                    <a:p>
                      <a:r>
                        <a:rPr lang="de-DE" sz="800" kern="1200" dirty="0">
                          <a:solidFill>
                            <a:schemeClr val="dk1"/>
                          </a:solidFill>
                          <a:latin typeface="+mn-lt"/>
                          <a:ea typeface="+mn-ea"/>
                          <a:cs typeface="+mn-cs"/>
                        </a:rPr>
                        <a:t>M  V30 7 F 4.0101 -3.0712 0 0 </a:t>
                      </a:r>
                    </a:p>
                    <a:p>
                      <a:r>
                        <a:rPr lang="de-DE" sz="800" kern="1200" dirty="0">
                          <a:solidFill>
                            <a:schemeClr val="dk1"/>
                          </a:solidFill>
                          <a:latin typeface="+mn-lt"/>
                          <a:ea typeface="+mn-ea"/>
                          <a:cs typeface="+mn-cs"/>
                        </a:rPr>
                        <a:t>M  V30 END ATOM</a:t>
                      </a:r>
                    </a:p>
                    <a:p>
                      <a:r>
                        <a:rPr lang="de-DE" sz="800" kern="1200" dirty="0">
                          <a:solidFill>
                            <a:schemeClr val="dk1"/>
                          </a:solidFill>
                          <a:latin typeface="+mn-lt"/>
                          <a:ea typeface="+mn-ea"/>
                          <a:cs typeface="+mn-cs"/>
                        </a:rPr>
                        <a:t>M  V30 BEGIN BOND</a:t>
                      </a:r>
                    </a:p>
                    <a:p>
                      <a:r>
                        <a:rPr lang="de-DE" sz="800" kern="1200" dirty="0">
                          <a:solidFill>
                            <a:schemeClr val="dk1"/>
                          </a:solidFill>
                          <a:latin typeface="+mn-lt"/>
                          <a:ea typeface="+mn-ea"/>
                          <a:cs typeface="+mn-cs"/>
                        </a:rPr>
                        <a:t>M  V30 1 2 2 1 </a:t>
                      </a:r>
                    </a:p>
                    <a:p>
                      <a:r>
                        <a:rPr lang="de-DE" sz="800" kern="1200" dirty="0">
                          <a:solidFill>
                            <a:schemeClr val="dk1"/>
                          </a:solidFill>
                          <a:latin typeface="+mn-lt"/>
                          <a:ea typeface="+mn-ea"/>
                          <a:cs typeface="+mn-cs"/>
                        </a:rPr>
                        <a:t>M  V30 2 2 1 3 </a:t>
                      </a:r>
                    </a:p>
                    <a:p>
                      <a:r>
                        <a:rPr lang="de-DE" sz="800" kern="1200" dirty="0">
                          <a:solidFill>
                            <a:schemeClr val="dk1"/>
                          </a:solidFill>
                          <a:latin typeface="+mn-lt"/>
                          <a:ea typeface="+mn-ea"/>
                          <a:cs typeface="+mn-cs"/>
                        </a:rPr>
                        <a:t>M  V30 3 1 3 4 </a:t>
                      </a:r>
                    </a:p>
                    <a:p>
                      <a:r>
                        <a:rPr lang="nl-NL" sz="800" kern="1200" dirty="0">
                          <a:solidFill>
                            <a:schemeClr val="dk1"/>
                          </a:solidFill>
                          <a:latin typeface="+mn-lt"/>
                          <a:ea typeface="+mn-ea"/>
                          <a:cs typeface="+mn-cs"/>
                        </a:rPr>
                        <a:t>M  V30 4 1 3 5 CFG=1 </a:t>
                      </a:r>
                    </a:p>
                    <a:p>
                      <a:r>
                        <a:rPr lang="nl-NL" sz="800" kern="1200" dirty="0">
                          <a:solidFill>
                            <a:schemeClr val="dk1"/>
                          </a:solidFill>
                          <a:latin typeface="+mn-lt"/>
                          <a:ea typeface="+mn-ea"/>
                          <a:cs typeface="+mn-cs"/>
                        </a:rPr>
                        <a:t>M  V30 5 1 2 6 CFG=1 </a:t>
                      </a:r>
                    </a:p>
                    <a:p>
                      <a:r>
                        <a:rPr lang="de-DE" sz="800" kern="1200" dirty="0">
                          <a:solidFill>
                            <a:schemeClr val="dk1"/>
                          </a:solidFill>
                          <a:latin typeface="+mn-lt"/>
                          <a:ea typeface="+mn-ea"/>
                          <a:cs typeface="+mn-cs"/>
                        </a:rPr>
                        <a:t>M  V30 6 1 2 7 </a:t>
                      </a:r>
                    </a:p>
                    <a:p>
                      <a:r>
                        <a:rPr lang="de-DE" sz="800" kern="1200" dirty="0">
                          <a:solidFill>
                            <a:schemeClr val="dk1"/>
                          </a:solidFill>
                          <a:latin typeface="+mn-lt"/>
                          <a:ea typeface="+mn-ea"/>
                          <a:cs typeface="+mn-cs"/>
                        </a:rPr>
                        <a:t>M  V30 END BOND</a:t>
                      </a:r>
                    </a:p>
                    <a:p>
                      <a:r>
                        <a:rPr lang="de-DE" sz="800" b="1" kern="1200" dirty="0">
                          <a:solidFill>
                            <a:srgbClr val="FF0000"/>
                          </a:solidFill>
                          <a:latin typeface="+mn-lt"/>
                          <a:ea typeface="+mn-ea"/>
                          <a:cs typeface="+mn-cs"/>
                        </a:rPr>
                        <a:t>M  V30 BEGIN COLLECTION</a:t>
                      </a:r>
                    </a:p>
                    <a:p>
                      <a:r>
                        <a:rPr lang="de-DE" sz="800" b="1" kern="1200" dirty="0">
                          <a:solidFill>
                            <a:srgbClr val="FF0000"/>
                          </a:solidFill>
                          <a:latin typeface="+mn-lt"/>
                          <a:ea typeface="+mn-ea"/>
                          <a:cs typeface="+mn-cs"/>
                        </a:rPr>
                        <a:t>M  V30 MDLV30/STEABS ATOMS=(1 1)</a:t>
                      </a:r>
                    </a:p>
                    <a:p>
                      <a:r>
                        <a:rPr lang="de-DE" sz="800" b="1" kern="1200" dirty="0">
                          <a:solidFill>
                            <a:srgbClr val="FF0000"/>
                          </a:solidFill>
                          <a:latin typeface="+mn-lt"/>
                          <a:ea typeface="+mn-ea"/>
                          <a:cs typeface="+mn-cs"/>
                        </a:rPr>
                        <a:t>M  V30 END COLLECTION</a:t>
                      </a:r>
                    </a:p>
                    <a:p>
                      <a:r>
                        <a:rPr lang="de-DE" sz="800" kern="1200" dirty="0">
                          <a:solidFill>
                            <a:schemeClr val="dk1"/>
                          </a:solidFill>
                          <a:latin typeface="+mn-lt"/>
                          <a:ea typeface="+mn-ea"/>
                          <a:cs typeface="+mn-cs"/>
                        </a:rPr>
                        <a:t>M  V30 END CTAB</a:t>
                      </a:r>
                    </a:p>
                    <a:p>
                      <a:r>
                        <a:rPr lang="de-DE" sz="800" kern="1200" dirty="0">
                          <a:solidFill>
                            <a:schemeClr val="dk1"/>
                          </a:solidFill>
                          <a:latin typeface="+mn-lt"/>
                          <a:ea typeface="+mn-ea"/>
                          <a:cs typeface="+mn-cs"/>
                        </a:rPr>
                        <a:t>M  END</a:t>
                      </a:r>
                    </a:p>
                  </a:txBody>
                  <a:tcPr/>
                </a:tc>
                <a:tc>
                  <a:txBody>
                    <a:bodyPr/>
                    <a:lstStyle/>
                    <a:p>
                      <a:pPr marL="0" indent="0"/>
                      <a:r>
                        <a:rPr lang="en-US" dirty="0"/>
                        <a:t>Both </a:t>
                      </a:r>
                      <a:r>
                        <a:rPr lang="en-US" dirty="0" err="1"/>
                        <a:t>molfiles</a:t>
                      </a:r>
                      <a:r>
                        <a:rPr lang="en-US" dirty="0"/>
                        <a:t> represent the same compound. As an identifier, the InChI for both of the structures must be identical. </a:t>
                      </a:r>
                    </a:p>
                    <a:p>
                      <a:pPr marL="0" indent="0"/>
                      <a:r>
                        <a:rPr lang="en-US" dirty="0">
                          <a:solidFill>
                            <a:schemeClr val="tx1"/>
                          </a:solidFill>
                        </a:rPr>
                        <a:t>Proposal: in case of “abs axial enhanced stereochemistry” use the standard InChI representation.</a:t>
                      </a:r>
                    </a:p>
                  </a:txBody>
                  <a:tcPr/>
                </a:tc>
                <a:extLst>
                  <a:ext uri="{0D108BD9-81ED-4DB2-BD59-A6C34878D82A}">
                    <a16:rowId xmlns:a16="http://schemas.microsoft.com/office/drawing/2014/main" val="1071249832"/>
                  </a:ext>
                </a:extLst>
              </a:tr>
            </a:tbl>
          </a:graphicData>
        </a:graphic>
      </p:graphicFrame>
      <p:pic>
        <p:nvPicPr>
          <p:cNvPr id="5" name="Grafik 4">
            <a:extLst>
              <a:ext uri="{FF2B5EF4-FFF2-40B4-BE49-F238E27FC236}">
                <a16:creationId xmlns:a16="http://schemas.microsoft.com/office/drawing/2014/main" id="{622BE83B-1B73-4FD5-DEB4-4DBEF4AAB81F}"/>
              </a:ext>
            </a:extLst>
          </p:cNvPr>
          <p:cNvPicPr>
            <a:picLocks noChangeAspect="1"/>
          </p:cNvPicPr>
          <p:nvPr/>
        </p:nvPicPr>
        <p:blipFill>
          <a:blip r:embed="rId2"/>
          <a:stretch>
            <a:fillRect/>
          </a:stretch>
        </p:blipFill>
        <p:spPr>
          <a:xfrm>
            <a:off x="1199067" y="2942303"/>
            <a:ext cx="1428949" cy="924054"/>
          </a:xfrm>
          <a:prstGeom prst="rect">
            <a:avLst/>
          </a:prstGeom>
        </p:spPr>
      </p:pic>
      <p:pic>
        <p:nvPicPr>
          <p:cNvPr id="9" name="Grafik 8">
            <a:extLst>
              <a:ext uri="{FF2B5EF4-FFF2-40B4-BE49-F238E27FC236}">
                <a16:creationId xmlns:a16="http://schemas.microsoft.com/office/drawing/2014/main" id="{13975EC4-8AFA-245A-B576-6A3B9CBE7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4249" y="4296081"/>
            <a:ext cx="1458583" cy="965541"/>
          </a:xfrm>
          <a:prstGeom prst="rect">
            <a:avLst/>
          </a:prstGeom>
        </p:spPr>
      </p:pic>
    </p:spTree>
    <p:extLst>
      <p:ext uri="{BB962C8B-B14F-4D97-AF65-F5344CB8AC3E}">
        <p14:creationId xmlns:p14="http://schemas.microsoft.com/office/powerpoint/2010/main" val="380105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41E84-9D83-BD2E-F48E-6FF008092F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44B4B2-C80D-64F9-ECFC-48DDF125E9EE}"/>
              </a:ext>
            </a:extLst>
          </p:cNvPr>
          <p:cNvSpPr>
            <a:spLocks noGrp="1"/>
          </p:cNvSpPr>
          <p:nvPr>
            <p:ph type="title"/>
          </p:nvPr>
        </p:nvSpPr>
        <p:spPr/>
        <p:txBody>
          <a:bodyPr/>
          <a:lstStyle/>
          <a:p>
            <a:r>
              <a:rPr lang="en-US" dirty="0"/>
              <a:t>Enhanced stereochemistry – allenes</a:t>
            </a:r>
          </a:p>
        </p:txBody>
      </p:sp>
      <p:sp>
        <p:nvSpPr>
          <p:cNvPr id="3" name="Inhaltsplatzhalter 2">
            <a:extLst>
              <a:ext uri="{FF2B5EF4-FFF2-40B4-BE49-F238E27FC236}">
                <a16:creationId xmlns:a16="http://schemas.microsoft.com/office/drawing/2014/main" id="{BAAA2DFB-E269-FA4C-C460-017497502F7D}"/>
              </a:ext>
            </a:extLst>
          </p:cNvPr>
          <p:cNvSpPr>
            <a:spLocks noGrp="1"/>
          </p:cNvSpPr>
          <p:nvPr>
            <p:ph idx="1"/>
          </p:nvPr>
        </p:nvSpPr>
        <p:spPr/>
        <p:txBody>
          <a:bodyPr/>
          <a:lstStyle/>
          <a:p>
            <a:r>
              <a:rPr lang="en-US" dirty="0"/>
              <a:t>Pure but unknown configuration</a:t>
            </a:r>
          </a:p>
        </p:txBody>
      </p:sp>
      <p:graphicFrame>
        <p:nvGraphicFramePr>
          <p:cNvPr id="4" name="Tabelle 3">
            <a:extLst>
              <a:ext uri="{FF2B5EF4-FFF2-40B4-BE49-F238E27FC236}">
                <a16:creationId xmlns:a16="http://schemas.microsoft.com/office/drawing/2014/main" id="{4FC24273-8964-866A-6072-F2F39C9A58EC}"/>
              </a:ext>
            </a:extLst>
          </p:cNvPr>
          <p:cNvGraphicFramePr>
            <a:graphicFrameLocks noGrp="1"/>
          </p:cNvGraphicFramePr>
          <p:nvPr>
            <p:extLst>
              <p:ext uri="{D42A27DB-BD31-4B8C-83A1-F6EECF244321}">
                <p14:modId xmlns:p14="http://schemas.microsoft.com/office/powerpoint/2010/main" val="3883482419"/>
              </p:ext>
            </p:extLst>
          </p:nvPr>
        </p:nvGraphicFramePr>
        <p:xfrm>
          <a:off x="1142202" y="2152282"/>
          <a:ext cx="10482570" cy="4577080"/>
        </p:xfrm>
        <a:graphic>
          <a:graphicData uri="http://schemas.openxmlformats.org/drawingml/2006/table">
            <a:tbl>
              <a:tblPr firstRow="1" bandRow="1">
                <a:tableStyleId>{5C22544A-7EE6-4342-B048-85BDC9FD1C3A}</a:tableStyleId>
              </a:tblPr>
              <a:tblGrid>
                <a:gridCol w="1277063">
                  <a:extLst>
                    <a:ext uri="{9D8B030D-6E8A-4147-A177-3AD203B41FA5}">
                      <a16:colId xmlns:a16="http://schemas.microsoft.com/office/drawing/2014/main" val="2363299576"/>
                    </a:ext>
                  </a:extLst>
                </a:gridCol>
                <a:gridCol w="1914909">
                  <a:extLst>
                    <a:ext uri="{9D8B030D-6E8A-4147-A177-3AD203B41FA5}">
                      <a16:colId xmlns:a16="http://schemas.microsoft.com/office/drawing/2014/main" val="235752228"/>
                    </a:ext>
                  </a:extLst>
                </a:gridCol>
                <a:gridCol w="1344947">
                  <a:extLst>
                    <a:ext uri="{9D8B030D-6E8A-4147-A177-3AD203B41FA5}">
                      <a16:colId xmlns:a16="http://schemas.microsoft.com/office/drawing/2014/main" val="3165797117"/>
                    </a:ext>
                  </a:extLst>
                </a:gridCol>
                <a:gridCol w="1935412">
                  <a:extLst>
                    <a:ext uri="{9D8B030D-6E8A-4147-A177-3AD203B41FA5}">
                      <a16:colId xmlns:a16="http://schemas.microsoft.com/office/drawing/2014/main" val="3230882908"/>
                    </a:ext>
                  </a:extLst>
                </a:gridCol>
                <a:gridCol w="4010239">
                  <a:extLst>
                    <a:ext uri="{9D8B030D-6E8A-4147-A177-3AD203B41FA5}">
                      <a16:colId xmlns:a16="http://schemas.microsoft.com/office/drawing/2014/main" val="3528995915"/>
                    </a:ext>
                  </a:extLst>
                </a:gridCol>
              </a:tblGrid>
              <a:tr h="370840">
                <a:tc>
                  <a:txBody>
                    <a:bodyPr/>
                    <a:lstStyle/>
                    <a:p>
                      <a:r>
                        <a:rPr lang="en-US" dirty="0"/>
                        <a:t>Drawing</a:t>
                      </a:r>
                    </a:p>
                  </a:txBody>
                  <a:tcPr/>
                </a:tc>
                <a:tc>
                  <a:txBody>
                    <a:bodyPr/>
                    <a:lstStyle/>
                    <a:p>
                      <a:r>
                        <a:rPr lang="en-US" dirty="0"/>
                        <a:t>V3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Drawing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V3 molfile</a:t>
                      </a:r>
                    </a:p>
                  </a:txBody>
                  <a:tcPr/>
                </a:tc>
                <a:tc>
                  <a:txBody>
                    <a:bodyPr/>
                    <a:lstStyle/>
                    <a:p>
                      <a:r>
                        <a:rPr lang="en-US" dirty="0"/>
                        <a:t>Proposal</a:t>
                      </a:r>
                    </a:p>
                  </a:txBody>
                  <a:tcPr/>
                </a:tc>
                <a:extLst>
                  <a:ext uri="{0D108BD9-81ED-4DB2-BD59-A6C34878D82A}">
                    <a16:rowId xmlns:a16="http://schemas.microsoft.com/office/drawing/2014/main" val="618254344"/>
                  </a:ext>
                </a:extLst>
              </a:tr>
              <a:tr h="370840">
                <a:tc>
                  <a:txBody>
                    <a:bodyPr/>
                    <a:lstStyle/>
                    <a:p>
                      <a:endParaRPr lang="en-US" dirty="0"/>
                    </a:p>
                  </a:txBody>
                  <a:tcPr/>
                </a:tc>
                <a:tc>
                  <a:txBody>
                    <a:bodyPr/>
                    <a:lstStyle/>
                    <a:p>
                      <a:endParaRPr lang="en-US" sz="800" dirty="0"/>
                    </a:p>
                    <a:p>
                      <a:r>
                        <a:rPr lang="en-US" sz="800" dirty="0"/>
                        <a:t>  ACCLDraw07032617572D</a:t>
                      </a:r>
                    </a:p>
                    <a:p>
                      <a:endParaRPr lang="en-US" sz="800" dirty="0"/>
                    </a:p>
                    <a:p>
                      <a:r>
                        <a:rPr lang="en-US" sz="800" dirty="0"/>
                        <a:t>  0  0  0     0  0            999 V3000</a:t>
                      </a:r>
                    </a:p>
                    <a:p>
                      <a:r>
                        <a:rPr lang="en-US" sz="800" dirty="0"/>
                        <a:t>M  V30 BEGIN CTAB</a:t>
                      </a:r>
                    </a:p>
                    <a:p>
                      <a:r>
                        <a:rPr lang="en-US" sz="800" dirty="0"/>
                        <a:t>M  V30 COUNTS 7 6 0 0 0</a:t>
                      </a:r>
                    </a:p>
                    <a:p>
                      <a:r>
                        <a:rPr lang="en-US" sz="800" dirty="0"/>
                        <a:t>M  V30 BEGIN ATOM</a:t>
                      </a:r>
                    </a:p>
                    <a:p>
                      <a:r>
                        <a:rPr lang="en-US" sz="800" dirty="0"/>
                        <a:t>M  V30 1 C 8.25 -3.6563 0 0 </a:t>
                      </a:r>
                    </a:p>
                    <a:p>
                      <a:r>
                        <a:rPr lang="en-US" sz="800" dirty="0"/>
                        <a:t>M  V30 2 C 7.0693 -3.6563 0 0 </a:t>
                      </a:r>
                    </a:p>
                    <a:p>
                      <a:r>
                        <a:rPr lang="en-US" sz="800" dirty="0"/>
                        <a:t>M  V30 3 C 9.4307 -3.6563 0 0 </a:t>
                      </a:r>
                    </a:p>
                    <a:p>
                      <a:r>
                        <a:rPr lang="en-US" sz="800" dirty="0"/>
                        <a:t>M  V30 4 C 10.0212 -4.6788 0 0 </a:t>
                      </a:r>
                    </a:p>
                    <a:p>
                      <a:r>
                        <a:rPr lang="en-US" sz="800" dirty="0"/>
                        <a:t>M  V30 5 Cl 10.0212 -2.6337 0 0 </a:t>
                      </a:r>
                    </a:p>
                    <a:p>
                      <a:r>
                        <a:rPr lang="en-US" sz="800" dirty="0"/>
                        <a:t>M  V30 6 Br 6.4788 -4.6788 0 0 </a:t>
                      </a:r>
                    </a:p>
                    <a:p>
                      <a:r>
                        <a:rPr lang="en-US" sz="800" dirty="0"/>
                        <a:t>M  V30 7 F 6.4788 -2.6337 0 0 </a:t>
                      </a:r>
                    </a:p>
                    <a:p>
                      <a:r>
                        <a:rPr lang="en-US" sz="800" dirty="0"/>
                        <a:t>M  V30 END ATOM</a:t>
                      </a:r>
                    </a:p>
                    <a:p>
                      <a:r>
                        <a:rPr lang="en-US" sz="800" dirty="0"/>
                        <a:t>M  V30 BEGIN BOND</a:t>
                      </a:r>
                    </a:p>
                    <a:p>
                      <a:r>
                        <a:rPr lang="en-US" sz="800" dirty="0"/>
                        <a:t>M  V30 1 2 2 1 </a:t>
                      </a:r>
                    </a:p>
                    <a:p>
                      <a:r>
                        <a:rPr lang="en-US" sz="800" dirty="0"/>
                        <a:t>M  V30 2 2 1 3 </a:t>
                      </a:r>
                    </a:p>
                    <a:p>
                      <a:r>
                        <a:rPr lang="en-US" sz="800" dirty="0"/>
                        <a:t>M  V30 3 1 3 4 </a:t>
                      </a:r>
                    </a:p>
                    <a:p>
                      <a:r>
                        <a:rPr lang="en-US" sz="800" dirty="0"/>
                        <a:t>M  V30 4 1 3 5 </a:t>
                      </a:r>
                      <a:r>
                        <a:rPr lang="en-US" sz="800" b="1" dirty="0">
                          <a:solidFill>
                            <a:srgbClr val="FF0000"/>
                          </a:solidFill>
                        </a:rPr>
                        <a:t>CFG=3</a:t>
                      </a:r>
                      <a:r>
                        <a:rPr lang="en-US" sz="800" dirty="0"/>
                        <a:t> </a:t>
                      </a:r>
                    </a:p>
                    <a:p>
                      <a:r>
                        <a:rPr lang="en-US" sz="800" dirty="0"/>
                        <a:t>M  V30 5 1 2 6 </a:t>
                      </a:r>
                      <a:r>
                        <a:rPr lang="en-US" sz="800" b="1" kern="1200" dirty="0">
                          <a:solidFill>
                            <a:srgbClr val="FF0000"/>
                          </a:solidFill>
                          <a:latin typeface="+mn-lt"/>
                          <a:ea typeface="+mn-ea"/>
                          <a:cs typeface="+mn-cs"/>
                        </a:rPr>
                        <a:t>CFG=3</a:t>
                      </a:r>
                      <a:r>
                        <a:rPr lang="en-US" sz="800" dirty="0"/>
                        <a:t> </a:t>
                      </a:r>
                    </a:p>
                    <a:p>
                      <a:r>
                        <a:rPr lang="en-US" sz="800" dirty="0"/>
                        <a:t>M  V30 6 1 2 7 </a:t>
                      </a:r>
                    </a:p>
                    <a:p>
                      <a:r>
                        <a:rPr lang="en-US" sz="800" dirty="0"/>
                        <a:t>M  V30 END BOND</a:t>
                      </a:r>
                    </a:p>
                    <a:p>
                      <a:r>
                        <a:rPr lang="en-US" sz="800" b="1" dirty="0">
                          <a:solidFill>
                            <a:srgbClr val="FF0000"/>
                          </a:solidFill>
                        </a:rPr>
                        <a:t>M  V30 BEGIN COLLECTION</a:t>
                      </a:r>
                    </a:p>
                    <a:p>
                      <a:r>
                        <a:rPr lang="en-US" sz="800" b="1" dirty="0">
                          <a:solidFill>
                            <a:srgbClr val="FF0000"/>
                          </a:solidFill>
                        </a:rPr>
                        <a:t>M  V30 MDLV30/STEREL1 ATOMS=(1 1)</a:t>
                      </a:r>
                    </a:p>
                    <a:p>
                      <a:r>
                        <a:rPr lang="en-US" sz="800" b="1" dirty="0">
                          <a:solidFill>
                            <a:srgbClr val="FF0000"/>
                          </a:solidFill>
                        </a:rPr>
                        <a:t>M  V30 END COLLECTION</a:t>
                      </a:r>
                    </a:p>
                    <a:p>
                      <a:r>
                        <a:rPr lang="en-US" sz="800" dirty="0"/>
                        <a:t>M  V30 END CTAB</a:t>
                      </a:r>
                    </a:p>
                    <a:p>
                      <a:r>
                        <a:rPr lang="en-US" sz="800" dirty="0"/>
                        <a:t>M  END</a:t>
                      </a:r>
                    </a:p>
                    <a:p>
                      <a:endParaRPr lang="en-US" sz="800" dirty="0"/>
                    </a:p>
                    <a:p>
                      <a:endParaRPr lang="en-US" sz="800" dirty="0"/>
                    </a:p>
                    <a:p>
                      <a:endParaRPr lang="en-US" sz="300" dirty="0"/>
                    </a:p>
                    <a:p>
                      <a:endParaRPr lang="en-US" sz="300" dirty="0"/>
                    </a:p>
                    <a:p>
                      <a:r>
                        <a:rPr lang="pt-BR" sz="1200" dirty="0"/>
                        <a:t>InChI=1S/C4H3BrClF/c1-3(6)2-4(5)7/h1H3</a:t>
                      </a:r>
                      <a:r>
                        <a:rPr lang="pt-BR" sz="1200" dirty="0">
                          <a:solidFill>
                            <a:srgbClr val="FF0000"/>
                          </a:solidFill>
                        </a:rPr>
                        <a:t>/t2-/s2</a:t>
                      </a:r>
                    </a:p>
                  </a:txBody>
                  <a:tcPr/>
                </a:tc>
                <a:tc>
                  <a:txBody>
                    <a:bodyPr/>
                    <a:lstStyle/>
                    <a:p>
                      <a:endParaRPr lang="en-US" dirty="0"/>
                    </a:p>
                  </a:txBody>
                  <a:tcPr/>
                </a:tc>
                <a:tc>
                  <a:txBody>
                    <a:bodyPr/>
                    <a:lstStyle/>
                    <a:p>
                      <a:endParaRPr lang="de-DE" sz="800" kern="1200" dirty="0">
                        <a:solidFill>
                          <a:schemeClr val="dk1"/>
                        </a:solidFill>
                        <a:latin typeface="+mn-lt"/>
                        <a:ea typeface="+mn-ea"/>
                        <a:cs typeface="+mn-cs"/>
                      </a:endParaRPr>
                    </a:p>
                    <a:p>
                      <a:r>
                        <a:rPr lang="de-DE" sz="800" kern="1200" dirty="0">
                          <a:solidFill>
                            <a:schemeClr val="dk1"/>
                          </a:solidFill>
                          <a:latin typeface="+mn-lt"/>
                          <a:ea typeface="+mn-ea"/>
                          <a:cs typeface="+mn-cs"/>
                        </a:rPr>
                        <a:t>  ACCLDraw07032617532D</a:t>
                      </a:r>
                    </a:p>
                    <a:p>
                      <a:endParaRPr lang="de-DE" sz="800" kern="1200" dirty="0">
                        <a:solidFill>
                          <a:schemeClr val="dk1"/>
                        </a:solidFill>
                        <a:latin typeface="+mn-lt"/>
                        <a:ea typeface="+mn-ea"/>
                        <a:cs typeface="+mn-cs"/>
                      </a:endParaRPr>
                    </a:p>
                    <a:p>
                      <a:r>
                        <a:rPr lang="de-DE" sz="800" kern="1200" dirty="0">
                          <a:solidFill>
                            <a:schemeClr val="dk1"/>
                          </a:solidFill>
                          <a:latin typeface="+mn-lt"/>
                          <a:ea typeface="+mn-ea"/>
                          <a:cs typeface="+mn-cs"/>
                        </a:rPr>
                        <a:t>  0  0  0     0  0            999 V3000</a:t>
                      </a:r>
                    </a:p>
                    <a:p>
                      <a:r>
                        <a:rPr lang="de-DE" sz="800" kern="1200" dirty="0">
                          <a:solidFill>
                            <a:schemeClr val="dk1"/>
                          </a:solidFill>
                          <a:latin typeface="+mn-lt"/>
                          <a:ea typeface="+mn-ea"/>
                          <a:cs typeface="+mn-cs"/>
                        </a:rPr>
                        <a:t>M  V30 BEGIN CTAB</a:t>
                      </a:r>
                    </a:p>
                    <a:p>
                      <a:r>
                        <a:rPr lang="en-US" sz="800" kern="1200" dirty="0">
                          <a:solidFill>
                            <a:schemeClr val="dk1"/>
                          </a:solidFill>
                          <a:latin typeface="+mn-lt"/>
                          <a:ea typeface="+mn-ea"/>
                          <a:cs typeface="+mn-cs"/>
                        </a:rPr>
                        <a:t>M  V30 COUNTS 7 6 0 0 0</a:t>
                      </a:r>
                    </a:p>
                    <a:p>
                      <a:r>
                        <a:rPr lang="de-DE" sz="800" kern="1200" dirty="0">
                          <a:solidFill>
                            <a:schemeClr val="dk1"/>
                          </a:solidFill>
                          <a:latin typeface="+mn-lt"/>
                          <a:ea typeface="+mn-ea"/>
                          <a:cs typeface="+mn-cs"/>
                        </a:rPr>
                        <a:t>M  V30 BEGIN ATOM</a:t>
                      </a:r>
                    </a:p>
                    <a:p>
                      <a:r>
                        <a:rPr lang="de-DE" sz="800" kern="1200" dirty="0">
                          <a:solidFill>
                            <a:schemeClr val="dk1"/>
                          </a:solidFill>
                          <a:latin typeface="+mn-lt"/>
                          <a:ea typeface="+mn-ea"/>
                          <a:cs typeface="+mn-cs"/>
                        </a:rPr>
                        <a:t>M  V30 1 C 5.8125 -9.8438 0 0 </a:t>
                      </a:r>
                    </a:p>
                    <a:p>
                      <a:r>
                        <a:rPr lang="de-DE" sz="800" kern="1200" dirty="0">
                          <a:solidFill>
                            <a:schemeClr val="dk1"/>
                          </a:solidFill>
                          <a:latin typeface="+mn-lt"/>
                          <a:ea typeface="+mn-ea"/>
                          <a:cs typeface="+mn-cs"/>
                        </a:rPr>
                        <a:t>M  V30 2 C 4.6317 -9.8438 0 0 </a:t>
                      </a:r>
                    </a:p>
                    <a:p>
                      <a:r>
                        <a:rPr lang="de-DE" sz="800" kern="1200" dirty="0">
                          <a:solidFill>
                            <a:schemeClr val="dk1"/>
                          </a:solidFill>
                          <a:latin typeface="+mn-lt"/>
                          <a:ea typeface="+mn-ea"/>
                          <a:cs typeface="+mn-cs"/>
                        </a:rPr>
                        <a:t>M  V30 3 C 6.9933 -9.8438 0 0 </a:t>
                      </a:r>
                    </a:p>
                    <a:p>
                      <a:r>
                        <a:rPr lang="de-DE" sz="800" kern="1200" dirty="0">
                          <a:solidFill>
                            <a:schemeClr val="dk1"/>
                          </a:solidFill>
                          <a:latin typeface="+mn-lt"/>
                          <a:ea typeface="+mn-ea"/>
                          <a:cs typeface="+mn-cs"/>
                        </a:rPr>
                        <a:t>M  V30 4 C 7.5836 -10.8663 0 0 </a:t>
                      </a:r>
                    </a:p>
                    <a:p>
                      <a:r>
                        <a:rPr lang="de-DE" sz="800" kern="1200" dirty="0">
                          <a:solidFill>
                            <a:schemeClr val="dk1"/>
                          </a:solidFill>
                          <a:latin typeface="+mn-lt"/>
                          <a:ea typeface="+mn-ea"/>
                          <a:cs typeface="+mn-cs"/>
                        </a:rPr>
                        <a:t>M  V30 5 Cl 7.5836 -8.8212 0 0 </a:t>
                      </a:r>
                    </a:p>
                    <a:p>
                      <a:r>
                        <a:rPr lang="de-DE" sz="800" kern="1200" dirty="0">
                          <a:solidFill>
                            <a:schemeClr val="dk1"/>
                          </a:solidFill>
                          <a:latin typeface="+mn-lt"/>
                          <a:ea typeface="+mn-ea"/>
                          <a:cs typeface="+mn-cs"/>
                        </a:rPr>
                        <a:t>M  V30 6 Br 4.0414 -10.8663 0 0 </a:t>
                      </a:r>
                    </a:p>
                    <a:p>
                      <a:r>
                        <a:rPr lang="de-DE" sz="800" kern="1200" dirty="0">
                          <a:solidFill>
                            <a:schemeClr val="dk1"/>
                          </a:solidFill>
                          <a:latin typeface="+mn-lt"/>
                          <a:ea typeface="+mn-ea"/>
                          <a:cs typeface="+mn-cs"/>
                        </a:rPr>
                        <a:t>M  V30 7 F 4.0414 -8.8212 0 0 </a:t>
                      </a:r>
                    </a:p>
                    <a:p>
                      <a:r>
                        <a:rPr lang="de-DE" sz="800" kern="1200" dirty="0">
                          <a:solidFill>
                            <a:schemeClr val="dk1"/>
                          </a:solidFill>
                          <a:latin typeface="+mn-lt"/>
                          <a:ea typeface="+mn-ea"/>
                          <a:cs typeface="+mn-cs"/>
                        </a:rPr>
                        <a:t>M  V30 END ATOM</a:t>
                      </a:r>
                    </a:p>
                    <a:p>
                      <a:r>
                        <a:rPr lang="de-DE" sz="800" kern="1200" dirty="0">
                          <a:solidFill>
                            <a:schemeClr val="dk1"/>
                          </a:solidFill>
                          <a:latin typeface="+mn-lt"/>
                          <a:ea typeface="+mn-ea"/>
                          <a:cs typeface="+mn-cs"/>
                        </a:rPr>
                        <a:t>M  V30 BEGIN BOND</a:t>
                      </a:r>
                    </a:p>
                    <a:p>
                      <a:r>
                        <a:rPr lang="de-DE" sz="800" kern="1200" dirty="0">
                          <a:solidFill>
                            <a:schemeClr val="dk1"/>
                          </a:solidFill>
                          <a:latin typeface="+mn-lt"/>
                          <a:ea typeface="+mn-ea"/>
                          <a:cs typeface="+mn-cs"/>
                        </a:rPr>
                        <a:t>M  V30 1 2 2 1 </a:t>
                      </a:r>
                    </a:p>
                    <a:p>
                      <a:r>
                        <a:rPr lang="de-DE" sz="800" kern="1200" dirty="0">
                          <a:solidFill>
                            <a:schemeClr val="dk1"/>
                          </a:solidFill>
                          <a:latin typeface="+mn-lt"/>
                          <a:ea typeface="+mn-ea"/>
                          <a:cs typeface="+mn-cs"/>
                        </a:rPr>
                        <a:t>M  V30 2 2 1 3 </a:t>
                      </a:r>
                    </a:p>
                    <a:p>
                      <a:r>
                        <a:rPr lang="de-DE" sz="800" kern="1200" dirty="0">
                          <a:solidFill>
                            <a:schemeClr val="dk1"/>
                          </a:solidFill>
                          <a:latin typeface="+mn-lt"/>
                          <a:ea typeface="+mn-ea"/>
                          <a:cs typeface="+mn-cs"/>
                        </a:rPr>
                        <a:t>M  V30 3 1 3 4 </a:t>
                      </a:r>
                    </a:p>
                    <a:p>
                      <a:r>
                        <a:rPr lang="nl-NL" sz="800" kern="1200" dirty="0">
                          <a:solidFill>
                            <a:schemeClr val="dk1"/>
                          </a:solidFill>
                          <a:latin typeface="+mn-lt"/>
                          <a:ea typeface="+mn-ea"/>
                          <a:cs typeface="+mn-cs"/>
                        </a:rPr>
                        <a:t>M  V30 4 1 3 5 </a:t>
                      </a:r>
                      <a:r>
                        <a:rPr lang="nl-NL" sz="800" b="1" kern="1200" dirty="0">
                          <a:solidFill>
                            <a:srgbClr val="FF0000"/>
                          </a:solidFill>
                          <a:latin typeface="+mn-lt"/>
                          <a:ea typeface="+mn-ea"/>
                          <a:cs typeface="+mn-cs"/>
                        </a:rPr>
                        <a:t>CFG=1</a:t>
                      </a:r>
                      <a:r>
                        <a:rPr lang="nl-NL" sz="800" kern="1200" dirty="0">
                          <a:solidFill>
                            <a:schemeClr val="dk1"/>
                          </a:solidFill>
                          <a:latin typeface="+mn-lt"/>
                          <a:ea typeface="+mn-ea"/>
                          <a:cs typeface="+mn-cs"/>
                        </a:rPr>
                        <a:t> </a:t>
                      </a:r>
                    </a:p>
                    <a:p>
                      <a:r>
                        <a:rPr lang="nl-NL" sz="800" kern="1200" dirty="0">
                          <a:solidFill>
                            <a:schemeClr val="dk1"/>
                          </a:solidFill>
                          <a:latin typeface="+mn-lt"/>
                          <a:ea typeface="+mn-ea"/>
                          <a:cs typeface="+mn-cs"/>
                        </a:rPr>
                        <a:t>M  V30 5 1 2 6 </a:t>
                      </a:r>
                      <a:r>
                        <a:rPr lang="nl-NL" sz="800" b="1" kern="1200" dirty="0">
                          <a:solidFill>
                            <a:srgbClr val="FF0000"/>
                          </a:solidFill>
                          <a:latin typeface="+mn-lt"/>
                          <a:ea typeface="+mn-ea"/>
                          <a:cs typeface="+mn-cs"/>
                        </a:rPr>
                        <a:t>CFG=1</a:t>
                      </a:r>
                      <a:r>
                        <a:rPr lang="nl-NL" sz="800" kern="1200" dirty="0">
                          <a:solidFill>
                            <a:schemeClr val="dk1"/>
                          </a:solidFill>
                          <a:latin typeface="+mn-lt"/>
                          <a:ea typeface="+mn-ea"/>
                          <a:cs typeface="+mn-cs"/>
                        </a:rPr>
                        <a:t> </a:t>
                      </a:r>
                    </a:p>
                    <a:p>
                      <a:r>
                        <a:rPr lang="de-DE" sz="800" kern="1200" dirty="0">
                          <a:solidFill>
                            <a:schemeClr val="dk1"/>
                          </a:solidFill>
                          <a:latin typeface="+mn-lt"/>
                          <a:ea typeface="+mn-ea"/>
                          <a:cs typeface="+mn-cs"/>
                        </a:rPr>
                        <a:t>M  V30 6 1 2 7 </a:t>
                      </a:r>
                    </a:p>
                    <a:p>
                      <a:r>
                        <a:rPr lang="de-DE" sz="800" kern="1200" dirty="0">
                          <a:solidFill>
                            <a:schemeClr val="dk1"/>
                          </a:solidFill>
                          <a:latin typeface="+mn-lt"/>
                          <a:ea typeface="+mn-ea"/>
                          <a:cs typeface="+mn-cs"/>
                        </a:rPr>
                        <a:t>M  V30 END BOND</a:t>
                      </a:r>
                    </a:p>
                    <a:p>
                      <a:r>
                        <a:rPr lang="de-DE" sz="800" b="1" kern="1200" dirty="0">
                          <a:solidFill>
                            <a:srgbClr val="FF0000"/>
                          </a:solidFill>
                          <a:latin typeface="+mn-lt"/>
                          <a:ea typeface="+mn-ea"/>
                          <a:cs typeface="+mn-cs"/>
                        </a:rPr>
                        <a:t>M  V30 BEGIN COLLECTION</a:t>
                      </a:r>
                    </a:p>
                    <a:p>
                      <a:r>
                        <a:rPr lang="de-DE" sz="800" b="1" kern="1200" dirty="0">
                          <a:solidFill>
                            <a:srgbClr val="FF0000"/>
                          </a:solidFill>
                          <a:latin typeface="+mn-lt"/>
                          <a:ea typeface="+mn-ea"/>
                          <a:cs typeface="+mn-cs"/>
                        </a:rPr>
                        <a:t>M  V30 MDLV30/STEREL1 ATOMS=(1 1)</a:t>
                      </a:r>
                    </a:p>
                    <a:p>
                      <a:r>
                        <a:rPr lang="de-DE" sz="800" b="1" kern="1200" dirty="0">
                          <a:solidFill>
                            <a:srgbClr val="FF0000"/>
                          </a:solidFill>
                          <a:latin typeface="+mn-lt"/>
                          <a:ea typeface="+mn-ea"/>
                          <a:cs typeface="+mn-cs"/>
                        </a:rPr>
                        <a:t>M  V30 END COLLECTION</a:t>
                      </a:r>
                    </a:p>
                    <a:p>
                      <a:r>
                        <a:rPr lang="de-DE" sz="800" kern="1200" dirty="0">
                          <a:solidFill>
                            <a:schemeClr val="dk1"/>
                          </a:solidFill>
                          <a:latin typeface="+mn-lt"/>
                          <a:ea typeface="+mn-ea"/>
                          <a:cs typeface="+mn-cs"/>
                        </a:rPr>
                        <a:t>M  V30 END CTAB</a:t>
                      </a:r>
                    </a:p>
                    <a:p>
                      <a:r>
                        <a:rPr lang="de-DE" sz="800" kern="1200" dirty="0">
                          <a:solidFill>
                            <a:schemeClr val="dk1"/>
                          </a:solidFill>
                          <a:latin typeface="+mn-lt"/>
                          <a:ea typeface="+mn-ea"/>
                          <a:cs typeface="+mn-cs"/>
                        </a:rPr>
                        <a:t>M  END</a:t>
                      </a:r>
                    </a:p>
                    <a:p>
                      <a:endParaRPr lang="en-US" sz="800" dirty="0"/>
                    </a:p>
                    <a:p>
                      <a:endParaRPr lang="en-US" sz="800" dirty="0"/>
                    </a:p>
                    <a:p>
                      <a:endParaRPr lang="en-US" sz="300" dirty="0"/>
                    </a:p>
                    <a:p>
                      <a:endParaRPr lang="en-US" sz="300" dirty="0"/>
                    </a:p>
                    <a:p>
                      <a:r>
                        <a:rPr lang="pt-BR" sz="1200" dirty="0"/>
                        <a:t>InChI=1S/C4H3BrClF/c1-3(6)2-4(5)7/h1H3</a:t>
                      </a:r>
                      <a:r>
                        <a:rPr lang="pt-BR" sz="1200" dirty="0">
                          <a:solidFill>
                            <a:srgbClr val="FF0000"/>
                          </a:solidFill>
                        </a:rPr>
                        <a:t>/t2-/s2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Use «2» analog to the enhanced stereochemistry of (organic) tetrahedral OR# centers.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Multiple OR geometries are ordered ascendendly by the atom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In case of OR# with #= 1,2,…. set each block of related groups in brackets and add # in front of the first atom group of each block. Separate each block by «,».</a:t>
                      </a:r>
                    </a:p>
                  </a:txBody>
                  <a:tcPr/>
                </a:tc>
                <a:extLst>
                  <a:ext uri="{0D108BD9-81ED-4DB2-BD59-A6C34878D82A}">
                    <a16:rowId xmlns:a16="http://schemas.microsoft.com/office/drawing/2014/main" val="237514379"/>
                  </a:ext>
                </a:extLst>
              </a:tr>
            </a:tbl>
          </a:graphicData>
        </a:graphic>
      </p:graphicFrame>
      <p:pic>
        <p:nvPicPr>
          <p:cNvPr id="5" name="Grafik 4">
            <a:extLst>
              <a:ext uri="{FF2B5EF4-FFF2-40B4-BE49-F238E27FC236}">
                <a16:creationId xmlns:a16="http://schemas.microsoft.com/office/drawing/2014/main" id="{5A8EC155-EB34-1844-0FC2-357E5C5554FF}"/>
              </a:ext>
            </a:extLst>
          </p:cNvPr>
          <p:cNvPicPr>
            <a:picLocks noChangeAspect="1"/>
          </p:cNvPicPr>
          <p:nvPr/>
        </p:nvPicPr>
        <p:blipFill>
          <a:blip r:embed="rId2"/>
          <a:stretch>
            <a:fillRect/>
          </a:stretch>
        </p:blipFill>
        <p:spPr>
          <a:xfrm>
            <a:off x="4428174" y="2706413"/>
            <a:ext cx="1186402" cy="975324"/>
          </a:xfrm>
          <a:prstGeom prst="rect">
            <a:avLst/>
          </a:prstGeom>
        </p:spPr>
      </p:pic>
      <p:pic>
        <p:nvPicPr>
          <p:cNvPr id="6" name="Grafik 5">
            <a:extLst>
              <a:ext uri="{FF2B5EF4-FFF2-40B4-BE49-F238E27FC236}">
                <a16:creationId xmlns:a16="http://schemas.microsoft.com/office/drawing/2014/main" id="{3295817C-622B-8C79-6F0D-4DD31CA3CE41}"/>
              </a:ext>
            </a:extLst>
          </p:cNvPr>
          <p:cNvPicPr>
            <a:picLocks noChangeAspect="1"/>
          </p:cNvPicPr>
          <p:nvPr/>
        </p:nvPicPr>
        <p:blipFill>
          <a:blip r:embed="rId3"/>
          <a:stretch>
            <a:fillRect/>
          </a:stretch>
        </p:blipFill>
        <p:spPr>
          <a:xfrm>
            <a:off x="1196540" y="2706413"/>
            <a:ext cx="1186401" cy="975324"/>
          </a:xfrm>
          <a:prstGeom prst="rect">
            <a:avLst/>
          </a:prstGeom>
        </p:spPr>
      </p:pic>
    </p:spTree>
    <p:extLst>
      <p:ext uri="{BB962C8B-B14F-4D97-AF65-F5344CB8AC3E}">
        <p14:creationId xmlns:p14="http://schemas.microsoft.com/office/powerpoint/2010/main" val="357246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3769B-6B7F-4A21-B954-5903987B395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A558616-347D-78EE-19A2-AF0E5FB49F6F}"/>
              </a:ext>
            </a:extLst>
          </p:cNvPr>
          <p:cNvSpPr>
            <a:spLocks noGrp="1"/>
          </p:cNvSpPr>
          <p:nvPr>
            <p:ph type="title"/>
          </p:nvPr>
        </p:nvSpPr>
        <p:spPr/>
        <p:txBody>
          <a:bodyPr/>
          <a:lstStyle/>
          <a:p>
            <a:r>
              <a:rPr lang="en-US" dirty="0"/>
              <a:t>Enhanced stereochemistry – allenes</a:t>
            </a:r>
          </a:p>
        </p:txBody>
      </p:sp>
      <p:sp>
        <p:nvSpPr>
          <p:cNvPr id="3" name="Inhaltsplatzhalter 2">
            <a:extLst>
              <a:ext uri="{FF2B5EF4-FFF2-40B4-BE49-F238E27FC236}">
                <a16:creationId xmlns:a16="http://schemas.microsoft.com/office/drawing/2014/main" id="{1951EA18-ACEF-3E2E-3ACA-1D00F086082C}"/>
              </a:ext>
            </a:extLst>
          </p:cNvPr>
          <p:cNvSpPr>
            <a:spLocks noGrp="1"/>
          </p:cNvSpPr>
          <p:nvPr>
            <p:ph idx="1"/>
          </p:nvPr>
        </p:nvSpPr>
        <p:spPr/>
        <p:txBody>
          <a:bodyPr/>
          <a:lstStyle/>
          <a:p>
            <a:r>
              <a:rPr lang="en-US" dirty="0"/>
              <a:t>(Racemic) mixture </a:t>
            </a:r>
          </a:p>
        </p:txBody>
      </p:sp>
      <p:graphicFrame>
        <p:nvGraphicFramePr>
          <p:cNvPr id="5" name="Tabelle 4">
            <a:extLst>
              <a:ext uri="{FF2B5EF4-FFF2-40B4-BE49-F238E27FC236}">
                <a16:creationId xmlns:a16="http://schemas.microsoft.com/office/drawing/2014/main" id="{2B092C97-A557-15E7-C7EC-C0AC6AE8DEE1}"/>
              </a:ext>
            </a:extLst>
          </p:cNvPr>
          <p:cNvGraphicFramePr>
            <a:graphicFrameLocks noGrp="1"/>
          </p:cNvGraphicFramePr>
          <p:nvPr>
            <p:extLst>
              <p:ext uri="{D42A27DB-BD31-4B8C-83A1-F6EECF244321}">
                <p14:modId xmlns:p14="http://schemas.microsoft.com/office/powerpoint/2010/main" val="4207323452"/>
              </p:ext>
            </p:extLst>
          </p:nvPr>
        </p:nvGraphicFramePr>
        <p:xfrm>
          <a:off x="803275" y="2141457"/>
          <a:ext cx="11030621" cy="4384190"/>
        </p:xfrm>
        <a:graphic>
          <a:graphicData uri="http://schemas.openxmlformats.org/drawingml/2006/table">
            <a:tbl>
              <a:tblPr firstRow="1" bandRow="1">
                <a:tableStyleId>{5C22544A-7EE6-4342-B048-85BDC9FD1C3A}</a:tableStyleId>
              </a:tblPr>
              <a:tblGrid>
                <a:gridCol w="1111634">
                  <a:extLst>
                    <a:ext uri="{9D8B030D-6E8A-4147-A177-3AD203B41FA5}">
                      <a16:colId xmlns:a16="http://schemas.microsoft.com/office/drawing/2014/main" val="3123772243"/>
                    </a:ext>
                  </a:extLst>
                </a:gridCol>
                <a:gridCol w="2005120">
                  <a:extLst>
                    <a:ext uri="{9D8B030D-6E8A-4147-A177-3AD203B41FA5}">
                      <a16:colId xmlns:a16="http://schemas.microsoft.com/office/drawing/2014/main" val="884481205"/>
                    </a:ext>
                  </a:extLst>
                </a:gridCol>
                <a:gridCol w="1463860">
                  <a:extLst>
                    <a:ext uri="{9D8B030D-6E8A-4147-A177-3AD203B41FA5}">
                      <a16:colId xmlns:a16="http://schemas.microsoft.com/office/drawing/2014/main" val="627576410"/>
                    </a:ext>
                  </a:extLst>
                </a:gridCol>
                <a:gridCol w="1234235">
                  <a:extLst>
                    <a:ext uri="{9D8B030D-6E8A-4147-A177-3AD203B41FA5}">
                      <a16:colId xmlns:a16="http://schemas.microsoft.com/office/drawing/2014/main" val="4110980049"/>
                    </a:ext>
                  </a:extLst>
                </a:gridCol>
                <a:gridCol w="2058425">
                  <a:extLst>
                    <a:ext uri="{9D8B030D-6E8A-4147-A177-3AD203B41FA5}">
                      <a16:colId xmlns:a16="http://schemas.microsoft.com/office/drawing/2014/main" val="384078348"/>
                    </a:ext>
                  </a:extLst>
                </a:gridCol>
                <a:gridCol w="1455659">
                  <a:extLst>
                    <a:ext uri="{9D8B030D-6E8A-4147-A177-3AD203B41FA5}">
                      <a16:colId xmlns:a16="http://schemas.microsoft.com/office/drawing/2014/main" val="4058010920"/>
                    </a:ext>
                  </a:extLst>
                </a:gridCol>
                <a:gridCol w="1701688">
                  <a:extLst>
                    <a:ext uri="{9D8B030D-6E8A-4147-A177-3AD203B41FA5}">
                      <a16:colId xmlns:a16="http://schemas.microsoft.com/office/drawing/2014/main" val="2173731131"/>
                    </a:ext>
                  </a:extLst>
                </a:gridCol>
              </a:tblGrid>
              <a:tr h="3548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Drawing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V2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V3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Drawing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V2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V3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Proposal</a:t>
                      </a:r>
                    </a:p>
                  </a:txBody>
                  <a:tcPr/>
                </a:tc>
                <a:extLst>
                  <a:ext uri="{0D108BD9-81ED-4DB2-BD59-A6C34878D82A}">
                    <a16:rowId xmlns:a16="http://schemas.microsoft.com/office/drawing/2014/main" val="1662065148"/>
                  </a:ext>
                </a:extLst>
              </a:tr>
              <a:tr h="3253182">
                <a:tc>
                  <a:txBody>
                    <a:bodyPr/>
                    <a:lstStyle/>
                    <a:p>
                      <a:endParaRPr lang="en-US" dirty="0"/>
                    </a:p>
                    <a:p>
                      <a:endParaRPr lang="en-US" dirty="0"/>
                    </a:p>
                    <a:p>
                      <a:endParaRPr lang="en-US" dirty="0"/>
                    </a:p>
                    <a:p>
                      <a:endParaRPr lang="en-US" dirty="0"/>
                    </a:p>
                    <a:p>
                      <a:r>
                        <a:rPr lang="en-US" sz="1400" dirty="0"/>
                        <a:t>Or</a:t>
                      </a:r>
                    </a:p>
                    <a:p>
                      <a:endParaRPr lang="en-US" sz="1400" dirty="0"/>
                    </a:p>
                  </a:txBody>
                  <a:tcPr/>
                </a:tc>
                <a:tc>
                  <a:txBody>
                    <a:bodyPr/>
                    <a:lstStyle/>
                    <a:p>
                      <a:endParaRPr lang="en-US" sz="600" dirty="0"/>
                    </a:p>
                    <a:p>
                      <a:r>
                        <a:rPr lang="en-US" sz="600" dirty="0"/>
                        <a:t>  ACCLDraw07032618332D</a:t>
                      </a:r>
                    </a:p>
                    <a:p>
                      <a:endParaRPr lang="en-US" sz="600" dirty="0"/>
                    </a:p>
                    <a:p>
                      <a:r>
                        <a:rPr lang="en-US" sz="600" dirty="0"/>
                        <a:t>  7  6  0  0  </a:t>
                      </a:r>
                      <a:r>
                        <a:rPr lang="en-US" sz="600" b="1" dirty="0">
                          <a:solidFill>
                            <a:srgbClr val="FF0000"/>
                          </a:solidFill>
                        </a:rPr>
                        <a:t>0</a:t>
                      </a:r>
                      <a:r>
                        <a:rPr lang="en-US" sz="600" dirty="0"/>
                        <a:t>  0  0  0  0  0999 V2000</a:t>
                      </a:r>
                    </a:p>
                    <a:p>
                      <a:r>
                        <a:rPr lang="en-US" sz="600" dirty="0"/>
                        <a:t>    4.7564   -8.1250    0.0000 C   0  0  0  0  0  0  0  0  0  0  0  0</a:t>
                      </a:r>
                    </a:p>
                    <a:p>
                      <a:r>
                        <a:rPr lang="en-US" sz="600" dirty="0"/>
                        <a:t>    5.9375   -8.1250    0.0000 C   0  0  0  0  0  0  0  0  0  0  0  0</a:t>
                      </a:r>
                    </a:p>
                    <a:p>
                      <a:r>
                        <a:rPr lang="en-US" sz="600" dirty="0"/>
                        <a:t>    7.1186   -8.1250    0.0000 C   0  0  0  0  0  0  0  0  0  0  0  0</a:t>
                      </a:r>
                    </a:p>
                    <a:p>
                      <a:r>
                        <a:rPr lang="en-US" sz="600" dirty="0"/>
                        <a:t>    7.7092   -9.1479    0.0000 C   0  0  0  0  0  0  0  0  0  0  0  0</a:t>
                      </a:r>
                    </a:p>
                    <a:p>
                      <a:r>
                        <a:rPr lang="en-US" sz="600" dirty="0"/>
                        <a:t>    7.7092   -7.1021    0.0000 Cl  0  0  0  0  0  0  0  0  0  0  0  0</a:t>
                      </a:r>
                    </a:p>
                    <a:p>
                      <a:r>
                        <a:rPr lang="en-US" sz="600" dirty="0"/>
                        <a:t>    4.1658   -9.1479    0.0000 Br  0  0  0  0  0  0  0  0  0  0  0  0</a:t>
                      </a:r>
                    </a:p>
                    <a:p>
                      <a:r>
                        <a:rPr lang="en-US" sz="600" dirty="0"/>
                        <a:t>    4.1658   -7.1021    0.0000 F   0  0  0  0  0  0  0  0  0  0  0  0</a:t>
                      </a:r>
                    </a:p>
                    <a:p>
                      <a:r>
                        <a:rPr lang="en-US" sz="600" dirty="0"/>
                        <a:t>  1  2  2  0  0  0  0</a:t>
                      </a:r>
                    </a:p>
                    <a:p>
                      <a:r>
                        <a:rPr lang="en-US" sz="600" dirty="0"/>
                        <a:t>  2  3  2  0  0  0  0</a:t>
                      </a:r>
                    </a:p>
                    <a:p>
                      <a:r>
                        <a:rPr lang="en-US" sz="600" dirty="0"/>
                        <a:t>  3  4  1  0  0  0  0</a:t>
                      </a:r>
                    </a:p>
                    <a:p>
                      <a:r>
                        <a:rPr lang="en-US" sz="600" dirty="0"/>
                        <a:t>  3  5  1  6  0  0  0</a:t>
                      </a:r>
                    </a:p>
                    <a:p>
                      <a:r>
                        <a:rPr lang="en-US" sz="600" dirty="0"/>
                        <a:t>  1  6  1  6  0  0  0</a:t>
                      </a:r>
                    </a:p>
                    <a:p>
                      <a:r>
                        <a:rPr lang="en-US" sz="600" dirty="0"/>
                        <a:t>  1  7  1  0  0  0  0</a:t>
                      </a:r>
                    </a:p>
                    <a:p>
                      <a:r>
                        <a:rPr lang="en-US" sz="600" dirty="0"/>
                        <a:t>M  END</a:t>
                      </a:r>
                    </a:p>
                    <a:p>
                      <a:endParaRPr lang="en-US" dirty="0"/>
                    </a:p>
                  </a:txBody>
                  <a:tcPr/>
                </a:tc>
                <a:tc>
                  <a:txBody>
                    <a:bodyPr/>
                    <a:lstStyle/>
                    <a:p>
                      <a:endParaRPr lang="en-US" sz="600" dirty="0"/>
                    </a:p>
                    <a:p>
                      <a:r>
                        <a:rPr lang="en-US" sz="600" dirty="0"/>
                        <a:t>  ACCLDraw07032618352D</a:t>
                      </a:r>
                    </a:p>
                    <a:p>
                      <a:endParaRPr lang="en-US" sz="600" dirty="0"/>
                    </a:p>
                    <a:p>
                      <a:r>
                        <a:rPr lang="en-US" sz="600" dirty="0"/>
                        <a:t>  0  0  0     0  0            999 V3000</a:t>
                      </a:r>
                    </a:p>
                    <a:p>
                      <a:r>
                        <a:rPr lang="en-US" sz="600" dirty="0"/>
                        <a:t>M  V30 BEGIN CTAB</a:t>
                      </a:r>
                    </a:p>
                    <a:p>
                      <a:r>
                        <a:rPr lang="en-US" sz="600" dirty="0"/>
                        <a:t>M  V30 COUNTS 7 6 0 0 0</a:t>
                      </a:r>
                    </a:p>
                    <a:p>
                      <a:r>
                        <a:rPr lang="en-US" sz="600" dirty="0"/>
                        <a:t>M  V30 BEGIN ATOM</a:t>
                      </a:r>
                    </a:p>
                    <a:p>
                      <a:r>
                        <a:rPr lang="en-US" sz="600" dirty="0"/>
                        <a:t>M  V30 1 C 7.6719 -9.875 0 0 </a:t>
                      </a:r>
                    </a:p>
                    <a:p>
                      <a:r>
                        <a:rPr lang="en-US" sz="600" dirty="0"/>
                        <a:t>M  V30 2 C 6.4911 -9.875 0 0 </a:t>
                      </a:r>
                    </a:p>
                    <a:p>
                      <a:r>
                        <a:rPr lang="en-US" sz="600" dirty="0"/>
                        <a:t>M  V30 3 Br 5.9007 -10.8976 0 0 </a:t>
                      </a:r>
                    </a:p>
                    <a:p>
                      <a:r>
                        <a:rPr lang="en-US" sz="600" dirty="0"/>
                        <a:t>M  V30 4 F 5.9007 -8.8524 0 0 </a:t>
                      </a:r>
                    </a:p>
                    <a:p>
                      <a:r>
                        <a:rPr lang="en-US" sz="600" dirty="0"/>
                        <a:t>M  V30 5 C 8.8526 -9.875 0 0 </a:t>
                      </a:r>
                    </a:p>
                    <a:p>
                      <a:r>
                        <a:rPr lang="en-US" sz="600" dirty="0"/>
                        <a:t>M  V30 6 C 9.443 -10.8976 0 0 </a:t>
                      </a:r>
                    </a:p>
                    <a:p>
                      <a:r>
                        <a:rPr lang="en-US" sz="600" dirty="0"/>
                        <a:t>M  V30 7 Cl 9.443 -8.8524 0 0 </a:t>
                      </a:r>
                    </a:p>
                    <a:p>
                      <a:r>
                        <a:rPr lang="en-US" sz="600" dirty="0"/>
                        <a:t>M  V30 END ATOM</a:t>
                      </a:r>
                    </a:p>
                    <a:p>
                      <a:r>
                        <a:rPr lang="en-US" sz="600" dirty="0"/>
                        <a:t>M  V30 BEGIN BOND</a:t>
                      </a:r>
                    </a:p>
                    <a:p>
                      <a:r>
                        <a:rPr lang="en-US" sz="600" dirty="0"/>
                        <a:t>M  V30 1 2 2 1 </a:t>
                      </a:r>
                    </a:p>
                    <a:p>
                      <a:r>
                        <a:rPr lang="en-US" sz="600" dirty="0"/>
                        <a:t>M  V30 2 1 2 3 CFG=3 </a:t>
                      </a:r>
                    </a:p>
                    <a:p>
                      <a:r>
                        <a:rPr lang="en-US" sz="600" dirty="0"/>
                        <a:t>M  V30 3 1 2 4 </a:t>
                      </a:r>
                    </a:p>
                    <a:p>
                      <a:r>
                        <a:rPr lang="en-US" sz="600" dirty="0"/>
                        <a:t>M  V30 4 2 1 5 </a:t>
                      </a:r>
                    </a:p>
                    <a:p>
                      <a:r>
                        <a:rPr lang="en-US" sz="600" dirty="0"/>
                        <a:t>M  V30 5 1 5 6 </a:t>
                      </a:r>
                    </a:p>
                    <a:p>
                      <a:r>
                        <a:rPr lang="en-US" sz="600" dirty="0"/>
                        <a:t>M  V30 6 1 5 7 CFG=3 </a:t>
                      </a:r>
                    </a:p>
                    <a:p>
                      <a:r>
                        <a:rPr lang="en-US" sz="600" dirty="0"/>
                        <a:t>M  V30 END BOND</a:t>
                      </a:r>
                    </a:p>
                    <a:p>
                      <a:r>
                        <a:rPr lang="en-US" sz="600" b="1" dirty="0">
                          <a:solidFill>
                            <a:srgbClr val="FF0000"/>
                          </a:solidFill>
                        </a:rPr>
                        <a:t>M  V30 BEGIN COLLECTION</a:t>
                      </a:r>
                    </a:p>
                    <a:p>
                      <a:r>
                        <a:rPr lang="en-US" sz="600" b="1" dirty="0">
                          <a:solidFill>
                            <a:srgbClr val="FF0000"/>
                          </a:solidFill>
                        </a:rPr>
                        <a:t>M  V30 MDLV30/STERAC1 ATOMS=(1 1)</a:t>
                      </a:r>
                    </a:p>
                    <a:p>
                      <a:r>
                        <a:rPr lang="en-US" sz="600" b="1" dirty="0">
                          <a:solidFill>
                            <a:srgbClr val="FF0000"/>
                          </a:solidFill>
                        </a:rPr>
                        <a:t>M  V30 END COLLECTION</a:t>
                      </a:r>
                    </a:p>
                    <a:p>
                      <a:r>
                        <a:rPr lang="en-US" sz="600" dirty="0"/>
                        <a:t>M  V30 END CTAB</a:t>
                      </a:r>
                    </a:p>
                    <a:p>
                      <a:r>
                        <a:rPr lang="en-US" sz="600" dirty="0"/>
                        <a:t>M  END</a:t>
                      </a:r>
                    </a:p>
                    <a:p>
                      <a:endParaRPr lang="en-US" sz="600" dirty="0"/>
                    </a:p>
                  </a:txBody>
                  <a:tcPr/>
                </a:tc>
                <a:tc>
                  <a:txBody>
                    <a:bodyPr/>
                    <a:lstStyle/>
                    <a:p>
                      <a:endParaRPr lang="en-US" dirty="0"/>
                    </a:p>
                    <a:p>
                      <a:endParaRPr lang="en-US" dirty="0"/>
                    </a:p>
                    <a:p>
                      <a:endParaRPr lang="en-US" dirty="0"/>
                    </a:p>
                    <a:p>
                      <a:endParaRPr lang="en-US" dirty="0"/>
                    </a:p>
                    <a:p>
                      <a:r>
                        <a:rPr lang="en-US" sz="1400" dirty="0"/>
                        <a:t>Or </a:t>
                      </a:r>
                    </a:p>
                  </a:txBody>
                  <a:tcPr/>
                </a:tc>
                <a:tc>
                  <a:txBody>
                    <a:bodyPr/>
                    <a:lstStyle/>
                    <a:p>
                      <a:endParaRPr lang="en-US" sz="600" dirty="0"/>
                    </a:p>
                    <a:p>
                      <a:r>
                        <a:rPr lang="en-US" sz="600" dirty="0"/>
                        <a:t>  ACCLDraw07032618342D</a:t>
                      </a:r>
                    </a:p>
                    <a:p>
                      <a:endParaRPr lang="en-US" sz="600" dirty="0"/>
                    </a:p>
                    <a:p>
                      <a:r>
                        <a:rPr lang="en-US" sz="600" dirty="0"/>
                        <a:t>  7  6  0  0  </a:t>
                      </a:r>
                      <a:r>
                        <a:rPr lang="en-US" sz="600" b="1" dirty="0">
                          <a:solidFill>
                            <a:srgbClr val="FF0000"/>
                          </a:solidFill>
                        </a:rPr>
                        <a:t>0</a:t>
                      </a:r>
                      <a:r>
                        <a:rPr lang="en-US" sz="600" dirty="0"/>
                        <a:t>  0  0  0  0  0999 V2000</a:t>
                      </a:r>
                    </a:p>
                    <a:p>
                      <a:r>
                        <a:rPr lang="en-US" sz="600" dirty="0"/>
                        <a:t>    4.7251   -3.9063    0.0000 C   0  0  0  0  0  0  0  0  0  0  0  0</a:t>
                      </a:r>
                    </a:p>
                    <a:p>
                      <a:r>
                        <a:rPr lang="en-US" sz="600" dirty="0"/>
                        <a:t>    5.9062   -3.9063    0.0000 C   0  0  0  0  0  0  0  0  0  0  0  0</a:t>
                      </a:r>
                    </a:p>
                    <a:p>
                      <a:r>
                        <a:rPr lang="en-US" sz="600" dirty="0"/>
                        <a:t>    7.0874   -3.9063    0.0000 C   0  0  0  0  0  0  0  0  0  0  0  0</a:t>
                      </a:r>
                    </a:p>
                    <a:p>
                      <a:r>
                        <a:rPr lang="en-US" sz="600" dirty="0"/>
                        <a:t>    7.6779   -4.9291    0.0000 C   0  0  0  0  0  0  0  0  0  0  0  0</a:t>
                      </a:r>
                    </a:p>
                    <a:p>
                      <a:r>
                        <a:rPr lang="en-US" sz="600" dirty="0"/>
                        <a:t>    7.6779   -2.8834    0.0000 Cl  0  0  0  0  0  0  0  0  0  0  0  0</a:t>
                      </a:r>
                    </a:p>
                    <a:p>
                      <a:r>
                        <a:rPr lang="en-US" sz="600" dirty="0"/>
                        <a:t>    4.1346   -4.9291    0.0000 Br  0  0  0  0  0  0  0  0  0  0  0  0</a:t>
                      </a:r>
                    </a:p>
                    <a:p>
                      <a:r>
                        <a:rPr lang="en-US" sz="600" dirty="0"/>
                        <a:t>    4.1346   -2.8834    0.0000 F   0  0  0  0  0  0  0  0  0  0  0  0</a:t>
                      </a:r>
                    </a:p>
                    <a:p>
                      <a:r>
                        <a:rPr lang="en-US" sz="600" dirty="0"/>
                        <a:t>  1  2  2  0  0  0  0</a:t>
                      </a:r>
                    </a:p>
                    <a:p>
                      <a:r>
                        <a:rPr lang="en-US" sz="600" dirty="0"/>
                        <a:t>  2  3  2  0  0  0  0</a:t>
                      </a:r>
                    </a:p>
                    <a:p>
                      <a:r>
                        <a:rPr lang="en-US" sz="600" dirty="0"/>
                        <a:t>  3  4  1  0  0  0  0</a:t>
                      </a:r>
                    </a:p>
                    <a:p>
                      <a:r>
                        <a:rPr lang="en-US" sz="600" dirty="0"/>
                        <a:t>  3  5  1  1  0  0  0</a:t>
                      </a:r>
                    </a:p>
                    <a:p>
                      <a:r>
                        <a:rPr lang="en-US" sz="600" dirty="0"/>
                        <a:t>  1  6  1  1  0  0  0</a:t>
                      </a:r>
                    </a:p>
                    <a:p>
                      <a:r>
                        <a:rPr lang="en-US" sz="600" dirty="0"/>
                        <a:t>  1  7  1  0  0  0  0</a:t>
                      </a:r>
                    </a:p>
                    <a:p>
                      <a:r>
                        <a:rPr lang="en-US" sz="600" dirty="0"/>
                        <a:t>M  END</a:t>
                      </a:r>
                    </a:p>
                    <a:p>
                      <a:endParaRPr lang="en-US" sz="600" dirty="0"/>
                    </a:p>
                  </a:txBody>
                  <a:tcPr/>
                </a:tc>
                <a:tc>
                  <a:txBody>
                    <a:bodyPr/>
                    <a:lstStyle/>
                    <a:p>
                      <a:endParaRPr lang="en-US" sz="600" dirty="0"/>
                    </a:p>
                    <a:p>
                      <a:r>
                        <a:rPr lang="en-US" sz="600" dirty="0"/>
                        <a:t>  ACCLDraw07032618352D</a:t>
                      </a:r>
                    </a:p>
                    <a:p>
                      <a:endParaRPr lang="en-US" sz="600" dirty="0"/>
                    </a:p>
                    <a:p>
                      <a:r>
                        <a:rPr lang="en-US" sz="600" dirty="0"/>
                        <a:t>  0  0  0     0  0            999 V3000</a:t>
                      </a:r>
                    </a:p>
                    <a:p>
                      <a:r>
                        <a:rPr lang="en-US" sz="600" dirty="0"/>
                        <a:t>M  V30 BEGIN CTAB</a:t>
                      </a:r>
                    </a:p>
                    <a:p>
                      <a:r>
                        <a:rPr lang="en-US" sz="600" dirty="0"/>
                        <a:t>M  V30 COUNTS 7 6 0 0 0</a:t>
                      </a:r>
                    </a:p>
                    <a:p>
                      <a:r>
                        <a:rPr lang="en-US" sz="600" dirty="0"/>
                        <a:t>M  V30 BEGIN ATOM</a:t>
                      </a:r>
                    </a:p>
                    <a:p>
                      <a:r>
                        <a:rPr lang="en-US" sz="600" dirty="0"/>
                        <a:t>M  V30 1 C 7.3906 -4.625 0 0 </a:t>
                      </a:r>
                    </a:p>
                    <a:p>
                      <a:r>
                        <a:rPr lang="en-US" sz="600" dirty="0"/>
                        <a:t>M  V30 2 C 6.2099 -4.625 0 0 </a:t>
                      </a:r>
                    </a:p>
                    <a:p>
                      <a:r>
                        <a:rPr lang="en-US" sz="600" dirty="0"/>
                        <a:t>M  V30 3 Br 5.6195 -5.6476 0 0 </a:t>
                      </a:r>
                    </a:p>
                    <a:p>
                      <a:r>
                        <a:rPr lang="en-US" sz="600" dirty="0"/>
                        <a:t>M  V30 4 F 5.6195 -3.6024 0 0 </a:t>
                      </a:r>
                    </a:p>
                    <a:p>
                      <a:r>
                        <a:rPr lang="en-US" sz="600" dirty="0"/>
                        <a:t>M  V30 5 C 8.5714 -4.625 0 0 </a:t>
                      </a:r>
                    </a:p>
                    <a:p>
                      <a:r>
                        <a:rPr lang="en-US" sz="600" dirty="0"/>
                        <a:t>M  V30 6 C 9.1618 -5.6476 0 0 </a:t>
                      </a:r>
                    </a:p>
                    <a:p>
                      <a:r>
                        <a:rPr lang="en-US" sz="600" dirty="0"/>
                        <a:t>M  V30 7 Cl 9.1618 -3.6024 0 0 </a:t>
                      </a:r>
                    </a:p>
                    <a:p>
                      <a:r>
                        <a:rPr lang="en-US" sz="600" dirty="0"/>
                        <a:t>M  V30 END ATOM</a:t>
                      </a:r>
                    </a:p>
                    <a:p>
                      <a:r>
                        <a:rPr lang="en-US" sz="600" dirty="0"/>
                        <a:t>M  V30 BEGIN BOND</a:t>
                      </a:r>
                    </a:p>
                    <a:p>
                      <a:r>
                        <a:rPr lang="en-US" sz="600" dirty="0"/>
                        <a:t>M  V30 1 2 2 1 </a:t>
                      </a:r>
                    </a:p>
                    <a:p>
                      <a:r>
                        <a:rPr lang="en-US" sz="600" dirty="0"/>
                        <a:t>M  V30 2 1 2 3 CFG=1 </a:t>
                      </a:r>
                    </a:p>
                    <a:p>
                      <a:r>
                        <a:rPr lang="en-US" sz="600" dirty="0"/>
                        <a:t>M  V30 3 1 2 4 </a:t>
                      </a:r>
                    </a:p>
                    <a:p>
                      <a:r>
                        <a:rPr lang="en-US" sz="600" dirty="0"/>
                        <a:t>M  V30 4 2 1 5 </a:t>
                      </a:r>
                    </a:p>
                    <a:p>
                      <a:r>
                        <a:rPr lang="en-US" sz="600" dirty="0"/>
                        <a:t>M  V30 5 1 5 6 </a:t>
                      </a:r>
                    </a:p>
                    <a:p>
                      <a:r>
                        <a:rPr lang="en-US" sz="600" dirty="0"/>
                        <a:t>M  V30 6 1 5 7 CFG=1 </a:t>
                      </a:r>
                    </a:p>
                    <a:p>
                      <a:r>
                        <a:rPr lang="en-US" sz="600" dirty="0"/>
                        <a:t>M  V30 END BOND</a:t>
                      </a:r>
                    </a:p>
                    <a:p>
                      <a:r>
                        <a:rPr lang="en-US" sz="600" b="1" dirty="0">
                          <a:solidFill>
                            <a:srgbClr val="FF0000"/>
                          </a:solidFill>
                        </a:rPr>
                        <a:t>M  V30 BEGIN COLLECTION</a:t>
                      </a:r>
                    </a:p>
                    <a:p>
                      <a:r>
                        <a:rPr lang="en-US" sz="600" b="1" dirty="0">
                          <a:solidFill>
                            <a:srgbClr val="FF0000"/>
                          </a:solidFill>
                        </a:rPr>
                        <a:t>M  V30 MDLV30/STERAC1 ATOMS=(1 1)</a:t>
                      </a:r>
                    </a:p>
                    <a:p>
                      <a:r>
                        <a:rPr lang="en-US" sz="600" b="1" dirty="0">
                          <a:solidFill>
                            <a:srgbClr val="FF0000"/>
                          </a:solidFill>
                        </a:rPr>
                        <a:t>M  V30 END COLLECTION</a:t>
                      </a:r>
                    </a:p>
                    <a:p>
                      <a:r>
                        <a:rPr lang="en-US" sz="600" dirty="0"/>
                        <a:t>M  V30 END CTAB</a:t>
                      </a:r>
                    </a:p>
                    <a:p>
                      <a:r>
                        <a:rPr lang="en-US" sz="600" dirty="0"/>
                        <a:t>M  END</a:t>
                      </a:r>
                    </a:p>
                    <a:p>
                      <a:endParaRPr lang="en-US" sz="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Use «3» analog to the enhanced stereochemistry of (organic) tetrahedral AND# centers.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Multiple AND geometries are ordered ascendendly by the atom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In case of AND# with #= 1,2,…. set each block of related groups in brackets and add # in front of the first atom group of each block. Separate each block by «,».</a:t>
                      </a:r>
                    </a:p>
                    <a:p>
                      <a:endParaRPr lang="en-US" sz="1000" dirty="0"/>
                    </a:p>
                  </a:txBody>
                  <a:tcPr/>
                </a:tc>
                <a:extLst>
                  <a:ext uri="{0D108BD9-81ED-4DB2-BD59-A6C34878D82A}">
                    <a16:rowId xmlns:a16="http://schemas.microsoft.com/office/drawing/2014/main" val="1485336627"/>
                  </a:ext>
                </a:extLst>
              </a:tr>
              <a:tr h="665630">
                <a:tc>
                  <a:txBody>
                    <a:bodyPr/>
                    <a:lstStyle/>
                    <a:p>
                      <a:endParaRPr lang="en-US" sz="1400"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600" dirty="0"/>
                        <a:t>InChI=1S/C4H3BrClF/c1-3(6)2-4(5)7/h1H3</a:t>
                      </a:r>
                      <a:r>
                        <a:rPr lang="pt-BR" sz="1600" dirty="0">
                          <a:solidFill>
                            <a:srgbClr val="FF0000"/>
                          </a:solidFill>
                        </a:rPr>
                        <a:t>/t2-/s3</a:t>
                      </a:r>
                      <a:endParaRPr lang="en-US" sz="1600" dirty="0"/>
                    </a:p>
                  </a:txBody>
                  <a:tcPr/>
                </a:tc>
                <a:tc hMerge="1">
                  <a:txBody>
                    <a:bodyPr/>
                    <a:lstStyle/>
                    <a:p>
                      <a:endParaRPr lang="en-US" sz="600" dirty="0"/>
                    </a:p>
                  </a:txBody>
                  <a:tcPr/>
                </a:tc>
                <a:tc>
                  <a:txBody>
                    <a:bodyPr/>
                    <a:lstStyle/>
                    <a:p>
                      <a:endParaRPr lang="en-US" sz="1400"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600" dirty="0"/>
                        <a:t>InChI=1S/C4H3BrClF/c1-3(6)2-4(5)7/h1H3</a:t>
                      </a:r>
                      <a:r>
                        <a:rPr lang="pt-BR" sz="1600" dirty="0">
                          <a:solidFill>
                            <a:srgbClr val="FF0000"/>
                          </a:solidFill>
                        </a:rPr>
                        <a:t>/t2-/s2</a:t>
                      </a:r>
                    </a:p>
                  </a:txBody>
                  <a:tcPr/>
                </a:tc>
                <a:tc hMerge="1">
                  <a:txBody>
                    <a:bodyPr/>
                    <a:lstStyle/>
                    <a:p>
                      <a:endParaRPr lang="en-US" sz="600" dirty="0"/>
                    </a:p>
                  </a:txBody>
                  <a:tcPr/>
                </a:tc>
                <a:tc>
                  <a:txBody>
                    <a:bodyPr/>
                    <a:lstStyle/>
                    <a:p>
                      <a:endParaRPr lang="en-US" sz="1000" dirty="0"/>
                    </a:p>
                  </a:txBody>
                  <a:tcPr/>
                </a:tc>
                <a:extLst>
                  <a:ext uri="{0D108BD9-81ED-4DB2-BD59-A6C34878D82A}">
                    <a16:rowId xmlns:a16="http://schemas.microsoft.com/office/drawing/2014/main" val="2071133813"/>
                  </a:ext>
                </a:extLst>
              </a:tr>
            </a:tbl>
          </a:graphicData>
        </a:graphic>
      </p:graphicFrame>
      <p:pic>
        <p:nvPicPr>
          <p:cNvPr id="13" name="Grafik 12">
            <a:extLst>
              <a:ext uri="{FF2B5EF4-FFF2-40B4-BE49-F238E27FC236}">
                <a16:creationId xmlns:a16="http://schemas.microsoft.com/office/drawing/2014/main" id="{495EBCBF-B46C-17B5-03F0-15F83225665A}"/>
              </a:ext>
            </a:extLst>
          </p:cNvPr>
          <p:cNvPicPr>
            <a:picLocks noChangeAspect="1"/>
          </p:cNvPicPr>
          <p:nvPr/>
        </p:nvPicPr>
        <p:blipFill>
          <a:blip r:embed="rId2"/>
          <a:stretch>
            <a:fillRect/>
          </a:stretch>
        </p:blipFill>
        <p:spPr>
          <a:xfrm>
            <a:off x="835329" y="2930677"/>
            <a:ext cx="1061106" cy="831510"/>
          </a:xfrm>
          <a:prstGeom prst="rect">
            <a:avLst/>
          </a:prstGeom>
        </p:spPr>
      </p:pic>
      <p:pic>
        <p:nvPicPr>
          <p:cNvPr id="15" name="Grafik 14">
            <a:extLst>
              <a:ext uri="{FF2B5EF4-FFF2-40B4-BE49-F238E27FC236}">
                <a16:creationId xmlns:a16="http://schemas.microsoft.com/office/drawing/2014/main" id="{5271BED8-2E29-6CCD-CDA0-F89377C136D4}"/>
              </a:ext>
            </a:extLst>
          </p:cNvPr>
          <p:cNvPicPr>
            <a:picLocks noChangeAspect="1"/>
          </p:cNvPicPr>
          <p:nvPr/>
        </p:nvPicPr>
        <p:blipFill>
          <a:blip r:embed="rId3"/>
          <a:stretch>
            <a:fillRect/>
          </a:stretch>
        </p:blipFill>
        <p:spPr>
          <a:xfrm>
            <a:off x="5448900" y="2935790"/>
            <a:ext cx="1061106" cy="831510"/>
          </a:xfrm>
          <a:prstGeom prst="rect">
            <a:avLst/>
          </a:prstGeom>
        </p:spPr>
      </p:pic>
      <p:pic>
        <p:nvPicPr>
          <p:cNvPr id="17" name="Grafik 16">
            <a:extLst>
              <a:ext uri="{FF2B5EF4-FFF2-40B4-BE49-F238E27FC236}">
                <a16:creationId xmlns:a16="http://schemas.microsoft.com/office/drawing/2014/main" id="{F2C70456-8E33-C5E0-1959-A3EB96714578}"/>
              </a:ext>
            </a:extLst>
          </p:cNvPr>
          <p:cNvPicPr>
            <a:picLocks noChangeAspect="1"/>
          </p:cNvPicPr>
          <p:nvPr/>
        </p:nvPicPr>
        <p:blipFill>
          <a:blip r:embed="rId4"/>
          <a:stretch>
            <a:fillRect/>
          </a:stretch>
        </p:blipFill>
        <p:spPr>
          <a:xfrm>
            <a:off x="5448901" y="4243258"/>
            <a:ext cx="1066362" cy="689581"/>
          </a:xfrm>
          <a:prstGeom prst="rect">
            <a:avLst/>
          </a:prstGeom>
        </p:spPr>
      </p:pic>
      <p:pic>
        <p:nvPicPr>
          <p:cNvPr id="19" name="Grafik 18">
            <a:extLst>
              <a:ext uri="{FF2B5EF4-FFF2-40B4-BE49-F238E27FC236}">
                <a16:creationId xmlns:a16="http://schemas.microsoft.com/office/drawing/2014/main" id="{4E1F0FF9-7086-51C2-DD3E-E5E8E431FDDA}"/>
              </a:ext>
            </a:extLst>
          </p:cNvPr>
          <p:cNvPicPr>
            <a:picLocks noChangeAspect="1"/>
          </p:cNvPicPr>
          <p:nvPr/>
        </p:nvPicPr>
        <p:blipFill>
          <a:blip r:embed="rId5"/>
          <a:stretch>
            <a:fillRect/>
          </a:stretch>
        </p:blipFill>
        <p:spPr>
          <a:xfrm>
            <a:off x="853973" y="4243258"/>
            <a:ext cx="1013762" cy="655566"/>
          </a:xfrm>
          <a:prstGeom prst="rect">
            <a:avLst/>
          </a:prstGeom>
        </p:spPr>
      </p:pic>
    </p:spTree>
    <p:extLst>
      <p:ext uri="{BB962C8B-B14F-4D97-AF65-F5344CB8AC3E}">
        <p14:creationId xmlns:p14="http://schemas.microsoft.com/office/powerpoint/2010/main" val="323644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1A464-54FB-673F-A877-CCA18FE070E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D0CEA6F-B164-8D9A-BE93-DD9FB2A90CA0}"/>
              </a:ext>
            </a:extLst>
          </p:cNvPr>
          <p:cNvSpPr>
            <a:spLocks noGrp="1"/>
          </p:cNvSpPr>
          <p:nvPr>
            <p:ph type="title"/>
          </p:nvPr>
        </p:nvSpPr>
        <p:spPr/>
        <p:txBody>
          <a:bodyPr/>
          <a:lstStyle/>
          <a:p>
            <a:r>
              <a:rPr lang="en-US" dirty="0"/>
              <a:t>Enhanced stereochemistry – allenes</a:t>
            </a:r>
          </a:p>
        </p:txBody>
      </p:sp>
      <p:graphicFrame>
        <p:nvGraphicFramePr>
          <p:cNvPr id="4" name="Tabelle 3">
            <a:extLst>
              <a:ext uri="{FF2B5EF4-FFF2-40B4-BE49-F238E27FC236}">
                <a16:creationId xmlns:a16="http://schemas.microsoft.com/office/drawing/2014/main" id="{1D9F0AE0-487D-C744-55C5-7DC4B2620F6D}"/>
              </a:ext>
            </a:extLst>
          </p:cNvPr>
          <p:cNvGraphicFramePr>
            <a:graphicFrameLocks noGrp="1"/>
          </p:cNvGraphicFramePr>
          <p:nvPr>
            <p:extLst>
              <p:ext uri="{D42A27DB-BD31-4B8C-83A1-F6EECF244321}">
                <p14:modId xmlns:p14="http://schemas.microsoft.com/office/powerpoint/2010/main" val="1969352197"/>
              </p:ext>
            </p:extLst>
          </p:nvPr>
        </p:nvGraphicFramePr>
        <p:xfrm>
          <a:off x="812361" y="1404028"/>
          <a:ext cx="11170634" cy="5449179"/>
        </p:xfrm>
        <a:graphic>
          <a:graphicData uri="http://schemas.openxmlformats.org/drawingml/2006/table">
            <a:tbl>
              <a:tblPr firstRow="1" bandRow="1">
                <a:tableStyleId>{5C22544A-7EE6-4342-B048-85BDC9FD1C3A}</a:tableStyleId>
              </a:tblPr>
              <a:tblGrid>
                <a:gridCol w="2534802">
                  <a:extLst>
                    <a:ext uri="{9D8B030D-6E8A-4147-A177-3AD203B41FA5}">
                      <a16:colId xmlns:a16="http://schemas.microsoft.com/office/drawing/2014/main" val="3798196971"/>
                    </a:ext>
                  </a:extLst>
                </a:gridCol>
                <a:gridCol w="2806211">
                  <a:extLst>
                    <a:ext uri="{9D8B030D-6E8A-4147-A177-3AD203B41FA5}">
                      <a16:colId xmlns:a16="http://schemas.microsoft.com/office/drawing/2014/main" val="1606710212"/>
                    </a:ext>
                  </a:extLst>
                </a:gridCol>
                <a:gridCol w="5829621">
                  <a:extLst>
                    <a:ext uri="{9D8B030D-6E8A-4147-A177-3AD203B41FA5}">
                      <a16:colId xmlns:a16="http://schemas.microsoft.com/office/drawing/2014/main" val="3721304831"/>
                    </a:ext>
                  </a:extLst>
                </a:gridCol>
              </a:tblGrid>
              <a:tr h="450459">
                <a:tc>
                  <a:txBody>
                    <a:bodyPr/>
                    <a:lstStyle/>
                    <a:p>
                      <a:r>
                        <a:rPr lang="en-US" dirty="0"/>
                        <a:t>Drawing</a:t>
                      </a:r>
                    </a:p>
                  </a:txBody>
                  <a:tcPr/>
                </a:tc>
                <a:tc>
                  <a:txBody>
                    <a:bodyPr/>
                    <a:lstStyle/>
                    <a:p>
                      <a:r>
                        <a:rPr lang="en-US" dirty="0"/>
                        <a:t>V3 molfile</a:t>
                      </a:r>
                    </a:p>
                  </a:txBody>
                  <a:tcPr/>
                </a:tc>
                <a:tc>
                  <a:txBody>
                    <a:bodyPr/>
                    <a:lstStyle/>
                    <a:p>
                      <a:r>
                        <a:rPr lang="en-US" dirty="0"/>
                        <a:t>InChI</a:t>
                      </a:r>
                    </a:p>
                  </a:txBody>
                  <a:tcPr/>
                </a:tc>
                <a:extLst>
                  <a:ext uri="{0D108BD9-81ED-4DB2-BD59-A6C34878D82A}">
                    <a16:rowId xmlns:a16="http://schemas.microsoft.com/office/drawing/2014/main" val="4167246387"/>
                  </a:ext>
                </a:extLst>
              </a:tr>
              <a:tr h="4697168">
                <a:tc>
                  <a:txBody>
                    <a:bodyPr/>
                    <a:lstStyle/>
                    <a:p>
                      <a:endParaRPr lang="en-US" dirty="0"/>
                    </a:p>
                  </a:txBody>
                  <a:tcPr/>
                </a:tc>
                <a:tc>
                  <a:txBody>
                    <a:bodyPr/>
                    <a:lstStyle/>
                    <a:p>
                      <a:endParaRPr lang="en-US" sz="600" dirty="0"/>
                    </a:p>
                    <a:p>
                      <a:r>
                        <a:rPr lang="en-US" sz="600" dirty="0"/>
                        <a:t>  ACCLDraw06042611322D</a:t>
                      </a:r>
                    </a:p>
                    <a:p>
                      <a:endParaRPr lang="en-US" sz="600" dirty="0"/>
                    </a:p>
                    <a:p>
                      <a:r>
                        <a:rPr lang="en-US" sz="600" dirty="0"/>
                        <a:t>  0  0  0     0  0            999 V3000</a:t>
                      </a:r>
                    </a:p>
                    <a:p>
                      <a:r>
                        <a:rPr lang="en-US" sz="600" dirty="0"/>
                        <a:t>M  V30 BEGIN CTAB</a:t>
                      </a:r>
                    </a:p>
                    <a:p>
                      <a:r>
                        <a:rPr lang="en-US" sz="600" dirty="0"/>
                        <a:t>M  V30 COUNTS 42 42 0 0 0</a:t>
                      </a:r>
                    </a:p>
                    <a:p>
                      <a:r>
                        <a:rPr lang="en-US" sz="600" dirty="0"/>
                        <a:t>M  V30 BEGIN ATOM</a:t>
                      </a:r>
                    </a:p>
                    <a:p>
                      <a:r>
                        <a:rPr lang="en-US" sz="600" dirty="0"/>
                        <a:t>M  V30 1 C 12.1424 -6.8987 0 0 CFG=3 </a:t>
                      </a:r>
                    </a:p>
                    <a:p>
                      <a:r>
                        <a:rPr lang="en-US" sz="600" dirty="0"/>
                        <a:t>M  V30 2 C 13.1653 -6.3081 0 0 CFG=3 </a:t>
                      </a:r>
                    </a:p>
                    <a:p>
                      <a:r>
                        <a:rPr lang="en-US" sz="600" dirty="0"/>
                        <a:t>M  V30 3 C 14.1881 -6.8987 0 0 CFG=3 </a:t>
                      </a:r>
                    </a:p>
                    <a:p>
                      <a:r>
                        <a:rPr lang="en-US" sz="600" dirty="0"/>
                        <a:t>M  V30 4 C 14.1881 -8.0798 0 0 CFG=3 </a:t>
                      </a:r>
                    </a:p>
                    <a:p>
                      <a:r>
                        <a:rPr lang="en-US" sz="600" dirty="0"/>
                        <a:t>M  V30 5 C 13.1653 -8.6703 0 0 CFG=3 </a:t>
                      </a:r>
                    </a:p>
                    <a:p>
                      <a:r>
                        <a:rPr lang="en-US" sz="600" dirty="0"/>
                        <a:t>M  V30 6 C 12.1424 -8.0798 0 0 CFG=3 </a:t>
                      </a:r>
                    </a:p>
                    <a:p>
                      <a:r>
                        <a:rPr lang="en-US" sz="600" dirty="0"/>
                        <a:t>M  V30 7 C 13.1653 -5.1274 0 0 </a:t>
                      </a:r>
                    </a:p>
                    <a:p>
                      <a:r>
                        <a:rPr lang="en-US" sz="600" dirty="0"/>
                        <a:t>M  V30 8 C 14.1878 -4.5371 0 0 </a:t>
                      </a:r>
                    </a:p>
                    <a:p>
                      <a:r>
                        <a:rPr lang="en-US" sz="600" dirty="0"/>
                        <a:t>M  V30 9 C 15.2103 -3.9467 0 0 </a:t>
                      </a:r>
                    </a:p>
                    <a:p>
                      <a:r>
                        <a:rPr lang="en-US" sz="600" dirty="0"/>
                        <a:t>M  V30 10 N 16.2329 -4.5371 0 0 </a:t>
                      </a:r>
                    </a:p>
                    <a:p>
                      <a:r>
                        <a:rPr lang="en-US" sz="600" dirty="0"/>
                        <a:t>M  V30 11 O 15.2103 -2.766 0 0 </a:t>
                      </a:r>
                    </a:p>
                    <a:p>
                      <a:r>
                        <a:rPr lang="en-US" sz="600" dirty="0"/>
                        <a:t>M  V30 12 C 15.2107 -6.3083 0 0 </a:t>
                      </a:r>
                    </a:p>
                    <a:p>
                      <a:r>
                        <a:rPr lang="en-US" sz="600" dirty="0"/>
                        <a:t>M  V30 13 Cl 15.2107 -5.1276 0 0 </a:t>
                      </a:r>
                    </a:p>
                    <a:p>
                      <a:r>
                        <a:rPr lang="en-US" sz="600" dirty="0"/>
                        <a:t>M  V30 14 C 16.2332 -6.8987 0 0 </a:t>
                      </a:r>
                    </a:p>
                    <a:p>
                      <a:r>
                        <a:rPr lang="en-US" sz="600" dirty="0"/>
                        <a:t>M  V30 15 C 17.2557 -7.489 0 0 </a:t>
                      </a:r>
                    </a:p>
                    <a:p>
                      <a:r>
                        <a:rPr lang="en-US" sz="600" dirty="0"/>
                        <a:t>M  V30 16 F 17.2557 -8.6698 0 0 </a:t>
                      </a:r>
                    </a:p>
                    <a:p>
                      <a:r>
                        <a:rPr lang="en-US" sz="600" dirty="0"/>
                        <a:t>M  V30 17 N 18.2782 -6.8987 0 0 </a:t>
                      </a:r>
                    </a:p>
                    <a:p>
                      <a:r>
                        <a:rPr lang="en-US" sz="600" dirty="0"/>
                        <a:t>M  V30 18 C 15.2107 -8.6701 0 0 </a:t>
                      </a:r>
                    </a:p>
                    <a:p>
                      <a:r>
                        <a:rPr lang="en-US" sz="600" dirty="0"/>
                        <a:t>M  V30 19 C 15.2107 -9.8509 0 0 </a:t>
                      </a:r>
                    </a:p>
                    <a:p>
                      <a:r>
                        <a:rPr lang="en-US" sz="600" dirty="0"/>
                        <a:t>M  V30 20 C 15.2107 -10.9265 0 0 </a:t>
                      </a:r>
                    </a:p>
                    <a:p>
                      <a:r>
                        <a:rPr lang="en-US" sz="600" dirty="0"/>
                        <a:t>M  V30 21 O 16.2332 -11.6219 0 0 </a:t>
                      </a:r>
                    </a:p>
                    <a:p>
                      <a:r>
                        <a:rPr lang="en-US" sz="600" dirty="0"/>
                        <a:t>M  V30 22 N 14.1881 -11.6219 0 0 </a:t>
                      </a:r>
                    </a:p>
                    <a:p>
                      <a:r>
                        <a:rPr lang="en-US" sz="600" dirty="0"/>
                        <a:t>M  V30 23 Cl 16.2332 -8.0798 0 0 </a:t>
                      </a:r>
                    </a:p>
                    <a:p>
                      <a:r>
                        <a:rPr lang="en-US" sz="600" dirty="0"/>
                        <a:t>M  V30 24 C 13.1653 -9.8511 0 0 </a:t>
                      </a:r>
                    </a:p>
                    <a:p>
                      <a:r>
                        <a:rPr lang="en-US" sz="600" dirty="0"/>
                        <a:t>M  V30 25 C 12.1428 -10.4414 0 0 </a:t>
                      </a:r>
                    </a:p>
                    <a:p>
                      <a:r>
                        <a:rPr lang="en-US" sz="600" dirty="0"/>
                        <a:t>M  V30 26 C 11.1202 -11.0318 0 0 </a:t>
                      </a:r>
                    </a:p>
                    <a:p>
                      <a:r>
                        <a:rPr lang="en-US" sz="600" dirty="0"/>
                        <a:t>M  V30 27 Cl 14.1878 -10.4414 0 0 </a:t>
                      </a:r>
                    </a:p>
                    <a:p>
                      <a:r>
                        <a:rPr lang="en-US" sz="600" dirty="0"/>
                        <a:t>M  V30 28 N 11.1202 -12.2125 0 0 </a:t>
                      </a:r>
                    </a:p>
                    <a:p>
                      <a:r>
                        <a:rPr lang="en-US" sz="600" dirty="0"/>
                        <a:t>M  V30 29 F 10.0977 -10.4414 0 0 </a:t>
                      </a:r>
                    </a:p>
                    <a:p>
                      <a:r>
                        <a:rPr lang="en-US" sz="600" dirty="0"/>
                        <a:t>M  V30 30 C 11.1199 -8.6701 0 0 </a:t>
                      </a:r>
                    </a:p>
                    <a:p>
                      <a:r>
                        <a:rPr lang="en-US" sz="600" dirty="0"/>
                        <a:t>M  V30 31 C 10.0974 -8.0798 0 0 </a:t>
                      </a:r>
                    </a:p>
                    <a:p>
                      <a:r>
                        <a:rPr lang="en-US" sz="600" dirty="0"/>
                        <a:t>M  V30 32 C 9.0749 -7.4894 0 0 </a:t>
                      </a:r>
                    </a:p>
                    <a:p>
                      <a:r>
                        <a:rPr lang="en-US" sz="600" dirty="0"/>
                        <a:t>M  V30 33 Cl 11.1199 -9.8509 0 0 </a:t>
                      </a:r>
                    </a:p>
                    <a:p>
                      <a:r>
                        <a:rPr lang="en-US" sz="600" dirty="0"/>
                        <a:t>M  V30 34 N 9.0749 -6.3087 0 0 </a:t>
                      </a:r>
                    </a:p>
                    <a:p>
                      <a:r>
                        <a:rPr lang="en-US" sz="600" dirty="0"/>
                        <a:t>M  V30 35 O 8.0523 -8.0798 0 0 </a:t>
                      </a:r>
                    </a:p>
                    <a:p>
                      <a:r>
                        <a:rPr lang="en-US" sz="600" dirty="0"/>
                        <a:t>M  V30 36 C 11.1199 -6.3083 0 0 </a:t>
                      </a:r>
                    </a:p>
                    <a:p>
                      <a:r>
                        <a:rPr lang="en-US" sz="600" dirty="0"/>
                        <a:t>M  V30 37 C 11.1199 -5.1276 0 0 </a:t>
                      </a:r>
                    </a:p>
                    <a:p>
                      <a:r>
                        <a:rPr lang="en-US" sz="600" dirty="0"/>
                        <a:t>M  V30 38 C 11.1199 -3.9469 0 0 </a:t>
                      </a:r>
                    </a:p>
                    <a:p>
                      <a:r>
                        <a:rPr lang="en-US" sz="600" dirty="0"/>
                        <a:t>M  V30 39 N 10.0974 -3.3565 0 0 </a:t>
                      </a:r>
                    </a:p>
                    <a:p>
                      <a:r>
                        <a:rPr lang="en-US" sz="600" dirty="0"/>
                        <a:t>M  V30 40 F 12.1424 -3.3565 0 0 </a:t>
                      </a:r>
                    </a:p>
                    <a:p>
                      <a:r>
                        <a:rPr lang="en-US" sz="600" dirty="0"/>
                        <a:t>M  V30 41 Cl 10.0974 -6.8987 0 0 </a:t>
                      </a:r>
                    </a:p>
                    <a:p>
                      <a:r>
                        <a:rPr lang="en-US" sz="600" dirty="0"/>
                        <a:t>M  V30 42 Cl 12.1428 -4.5371 0 0 </a:t>
                      </a:r>
                    </a:p>
                    <a:p>
                      <a:r>
                        <a:rPr lang="en-US" sz="600" dirty="0"/>
                        <a:t>M  V30 END ATOM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dirty="0"/>
                        <a:t>M  V30 BEGIN BOND</a:t>
                      </a:r>
                    </a:p>
                    <a:p>
                      <a:endParaRPr lang="en-US" sz="600"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6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6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InChI=1S/C24H21Cl6F3N6O3/c25-7(1-13(31)34)19-22(10(28)4-16(37)40)20(8(26)2-14(32)35)24(12(30)6-18(39)42)21(9(27)3-15(33)36)23(19)11(29)5-17(38)41/h19-24,40-42H,34-39H2/t1-,2-,3-,4-,5+,6-,19?,20?,21?,22?,23?,24? /m0/s1(4),2(1,5),(3),3(2)(6)</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                      undefined stereochemistry at C ring atoms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Abs center:     4- related to /m0</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OR cenetres:  OR1 (1,5); OR2 (3)</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AND centers:  AND1 (6); AND2 (2)</a:t>
                      </a:r>
                    </a:p>
                  </a:txBody>
                  <a:tcPr/>
                </a:tc>
                <a:extLst>
                  <a:ext uri="{0D108BD9-81ED-4DB2-BD59-A6C34878D82A}">
                    <a16:rowId xmlns:a16="http://schemas.microsoft.com/office/drawing/2014/main" val="4094906566"/>
                  </a:ext>
                </a:extLst>
              </a:tr>
            </a:tbl>
          </a:graphicData>
        </a:graphic>
      </p:graphicFrame>
      <p:sp>
        <p:nvSpPr>
          <p:cNvPr id="7" name="Textfeld 6">
            <a:extLst>
              <a:ext uri="{FF2B5EF4-FFF2-40B4-BE49-F238E27FC236}">
                <a16:creationId xmlns:a16="http://schemas.microsoft.com/office/drawing/2014/main" id="{03B7AE21-7440-2F73-9B6E-69AD8CFD1139}"/>
              </a:ext>
            </a:extLst>
          </p:cNvPr>
          <p:cNvSpPr txBox="1"/>
          <p:nvPr/>
        </p:nvSpPr>
        <p:spPr>
          <a:xfrm>
            <a:off x="4693027" y="1919991"/>
            <a:ext cx="1516762" cy="5078313"/>
          </a:xfrm>
          <a:prstGeom prst="rect">
            <a:avLst/>
          </a:prstGeom>
          <a:noFill/>
        </p:spPr>
        <p:txBody>
          <a:bodyPr wrap="none" rtlCol="0">
            <a:spAutoFit/>
          </a:bodyPr>
          <a:lstStyle/>
          <a:p>
            <a:r>
              <a:rPr lang="en-US" sz="600" dirty="0"/>
              <a:t>M  V30 1 1 1 2 </a:t>
            </a:r>
          </a:p>
          <a:p>
            <a:r>
              <a:rPr lang="en-US" sz="600" dirty="0"/>
              <a:t>M  V30 2 1 3 2 </a:t>
            </a:r>
          </a:p>
          <a:p>
            <a:r>
              <a:rPr lang="en-US" sz="600" dirty="0"/>
              <a:t>M  V30 3 1 4 3 </a:t>
            </a:r>
          </a:p>
          <a:p>
            <a:r>
              <a:rPr lang="en-US" sz="600" dirty="0"/>
              <a:t>M  V30 4 1 5 4 </a:t>
            </a:r>
          </a:p>
          <a:p>
            <a:r>
              <a:rPr lang="en-US" sz="600" dirty="0"/>
              <a:t>M  V30 5 1 1 6 </a:t>
            </a:r>
          </a:p>
          <a:p>
            <a:r>
              <a:rPr lang="en-US" sz="600" dirty="0"/>
              <a:t>M  V30 6 1 6 5 </a:t>
            </a:r>
          </a:p>
          <a:p>
            <a:r>
              <a:rPr lang="en-US" sz="600" dirty="0"/>
              <a:t>M  V30 7 1 2 7 </a:t>
            </a:r>
          </a:p>
          <a:p>
            <a:r>
              <a:rPr lang="en-US" sz="600" dirty="0"/>
              <a:t>M  V30 8 2 7 8 </a:t>
            </a:r>
          </a:p>
          <a:p>
            <a:r>
              <a:rPr lang="en-US" sz="600" dirty="0"/>
              <a:t>M  V30 9 2 8 9 </a:t>
            </a:r>
          </a:p>
          <a:p>
            <a:r>
              <a:rPr lang="en-US" sz="600" dirty="0"/>
              <a:t>M  V30 10 1 9 10 CFG=1 </a:t>
            </a:r>
          </a:p>
          <a:p>
            <a:r>
              <a:rPr lang="en-US" sz="600" dirty="0"/>
              <a:t>M  V30 11 1 9 11 </a:t>
            </a:r>
          </a:p>
          <a:p>
            <a:r>
              <a:rPr lang="en-US" sz="600" dirty="0"/>
              <a:t>M  V30 12 1 3 12 </a:t>
            </a:r>
          </a:p>
          <a:p>
            <a:r>
              <a:rPr lang="en-US" sz="600" dirty="0"/>
              <a:t>M  V30 13 1 12 13 CFG=3 </a:t>
            </a:r>
          </a:p>
          <a:p>
            <a:r>
              <a:rPr lang="en-US" sz="600" dirty="0"/>
              <a:t>M  V30 14 2 12 14 </a:t>
            </a:r>
          </a:p>
          <a:p>
            <a:r>
              <a:rPr lang="en-US" sz="600" dirty="0"/>
              <a:t>M  V30 15 2 14 15 </a:t>
            </a:r>
          </a:p>
          <a:p>
            <a:r>
              <a:rPr lang="en-US" sz="600" dirty="0"/>
              <a:t>M  V30 16 1 15 16 CFG=3 </a:t>
            </a:r>
          </a:p>
          <a:p>
            <a:r>
              <a:rPr lang="en-US" sz="600" dirty="0"/>
              <a:t>M  V30 17 1 15 17 </a:t>
            </a:r>
          </a:p>
          <a:p>
            <a:r>
              <a:rPr lang="en-US" sz="600" dirty="0"/>
              <a:t>M  V30 18 1 4 18 </a:t>
            </a:r>
          </a:p>
          <a:p>
            <a:r>
              <a:rPr lang="en-US" sz="600" dirty="0"/>
              <a:t>M  V30 19 2 18 19 </a:t>
            </a:r>
          </a:p>
          <a:p>
            <a:r>
              <a:rPr lang="en-US" sz="600" dirty="0"/>
              <a:t>M  V30 20 2 19 20 </a:t>
            </a:r>
          </a:p>
          <a:p>
            <a:r>
              <a:rPr lang="en-US" sz="600" dirty="0"/>
              <a:t>M  V30 21 1 20 21 </a:t>
            </a:r>
          </a:p>
          <a:p>
            <a:r>
              <a:rPr lang="en-US" sz="600" dirty="0"/>
              <a:t>M  V30 22 1 20 22 CFG=1 </a:t>
            </a:r>
          </a:p>
          <a:p>
            <a:r>
              <a:rPr lang="en-US" sz="600" dirty="0"/>
              <a:t>M  V30 23 1 18 23 CFG=1 </a:t>
            </a:r>
          </a:p>
          <a:p>
            <a:r>
              <a:rPr lang="en-US" sz="600" dirty="0"/>
              <a:t>M  V30 24 1 5 24 </a:t>
            </a:r>
          </a:p>
          <a:p>
            <a:r>
              <a:rPr lang="en-US" sz="600" dirty="0"/>
              <a:t>M  V30 25 2 24 25 </a:t>
            </a:r>
          </a:p>
          <a:p>
            <a:r>
              <a:rPr lang="en-US" sz="600" dirty="0"/>
              <a:t>M  V30 26 2 25 26 </a:t>
            </a:r>
          </a:p>
          <a:p>
            <a:r>
              <a:rPr lang="en-US" sz="600" dirty="0"/>
              <a:t>M  V30 27 1 24 27 CFG=3 </a:t>
            </a:r>
          </a:p>
          <a:p>
            <a:r>
              <a:rPr lang="en-US" sz="600" dirty="0"/>
              <a:t>M  V30 28 1 26 28 </a:t>
            </a:r>
          </a:p>
          <a:p>
            <a:r>
              <a:rPr lang="en-US" sz="600" dirty="0"/>
              <a:t>M  V30 29 1 26 29 CFG=3 </a:t>
            </a:r>
          </a:p>
          <a:p>
            <a:r>
              <a:rPr lang="en-US" sz="600" dirty="0"/>
              <a:t>M  V30 30 1 6 30 </a:t>
            </a:r>
          </a:p>
          <a:p>
            <a:r>
              <a:rPr lang="en-US" sz="600" dirty="0"/>
              <a:t>M  V30 31 2 30 31 </a:t>
            </a:r>
          </a:p>
          <a:p>
            <a:r>
              <a:rPr lang="en-US" sz="600" dirty="0"/>
              <a:t>M  V30 32 2 31 32 </a:t>
            </a:r>
          </a:p>
          <a:p>
            <a:r>
              <a:rPr lang="en-US" sz="600" dirty="0"/>
              <a:t>M  V30 33 1 30 33 CFG=1 </a:t>
            </a:r>
          </a:p>
          <a:p>
            <a:r>
              <a:rPr lang="en-US" sz="600" dirty="0"/>
              <a:t>M  V30 34 1 32 34 CFG=1 </a:t>
            </a:r>
          </a:p>
          <a:p>
            <a:r>
              <a:rPr lang="en-US" sz="600" dirty="0"/>
              <a:t>M  V30 35 1 32 35 </a:t>
            </a:r>
          </a:p>
          <a:p>
            <a:r>
              <a:rPr lang="en-US" sz="600" dirty="0"/>
              <a:t>M  V30 36 1 1 36 </a:t>
            </a:r>
          </a:p>
          <a:p>
            <a:r>
              <a:rPr lang="en-US" sz="600" dirty="0"/>
              <a:t>M  V30 37 2 36 37 </a:t>
            </a:r>
          </a:p>
          <a:p>
            <a:r>
              <a:rPr lang="en-US" sz="600" dirty="0"/>
              <a:t>M  V30 38 2 37 38 </a:t>
            </a:r>
          </a:p>
          <a:p>
            <a:r>
              <a:rPr lang="en-US" sz="600" dirty="0"/>
              <a:t>M  V30 39 1 38 39 </a:t>
            </a:r>
          </a:p>
          <a:p>
            <a:r>
              <a:rPr lang="en-US" sz="600" dirty="0"/>
              <a:t>M  V30 40 1 38 40 CFG=3 </a:t>
            </a:r>
          </a:p>
          <a:p>
            <a:r>
              <a:rPr lang="en-US" sz="600" dirty="0"/>
              <a:t>M  V30 41 1 36 41 CFG=3 </a:t>
            </a:r>
          </a:p>
          <a:p>
            <a:r>
              <a:rPr lang="en-US" sz="600" dirty="0"/>
              <a:t>M  V30 42 1 7 42 CFG=1 </a:t>
            </a:r>
          </a:p>
          <a:p>
            <a:r>
              <a:rPr lang="en-US" sz="600" dirty="0"/>
              <a:t>M  V30 END BOND</a:t>
            </a:r>
          </a:p>
          <a:p>
            <a:r>
              <a:rPr lang="en-US" sz="600" dirty="0">
                <a:solidFill>
                  <a:srgbClr val="FF0000"/>
                </a:solidFill>
              </a:rPr>
              <a:t>M  V30 BEGIN COLLECTION</a:t>
            </a:r>
          </a:p>
          <a:p>
            <a:r>
              <a:rPr lang="en-US" sz="600" dirty="0">
                <a:solidFill>
                  <a:srgbClr val="FF0000"/>
                </a:solidFill>
              </a:rPr>
              <a:t>M  V30 MDLV30/STEABS ATOMS=(2 18 31)</a:t>
            </a:r>
          </a:p>
          <a:p>
            <a:r>
              <a:rPr lang="en-US" sz="600" dirty="0">
                <a:solidFill>
                  <a:srgbClr val="FF0000"/>
                </a:solidFill>
              </a:rPr>
              <a:t>M  V30 MDLV30/STEREL1 ATOMS=(2 37 8)</a:t>
            </a:r>
          </a:p>
          <a:p>
            <a:r>
              <a:rPr lang="en-US" sz="600" dirty="0">
                <a:solidFill>
                  <a:srgbClr val="FF0000"/>
                </a:solidFill>
              </a:rPr>
              <a:t>M  V30 MDLV30/STEREL2 ATOMS=(1 14)</a:t>
            </a:r>
          </a:p>
          <a:p>
            <a:r>
              <a:rPr lang="en-US" sz="600" dirty="0">
                <a:solidFill>
                  <a:srgbClr val="FF0000"/>
                </a:solidFill>
              </a:rPr>
              <a:t>M  V30 MDLV30/STERAC1 ATOMS=(1 19)</a:t>
            </a:r>
          </a:p>
          <a:p>
            <a:r>
              <a:rPr lang="en-US" sz="600" dirty="0">
                <a:solidFill>
                  <a:srgbClr val="FF0000"/>
                </a:solidFill>
              </a:rPr>
              <a:t>M  V30 MDLV30/STERAC2 ATOMS=(1 25)</a:t>
            </a:r>
          </a:p>
          <a:p>
            <a:r>
              <a:rPr lang="en-US" sz="600" dirty="0">
                <a:solidFill>
                  <a:srgbClr val="FF0000"/>
                </a:solidFill>
              </a:rPr>
              <a:t>M  V30 END COLLECTION</a:t>
            </a:r>
          </a:p>
          <a:p>
            <a:r>
              <a:rPr lang="en-US" sz="600" dirty="0"/>
              <a:t>M  V30 END CTAB</a:t>
            </a:r>
          </a:p>
          <a:p>
            <a:r>
              <a:rPr lang="en-US" sz="600" dirty="0"/>
              <a:t>M  END</a:t>
            </a:r>
          </a:p>
          <a:p>
            <a:endParaRPr lang="en-US" sz="600" dirty="0"/>
          </a:p>
        </p:txBody>
      </p:sp>
      <p:pic>
        <p:nvPicPr>
          <p:cNvPr id="26" name="Grafik 25">
            <a:extLst>
              <a:ext uri="{FF2B5EF4-FFF2-40B4-BE49-F238E27FC236}">
                <a16:creationId xmlns:a16="http://schemas.microsoft.com/office/drawing/2014/main" id="{E21BB2B0-FEAF-D800-AFE6-CF7808404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3297" y="1919988"/>
            <a:ext cx="2836443" cy="2836443"/>
          </a:xfrm>
          <a:prstGeom prst="rect">
            <a:avLst/>
          </a:prstGeom>
        </p:spPr>
      </p:pic>
      <p:pic>
        <p:nvPicPr>
          <p:cNvPr id="28" name="Grafik 27">
            <a:extLst>
              <a:ext uri="{FF2B5EF4-FFF2-40B4-BE49-F238E27FC236}">
                <a16:creationId xmlns:a16="http://schemas.microsoft.com/office/drawing/2014/main" id="{B0379344-8A40-E432-A3AF-D6A55BC2F5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789" y="1919989"/>
            <a:ext cx="3023274" cy="2836443"/>
          </a:xfrm>
          <a:prstGeom prst="rect">
            <a:avLst/>
          </a:prstGeom>
        </p:spPr>
      </p:pic>
      <p:pic>
        <p:nvPicPr>
          <p:cNvPr id="30" name="Grafik 29">
            <a:extLst>
              <a:ext uri="{FF2B5EF4-FFF2-40B4-BE49-F238E27FC236}">
                <a16:creationId xmlns:a16="http://schemas.microsoft.com/office/drawing/2014/main" id="{618E2D8A-7FBB-8EF1-9ACB-F96781DFF747}"/>
              </a:ext>
            </a:extLst>
          </p:cNvPr>
          <p:cNvPicPr>
            <a:picLocks noChangeAspect="1"/>
          </p:cNvPicPr>
          <p:nvPr/>
        </p:nvPicPr>
        <p:blipFill>
          <a:blip r:embed="rId4"/>
          <a:stretch>
            <a:fillRect/>
          </a:stretch>
        </p:blipFill>
        <p:spPr>
          <a:xfrm>
            <a:off x="838200" y="1997929"/>
            <a:ext cx="2447266" cy="2495252"/>
          </a:xfrm>
          <a:prstGeom prst="rect">
            <a:avLst/>
          </a:prstGeom>
        </p:spPr>
      </p:pic>
    </p:spTree>
    <p:extLst>
      <p:ext uri="{BB962C8B-B14F-4D97-AF65-F5344CB8AC3E}">
        <p14:creationId xmlns:p14="http://schemas.microsoft.com/office/powerpoint/2010/main" val="367647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66D48C-E4B5-6769-4913-2ED61E8D2409}"/>
              </a:ext>
            </a:extLst>
          </p:cNvPr>
          <p:cNvSpPr>
            <a:spLocks noGrp="1"/>
          </p:cNvSpPr>
          <p:nvPr>
            <p:ph type="title"/>
          </p:nvPr>
        </p:nvSpPr>
        <p:spPr/>
        <p:txBody>
          <a:bodyPr/>
          <a:lstStyle/>
          <a:p>
            <a:r>
              <a:rPr lang="en-US" dirty="0"/>
              <a:t>Enhanced stereochemistry – allenes</a:t>
            </a:r>
          </a:p>
        </p:txBody>
      </p:sp>
      <p:sp>
        <p:nvSpPr>
          <p:cNvPr id="3" name="Inhaltsplatzhalter 2">
            <a:extLst>
              <a:ext uri="{FF2B5EF4-FFF2-40B4-BE49-F238E27FC236}">
                <a16:creationId xmlns:a16="http://schemas.microsoft.com/office/drawing/2014/main" id="{ED2C2E23-3B0F-D02B-CCAF-A34749AB0ECD}"/>
              </a:ext>
            </a:extLst>
          </p:cNvPr>
          <p:cNvSpPr>
            <a:spLocks noGrp="1"/>
          </p:cNvSpPr>
          <p:nvPr>
            <p:ph idx="1"/>
          </p:nvPr>
        </p:nvSpPr>
        <p:spPr/>
        <p:txBody>
          <a:bodyPr/>
          <a:lstStyle/>
          <a:p>
            <a:r>
              <a:rPr lang="en-US" dirty="0"/>
              <a:t>Combined allene with tetrahedral center, follow the tetrahedral center notation (Examples)</a:t>
            </a:r>
          </a:p>
          <a:p>
            <a:pPr lvl="1"/>
            <a:endParaRPr lang="en-US" dirty="0"/>
          </a:p>
        </p:txBody>
      </p:sp>
      <p:graphicFrame>
        <p:nvGraphicFramePr>
          <p:cNvPr id="4" name="Tabelle 3">
            <a:extLst>
              <a:ext uri="{FF2B5EF4-FFF2-40B4-BE49-F238E27FC236}">
                <a16:creationId xmlns:a16="http://schemas.microsoft.com/office/drawing/2014/main" id="{C1779205-9946-3BED-3F80-D75891DADA56}"/>
              </a:ext>
            </a:extLst>
          </p:cNvPr>
          <p:cNvGraphicFramePr>
            <a:graphicFrameLocks noGrp="1"/>
          </p:cNvGraphicFramePr>
          <p:nvPr>
            <p:extLst>
              <p:ext uri="{D42A27DB-BD31-4B8C-83A1-F6EECF244321}">
                <p14:modId xmlns:p14="http://schemas.microsoft.com/office/powerpoint/2010/main" val="358736968"/>
              </p:ext>
            </p:extLst>
          </p:nvPr>
        </p:nvGraphicFramePr>
        <p:xfrm>
          <a:off x="838200" y="2544363"/>
          <a:ext cx="11192514" cy="4356282"/>
        </p:xfrm>
        <a:graphic>
          <a:graphicData uri="http://schemas.openxmlformats.org/drawingml/2006/table">
            <a:tbl>
              <a:tblPr firstRow="1" bandRow="1">
                <a:tableStyleId>{5C22544A-7EE6-4342-B048-85BDC9FD1C3A}</a:tableStyleId>
              </a:tblPr>
              <a:tblGrid>
                <a:gridCol w="1865419">
                  <a:extLst>
                    <a:ext uri="{9D8B030D-6E8A-4147-A177-3AD203B41FA5}">
                      <a16:colId xmlns:a16="http://schemas.microsoft.com/office/drawing/2014/main" val="2384478825"/>
                    </a:ext>
                  </a:extLst>
                </a:gridCol>
                <a:gridCol w="1865419">
                  <a:extLst>
                    <a:ext uri="{9D8B030D-6E8A-4147-A177-3AD203B41FA5}">
                      <a16:colId xmlns:a16="http://schemas.microsoft.com/office/drawing/2014/main" val="2174473604"/>
                    </a:ext>
                  </a:extLst>
                </a:gridCol>
                <a:gridCol w="1865419">
                  <a:extLst>
                    <a:ext uri="{9D8B030D-6E8A-4147-A177-3AD203B41FA5}">
                      <a16:colId xmlns:a16="http://schemas.microsoft.com/office/drawing/2014/main" val="2704716681"/>
                    </a:ext>
                  </a:extLst>
                </a:gridCol>
                <a:gridCol w="1865419">
                  <a:extLst>
                    <a:ext uri="{9D8B030D-6E8A-4147-A177-3AD203B41FA5}">
                      <a16:colId xmlns:a16="http://schemas.microsoft.com/office/drawing/2014/main" val="2572991551"/>
                    </a:ext>
                  </a:extLst>
                </a:gridCol>
                <a:gridCol w="1865419">
                  <a:extLst>
                    <a:ext uri="{9D8B030D-6E8A-4147-A177-3AD203B41FA5}">
                      <a16:colId xmlns:a16="http://schemas.microsoft.com/office/drawing/2014/main" val="636209763"/>
                    </a:ext>
                  </a:extLst>
                </a:gridCol>
                <a:gridCol w="1865419">
                  <a:extLst>
                    <a:ext uri="{9D8B030D-6E8A-4147-A177-3AD203B41FA5}">
                      <a16:colId xmlns:a16="http://schemas.microsoft.com/office/drawing/2014/main" val="3535390674"/>
                    </a:ext>
                  </a:extLst>
                </a:gridCol>
              </a:tblGrid>
              <a:tr h="424362">
                <a:tc>
                  <a:txBody>
                    <a:bodyPr/>
                    <a:lstStyle/>
                    <a:p>
                      <a:r>
                        <a:rPr lang="en-US" dirty="0"/>
                        <a:t>Drawing/InChI</a:t>
                      </a:r>
                    </a:p>
                  </a:txBody>
                  <a:tcPr/>
                </a:tc>
                <a:tc>
                  <a:txBody>
                    <a:bodyPr/>
                    <a:lstStyle/>
                    <a:p>
                      <a:r>
                        <a:rPr lang="en-US" dirty="0"/>
                        <a:t>V3 Molfile</a:t>
                      </a:r>
                    </a:p>
                  </a:txBody>
                  <a:tcPr/>
                </a:tc>
                <a:tc>
                  <a:txBody>
                    <a:bodyPr/>
                    <a:lstStyle/>
                    <a:p>
                      <a:r>
                        <a:rPr lang="en-US" dirty="0"/>
                        <a:t>Drawing/InChI</a:t>
                      </a:r>
                    </a:p>
                  </a:txBody>
                  <a:tcPr/>
                </a:tc>
                <a:tc>
                  <a:txBody>
                    <a:bodyPr/>
                    <a:lstStyle/>
                    <a:p>
                      <a:r>
                        <a:rPr lang="en-US" dirty="0"/>
                        <a:t>V3 Molfile</a:t>
                      </a:r>
                    </a:p>
                  </a:txBody>
                  <a:tcPr/>
                </a:tc>
                <a:tc>
                  <a:txBody>
                    <a:bodyPr/>
                    <a:lstStyle/>
                    <a:p>
                      <a:r>
                        <a:rPr lang="en-US" dirty="0"/>
                        <a:t>Drawing/InChI</a:t>
                      </a:r>
                    </a:p>
                  </a:txBody>
                  <a:tcPr/>
                </a:tc>
                <a:tc>
                  <a:txBody>
                    <a:bodyPr/>
                    <a:lstStyle/>
                    <a:p>
                      <a:r>
                        <a:rPr lang="en-US" dirty="0"/>
                        <a:t>V3 Molfile</a:t>
                      </a:r>
                    </a:p>
                  </a:txBody>
                  <a:tcPr/>
                </a:tc>
                <a:extLst>
                  <a:ext uri="{0D108BD9-81ED-4DB2-BD59-A6C34878D82A}">
                    <a16:rowId xmlns:a16="http://schemas.microsoft.com/office/drawing/2014/main" val="554661345"/>
                  </a:ext>
                </a:extLst>
              </a:tr>
              <a:tr h="3279529">
                <a:tc>
                  <a:txBody>
                    <a:bodyPr/>
                    <a:lstStyle/>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InChI=1S/C5H5BrClFO/c1-3(9)4(7) 2-5(6)8/h3,9H, 1H3/t2-,3-</a:t>
                      </a:r>
                      <a:r>
                        <a:rPr lang="pt-BR" sz="1800" kern="1200" dirty="0">
                          <a:solidFill>
                            <a:srgbClr val="FF0000"/>
                          </a:solidFill>
                          <a:effectLst/>
                          <a:latin typeface="+mn-lt"/>
                          <a:ea typeface="+mn-ea"/>
                          <a:cs typeface="+mn-cs"/>
                        </a:rPr>
                        <a:t>/m1/s1</a:t>
                      </a:r>
                    </a:p>
                    <a:p>
                      <a:endParaRPr lang="en-US" sz="1400" dirty="0"/>
                    </a:p>
                  </a:txBody>
                  <a:tcPr/>
                </a:tc>
                <a:tc>
                  <a:txBody>
                    <a:bodyPr/>
                    <a:lstStyle/>
                    <a:p>
                      <a:endParaRPr lang="en-US" sz="700" dirty="0"/>
                    </a:p>
                    <a:p>
                      <a:r>
                        <a:rPr lang="en-US" sz="700" dirty="0"/>
                        <a:t>  ACCLDraw07032619162D</a:t>
                      </a:r>
                    </a:p>
                    <a:p>
                      <a:endParaRPr lang="en-US" sz="700" dirty="0"/>
                    </a:p>
                    <a:p>
                      <a:r>
                        <a:rPr lang="en-US" sz="700" dirty="0"/>
                        <a:t>  0  0  0     0  0            999 V3000</a:t>
                      </a:r>
                    </a:p>
                    <a:p>
                      <a:r>
                        <a:rPr lang="en-US" sz="700" dirty="0"/>
                        <a:t>M  V30 BEGIN CTAB</a:t>
                      </a:r>
                    </a:p>
                    <a:p>
                      <a:r>
                        <a:rPr lang="en-US" sz="700" dirty="0"/>
                        <a:t>M  V30 COUNTS 9 8 0 0 1</a:t>
                      </a:r>
                    </a:p>
                    <a:p>
                      <a:r>
                        <a:rPr lang="en-US" sz="700" dirty="0"/>
                        <a:t>M  V30 BEGIN ATOM</a:t>
                      </a:r>
                    </a:p>
                    <a:p>
                      <a:r>
                        <a:rPr lang="en-US" sz="700" dirty="0"/>
                        <a:t>M  V30 1 C 5.5095 -16.0029 0 0 </a:t>
                      </a:r>
                    </a:p>
                    <a:p>
                      <a:r>
                        <a:rPr lang="en-US" sz="700" dirty="0"/>
                        <a:t>M  V30 2 C 4.3288 -16.0029 0 0 </a:t>
                      </a:r>
                    </a:p>
                    <a:p>
                      <a:r>
                        <a:rPr lang="en-US" sz="700" dirty="0"/>
                        <a:t>M  V30 3 Br 3.7385 -17.0254 0 0 </a:t>
                      </a:r>
                    </a:p>
                    <a:p>
                      <a:r>
                        <a:rPr lang="en-US" sz="700" dirty="0"/>
                        <a:t>M  V30 4 F 3.7385 -14.9803 0 0 </a:t>
                      </a:r>
                    </a:p>
                    <a:p>
                      <a:r>
                        <a:rPr lang="en-US" sz="700" dirty="0"/>
                        <a:t>M  V30 5 C 6.6904 -16.0029 0 0 </a:t>
                      </a:r>
                    </a:p>
                    <a:p>
                      <a:r>
                        <a:rPr lang="en-US" sz="700" dirty="0"/>
                        <a:t>M  V30 6 C 7.2807 -17.0254 0 0 CFG=1 </a:t>
                      </a:r>
                    </a:p>
                    <a:p>
                      <a:r>
                        <a:rPr lang="en-US" sz="700" dirty="0"/>
                        <a:t>M  V30 7 C 8.4614 -17.0254 0 0 </a:t>
                      </a:r>
                    </a:p>
                    <a:p>
                      <a:r>
                        <a:rPr lang="en-US" sz="700" dirty="0"/>
                        <a:t>M  V30 8 O 6.6903 -18.048 0 0 </a:t>
                      </a:r>
                    </a:p>
                    <a:p>
                      <a:r>
                        <a:rPr lang="en-US" sz="700" dirty="0"/>
                        <a:t>M  V30 9 Cl 7.2807 -14.9803 0 0 </a:t>
                      </a:r>
                    </a:p>
                    <a:p>
                      <a:r>
                        <a:rPr lang="en-US" sz="700" dirty="0"/>
                        <a:t>M  V30 END ATOM</a:t>
                      </a:r>
                    </a:p>
                    <a:p>
                      <a:r>
                        <a:rPr lang="en-US" sz="700" dirty="0"/>
                        <a:t>M  V30 BEGIN BOND</a:t>
                      </a:r>
                    </a:p>
                    <a:p>
                      <a:r>
                        <a:rPr lang="en-US" sz="700" dirty="0"/>
                        <a:t>M  V30 1 2 2 1 </a:t>
                      </a:r>
                    </a:p>
                    <a:p>
                      <a:r>
                        <a:rPr lang="en-US" sz="700" dirty="0"/>
                        <a:t>M  V30 2 1 2 3 CFG=1 </a:t>
                      </a:r>
                    </a:p>
                    <a:p>
                      <a:r>
                        <a:rPr lang="en-US" sz="700" dirty="0"/>
                        <a:t>M  V30 3 1 2 4 </a:t>
                      </a:r>
                    </a:p>
                    <a:p>
                      <a:r>
                        <a:rPr lang="en-US" sz="700" dirty="0"/>
                        <a:t>M  V30 4 2 1 5 </a:t>
                      </a:r>
                    </a:p>
                    <a:p>
                      <a:r>
                        <a:rPr lang="en-US" sz="700" dirty="0"/>
                        <a:t>M  V30 5 1 5 6 </a:t>
                      </a:r>
                    </a:p>
                    <a:p>
                      <a:r>
                        <a:rPr lang="en-US" sz="700" dirty="0"/>
                        <a:t>M  V30 6 1 6 7 </a:t>
                      </a:r>
                    </a:p>
                    <a:p>
                      <a:r>
                        <a:rPr lang="en-US" sz="700" dirty="0"/>
                        <a:t>M  V30 7 1 6 8 CFG=1 </a:t>
                      </a:r>
                    </a:p>
                    <a:p>
                      <a:r>
                        <a:rPr lang="en-US" sz="700" dirty="0"/>
                        <a:t>M  V30 8 1 5 9 CFG=1 </a:t>
                      </a:r>
                    </a:p>
                    <a:p>
                      <a:r>
                        <a:rPr lang="en-US" sz="700" dirty="0"/>
                        <a:t>M  V30 END BOND</a:t>
                      </a:r>
                    </a:p>
                    <a:p>
                      <a:r>
                        <a:rPr lang="en-US" sz="700" b="1" dirty="0">
                          <a:solidFill>
                            <a:srgbClr val="FF0000"/>
                          </a:solidFill>
                        </a:rPr>
                        <a:t>M  V30 BEGIN COLLECTION</a:t>
                      </a:r>
                    </a:p>
                    <a:p>
                      <a:r>
                        <a:rPr lang="en-US" sz="700" b="1" dirty="0">
                          <a:solidFill>
                            <a:srgbClr val="FF0000"/>
                          </a:solidFill>
                        </a:rPr>
                        <a:t>M  V30 MDLV30/STEABS ATOMS=(2 1 6)</a:t>
                      </a:r>
                    </a:p>
                    <a:p>
                      <a:r>
                        <a:rPr lang="en-US" sz="700" b="1" dirty="0">
                          <a:solidFill>
                            <a:srgbClr val="FF0000"/>
                          </a:solidFill>
                        </a:rPr>
                        <a:t>M  V30 END COLLECTION</a:t>
                      </a:r>
                    </a:p>
                    <a:p>
                      <a:r>
                        <a:rPr lang="en-US" sz="700" dirty="0"/>
                        <a:t>M  V30 END CTAB</a:t>
                      </a:r>
                    </a:p>
                    <a:p>
                      <a:r>
                        <a:rPr lang="en-US" sz="700" dirty="0"/>
                        <a:t>M  END</a:t>
                      </a:r>
                    </a:p>
                    <a:p>
                      <a:endParaRPr lang="en-US" sz="600" dirty="0"/>
                    </a:p>
                  </a:txBody>
                  <a:tcPr/>
                </a:tc>
                <a:tc>
                  <a:txBody>
                    <a:bodyPr/>
                    <a:lstStyle/>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80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InChI=1S/C5H5BrClFO/c1-3(9)4(7) 2-5(6)8/h3,9H, 1H3/t2-,3-</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rgbClr val="FF0000"/>
                          </a:solidFill>
                          <a:effectLst/>
                          <a:latin typeface="+mn-lt"/>
                          <a:ea typeface="+mn-ea"/>
                          <a:cs typeface="+mn-cs"/>
                        </a:rPr>
                        <a:t>/m1/s1(3)2(2)</a:t>
                      </a:r>
                    </a:p>
                    <a:p>
                      <a:endParaRPr lang="en-US" dirty="0"/>
                    </a:p>
                    <a:p>
                      <a:endParaRPr lang="en-US" dirty="0"/>
                    </a:p>
                  </a:txBody>
                  <a:tcPr/>
                </a:tc>
                <a:tc>
                  <a:txBody>
                    <a:bodyPr/>
                    <a:lstStyle/>
                    <a:p>
                      <a:endParaRPr lang="en-US" sz="700" dirty="0"/>
                    </a:p>
                    <a:p>
                      <a:r>
                        <a:rPr lang="en-US" sz="700" dirty="0"/>
                        <a:t>  ACCLDraw07032619222D</a:t>
                      </a:r>
                    </a:p>
                    <a:p>
                      <a:endParaRPr lang="en-US" sz="700" dirty="0"/>
                    </a:p>
                    <a:p>
                      <a:r>
                        <a:rPr lang="en-US" sz="700" dirty="0"/>
                        <a:t>  0  0  0     0  0            999 V3000</a:t>
                      </a:r>
                    </a:p>
                    <a:p>
                      <a:r>
                        <a:rPr lang="en-US" sz="700" dirty="0"/>
                        <a:t>M  V30 BEGIN CTAB</a:t>
                      </a:r>
                    </a:p>
                    <a:p>
                      <a:r>
                        <a:rPr lang="en-US" sz="700" dirty="0"/>
                        <a:t>M  V30 COUNTS 9 8 0 0 0</a:t>
                      </a:r>
                    </a:p>
                    <a:p>
                      <a:r>
                        <a:rPr lang="en-US" sz="700" dirty="0"/>
                        <a:t>M  V30 BEGIN ATOM</a:t>
                      </a:r>
                    </a:p>
                    <a:p>
                      <a:r>
                        <a:rPr lang="en-US" sz="700" dirty="0"/>
                        <a:t>M  V30 1 C 6.2812 -4.7188 0 0 </a:t>
                      </a:r>
                    </a:p>
                    <a:p>
                      <a:r>
                        <a:rPr lang="en-US" sz="700" dirty="0"/>
                        <a:t>M  V30 2 C 5.1005 -4.7188 0 0 </a:t>
                      </a:r>
                    </a:p>
                    <a:p>
                      <a:r>
                        <a:rPr lang="en-US" sz="700" dirty="0"/>
                        <a:t>M  V30 3 Br 4.5101 -5.7413 0 0 </a:t>
                      </a:r>
                    </a:p>
                    <a:p>
                      <a:r>
                        <a:rPr lang="en-US" sz="700" dirty="0"/>
                        <a:t>M  V30 4 F 4.5101 -3.6962 0 0 </a:t>
                      </a:r>
                    </a:p>
                    <a:p>
                      <a:r>
                        <a:rPr lang="en-US" sz="700" dirty="0"/>
                        <a:t>M  V30 5 C 7.4621 -4.7188 0 0 </a:t>
                      </a:r>
                    </a:p>
                    <a:p>
                      <a:r>
                        <a:rPr lang="en-US" sz="700" dirty="0"/>
                        <a:t>M  V30 6 C 8.0524 -5.7413 0 0 CFG=1 </a:t>
                      </a:r>
                    </a:p>
                    <a:p>
                      <a:r>
                        <a:rPr lang="en-US" sz="700" dirty="0"/>
                        <a:t>M  V30 7 Cl 8.0524 -3.6962 0 0 </a:t>
                      </a:r>
                    </a:p>
                    <a:p>
                      <a:r>
                        <a:rPr lang="en-US" sz="700" dirty="0"/>
                        <a:t>M  V30 8 C 9.2331 -5.7413 0 0 </a:t>
                      </a:r>
                    </a:p>
                    <a:p>
                      <a:r>
                        <a:rPr lang="en-US" sz="700" dirty="0"/>
                        <a:t>M  V30 9 O 7.462 -6.7638 0 0 </a:t>
                      </a:r>
                    </a:p>
                    <a:p>
                      <a:r>
                        <a:rPr lang="en-US" sz="700" dirty="0"/>
                        <a:t>M  V30 END ATOM</a:t>
                      </a:r>
                    </a:p>
                    <a:p>
                      <a:r>
                        <a:rPr lang="en-US" sz="700" dirty="0"/>
                        <a:t>M  V30 BEGIN BOND</a:t>
                      </a:r>
                    </a:p>
                    <a:p>
                      <a:r>
                        <a:rPr lang="en-US" sz="700" dirty="0"/>
                        <a:t>M  V30 1 2 2 1 </a:t>
                      </a:r>
                    </a:p>
                    <a:p>
                      <a:r>
                        <a:rPr lang="en-US" sz="700" dirty="0"/>
                        <a:t>M  V30 2 1 2 3 CFG=1 </a:t>
                      </a:r>
                    </a:p>
                    <a:p>
                      <a:r>
                        <a:rPr lang="en-US" sz="700" dirty="0"/>
                        <a:t>M  V30 3 1 2 4 </a:t>
                      </a:r>
                    </a:p>
                    <a:p>
                      <a:r>
                        <a:rPr lang="en-US" sz="700" dirty="0"/>
                        <a:t>M  V30 4 2 1 5 </a:t>
                      </a:r>
                    </a:p>
                    <a:p>
                      <a:r>
                        <a:rPr lang="en-US" sz="700" dirty="0"/>
                        <a:t>M  V30 5 1 5 6 </a:t>
                      </a:r>
                    </a:p>
                    <a:p>
                      <a:r>
                        <a:rPr lang="en-US" sz="700" dirty="0"/>
                        <a:t>M  V30 6 1 5 7 CFG=1 </a:t>
                      </a:r>
                    </a:p>
                    <a:p>
                      <a:r>
                        <a:rPr lang="en-US" sz="700" dirty="0"/>
                        <a:t>M  V30 7 1 6 8 </a:t>
                      </a:r>
                    </a:p>
                    <a:p>
                      <a:r>
                        <a:rPr lang="en-US" sz="700" dirty="0"/>
                        <a:t>M  V30 8 1 6 9 CFG=1 </a:t>
                      </a:r>
                    </a:p>
                    <a:p>
                      <a:r>
                        <a:rPr lang="en-US" sz="700" dirty="0"/>
                        <a:t>M  V30 END BOND</a:t>
                      </a:r>
                    </a:p>
                    <a:p>
                      <a:r>
                        <a:rPr lang="en-US" sz="700" b="1" dirty="0">
                          <a:solidFill>
                            <a:srgbClr val="FF0000"/>
                          </a:solidFill>
                        </a:rPr>
                        <a:t>M  V30 BEGIN COLLECTION</a:t>
                      </a:r>
                    </a:p>
                    <a:p>
                      <a:r>
                        <a:rPr lang="en-US" sz="700" b="1" dirty="0">
                          <a:solidFill>
                            <a:srgbClr val="FF0000"/>
                          </a:solidFill>
                        </a:rPr>
                        <a:t>M  V30 MDLV30/STEABS ATOMS=(1 6)</a:t>
                      </a:r>
                    </a:p>
                    <a:p>
                      <a:r>
                        <a:rPr lang="en-US" sz="700" b="1" dirty="0">
                          <a:solidFill>
                            <a:srgbClr val="FF0000"/>
                          </a:solidFill>
                        </a:rPr>
                        <a:t>M  V30 MDLV30/STEREL1 ATOMS=(1 1)</a:t>
                      </a:r>
                    </a:p>
                    <a:p>
                      <a:r>
                        <a:rPr lang="en-US" sz="700" b="1" dirty="0">
                          <a:solidFill>
                            <a:srgbClr val="FF0000"/>
                          </a:solidFill>
                        </a:rPr>
                        <a:t>M  V30 END COLLECTION</a:t>
                      </a:r>
                    </a:p>
                    <a:p>
                      <a:r>
                        <a:rPr lang="en-US" sz="700" dirty="0"/>
                        <a:t>M  V30 END CTAB</a:t>
                      </a:r>
                    </a:p>
                    <a:p>
                      <a:r>
                        <a:rPr lang="en-US" sz="700" dirty="0"/>
                        <a:t>M  END</a:t>
                      </a:r>
                    </a:p>
                    <a:p>
                      <a:endParaRPr lang="en-US" sz="700"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InChI=1S/C5H5BrClFO/c1-3(9)4(7) 2-5(6)8/h3,9H, 1H3/t2-,3-</a:t>
                      </a:r>
                      <a:r>
                        <a:rPr lang="pt-BR" sz="1800" kern="1200" dirty="0">
                          <a:solidFill>
                            <a:srgbClr val="FF0000"/>
                          </a:solidFill>
                          <a:effectLst/>
                          <a:latin typeface="+mn-lt"/>
                          <a:ea typeface="+mn-ea"/>
                          <a:cs typeface="+mn-cs"/>
                        </a:rPr>
                        <a:t>/m1/s1(2)3(3)</a:t>
                      </a:r>
                    </a:p>
                    <a:p>
                      <a:endParaRPr lang="en-US" dirty="0"/>
                    </a:p>
                  </a:txBody>
                  <a:tcPr/>
                </a:tc>
                <a:tc>
                  <a:txBody>
                    <a:bodyPr/>
                    <a:lstStyle/>
                    <a:p>
                      <a:endParaRPr lang="en-US" sz="700" dirty="0"/>
                    </a:p>
                    <a:p>
                      <a:r>
                        <a:rPr lang="en-US" sz="700" dirty="0"/>
                        <a:t>  ACCLDraw07032619232D</a:t>
                      </a:r>
                    </a:p>
                    <a:p>
                      <a:endParaRPr lang="en-US" sz="700" dirty="0"/>
                    </a:p>
                    <a:p>
                      <a:r>
                        <a:rPr lang="en-US" sz="700" dirty="0"/>
                        <a:t>  0  0  0     0  0            999 V3000</a:t>
                      </a:r>
                    </a:p>
                    <a:p>
                      <a:r>
                        <a:rPr lang="en-US" sz="700" dirty="0"/>
                        <a:t>M  V30 BEGIN CTAB</a:t>
                      </a:r>
                    </a:p>
                    <a:p>
                      <a:r>
                        <a:rPr lang="en-US" sz="700" dirty="0"/>
                        <a:t>M  V30 COUNTS 9 8 0 0 0</a:t>
                      </a:r>
                    </a:p>
                    <a:p>
                      <a:r>
                        <a:rPr lang="en-US" sz="700" dirty="0"/>
                        <a:t>M  V30 BEGIN ATOM</a:t>
                      </a:r>
                    </a:p>
                    <a:p>
                      <a:r>
                        <a:rPr lang="en-US" sz="700" dirty="0"/>
                        <a:t>M  V30 1 C 5.7908 -11.0029 0 0 </a:t>
                      </a:r>
                    </a:p>
                    <a:p>
                      <a:r>
                        <a:rPr lang="en-US" sz="700" dirty="0"/>
                        <a:t>M  V30 2 C 4.61 -11.0029 0 0 </a:t>
                      </a:r>
                    </a:p>
                    <a:p>
                      <a:r>
                        <a:rPr lang="en-US" sz="700" dirty="0"/>
                        <a:t>M  V30 3 Br 4.0197 -12.0254 0 0 </a:t>
                      </a:r>
                    </a:p>
                    <a:p>
                      <a:r>
                        <a:rPr lang="en-US" sz="700" dirty="0"/>
                        <a:t>M  V30 4 F 4.0197 -9.9803 0 0 </a:t>
                      </a:r>
                    </a:p>
                    <a:p>
                      <a:r>
                        <a:rPr lang="en-US" sz="700" dirty="0"/>
                        <a:t>M  V30 5 C 6.9716 -11.0029 0 0 </a:t>
                      </a:r>
                    </a:p>
                    <a:p>
                      <a:r>
                        <a:rPr lang="en-US" sz="700" dirty="0"/>
                        <a:t>M  V30 6 C 7.562 -12.0254 0 0 CFG=1 </a:t>
                      </a:r>
                    </a:p>
                    <a:p>
                      <a:r>
                        <a:rPr lang="en-US" sz="700" dirty="0"/>
                        <a:t>M  V30 7 C 8.7427 -12.0254 0 0 </a:t>
                      </a:r>
                    </a:p>
                    <a:p>
                      <a:r>
                        <a:rPr lang="en-US" sz="700" dirty="0"/>
                        <a:t>M  V30 8 O 6.9716 -13.048 0 0 </a:t>
                      </a:r>
                    </a:p>
                    <a:p>
                      <a:r>
                        <a:rPr lang="en-US" sz="700" dirty="0"/>
                        <a:t>M  V30 9 Cl 7.562 -9.9803 0 0 </a:t>
                      </a:r>
                    </a:p>
                    <a:p>
                      <a:r>
                        <a:rPr lang="en-US" sz="700" dirty="0"/>
                        <a:t>M  V30 END ATOM</a:t>
                      </a:r>
                    </a:p>
                    <a:p>
                      <a:r>
                        <a:rPr lang="en-US" sz="700" dirty="0"/>
                        <a:t>M  V30 BEGIN BOND</a:t>
                      </a:r>
                    </a:p>
                    <a:p>
                      <a:r>
                        <a:rPr lang="en-US" sz="700" dirty="0"/>
                        <a:t>M  V30 1 2 2 1 </a:t>
                      </a:r>
                    </a:p>
                    <a:p>
                      <a:r>
                        <a:rPr lang="en-US" sz="700" dirty="0"/>
                        <a:t>M  V30 2 1 2 3 CFG=1 </a:t>
                      </a:r>
                    </a:p>
                    <a:p>
                      <a:r>
                        <a:rPr lang="en-US" sz="700" dirty="0"/>
                        <a:t>M  V30 3 1 2 4 </a:t>
                      </a:r>
                    </a:p>
                    <a:p>
                      <a:r>
                        <a:rPr lang="en-US" sz="700" dirty="0"/>
                        <a:t>M  V30 4 2 1 5 </a:t>
                      </a:r>
                    </a:p>
                    <a:p>
                      <a:r>
                        <a:rPr lang="en-US" sz="700" dirty="0"/>
                        <a:t>M  V30 5 1 5 6 </a:t>
                      </a:r>
                    </a:p>
                    <a:p>
                      <a:r>
                        <a:rPr lang="en-US" sz="700" dirty="0"/>
                        <a:t>M  V30 6 1 6 7 </a:t>
                      </a:r>
                    </a:p>
                    <a:p>
                      <a:r>
                        <a:rPr lang="en-US" sz="700" dirty="0"/>
                        <a:t>M  V30 7 1 6 8 CFG=1 </a:t>
                      </a:r>
                    </a:p>
                    <a:p>
                      <a:r>
                        <a:rPr lang="en-US" sz="700" dirty="0"/>
                        <a:t>M  V30 8 1 5 9 CFG=1 </a:t>
                      </a:r>
                    </a:p>
                    <a:p>
                      <a:r>
                        <a:rPr lang="en-US" sz="700" dirty="0"/>
                        <a:t>M  V30 END BOND</a:t>
                      </a:r>
                    </a:p>
                    <a:p>
                      <a:r>
                        <a:rPr lang="en-US" sz="700" b="1" dirty="0">
                          <a:solidFill>
                            <a:srgbClr val="FF0000"/>
                          </a:solidFill>
                        </a:rPr>
                        <a:t>M  V30 BEGIN COLLECTION</a:t>
                      </a:r>
                    </a:p>
                    <a:p>
                      <a:r>
                        <a:rPr lang="en-US" sz="700" b="1" dirty="0">
                          <a:solidFill>
                            <a:srgbClr val="FF0000"/>
                          </a:solidFill>
                        </a:rPr>
                        <a:t>M  V30 MDLV30/STEABS ATOMS=(1 1)</a:t>
                      </a:r>
                    </a:p>
                    <a:p>
                      <a:r>
                        <a:rPr lang="en-US" sz="700" b="1" dirty="0">
                          <a:solidFill>
                            <a:srgbClr val="FF0000"/>
                          </a:solidFill>
                        </a:rPr>
                        <a:t>M  V30 MDLV30/STERAC1 ATOMS=(1 6)</a:t>
                      </a:r>
                    </a:p>
                    <a:p>
                      <a:r>
                        <a:rPr lang="en-US" sz="700" b="1" dirty="0">
                          <a:solidFill>
                            <a:srgbClr val="FF0000"/>
                          </a:solidFill>
                        </a:rPr>
                        <a:t>M  V30 END COLLECTION</a:t>
                      </a:r>
                    </a:p>
                    <a:p>
                      <a:r>
                        <a:rPr lang="en-US" sz="700" dirty="0"/>
                        <a:t>M  V30 END CTAB</a:t>
                      </a:r>
                    </a:p>
                    <a:p>
                      <a:r>
                        <a:rPr lang="en-US" sz="700" dirty="0"/>
                        <a:t>M  END</a:t>
                      </a:r>
                    </a:p>
                    <a:p>
                      <a:endParaRPr lang="en-US" sz="700" dirty="0"/>
                    </a:p>
                  </a:txBody>
                  <a:tcPr/>
                </a:tc>
                <a:extLst>
                  <a:ext uri="{0D108BD9-81ED-4DB2-BD59-A6C34878D82A}">
                    <a16:rowId xmlns:a16="http://schemas.microsoft.com/office/drawing/2014/main" val="4236712087"/>
                  </a:ext>
                </a:extLst>
              </a:tr>
            </a:tbl>
          </a:graphicData>
        </a:graphic>
      </p:graphicFrame>
      <p:pic>
        <p:nvPicPr>
          <p:cNvPr id="6" name="Grafik 5">
            <a:extLst>
              <a:ext uri="{FF2B5EF4-FFF2-40B4-BE49-F238E27FC236}">
                <a16:creationId xmlns:a16="http://schemas.microsoft.com/office/drawing/2014/main" id="{A933DCB6-B56B-D0D7-F474-51BB276DB197}"/>
              </a:ext>
            </a:extLst>
          </p:cNvPr>
          <p:cNvPicPr>
            <a:picLocks noChangeAspect="1"/>
          </p:cNvPicPr>
          <p:nvPr/>
        </p:nvPicPr>
        <p:blipFill>
          <a:blip r:embed="rId2"/>
          <a:stretch>
            <a:fillRect/>
          </a:stretch>
        </p:blipFill>
        <p:spPr>
          <a:xfrm>
            <a:off x="893727" y="3093467"/>
            <a:ext cx="1752600" cy="1228725"/>
          </a:xfrm>
          <a:prstGeom prst="rect">
            <a:avLst/>
          </a:prstGeom>
        </p:spPr>
      </p:pic>
      <p:pic>
        <p:nvPicPr>
          <p:cNvPr id="8" name="Grafik 7">
            <a:extLst>
              <a:ext uri="{FF2B5EF4-FFF2-40B4-BE49-F238E27FC236}">
                <a16:creationId xmlns:a16="http://schemas.microsoft.com/office/drawing/2014/main" id="{CF86C4C8-8F86-81AE-CA4E-E53349C52054}"/>
              </a:ext>
            </a:extLst>
          </p:cNvPr>
          <p:cNvPicPr>
            <a:picLocks noChangeAspect="1"/>
          </p:cNvPicPr>
          <p:nvPr/>
        </p:nvPicPr>
        <p:blipFill>
          <a:blip r:embed="rId3"/>
          <a:stretch>
            <a:fillRect/>
          </a:stretch>
        </p:blipFill>
        <p:spPr>
          <a:xfrm>
            <a:off x="8368845" y="3093467"/>
            <a:ext cx="1752600" cy="1590675"/>
          </a:xfrm>
          <a:prstGeom prst="rect">
            <a:avLst/>
          </a:prstGeom>
        </p:spPr>
      </p:pic>
      <p:pic>
        <p:nvPicPr>
          <p:cNvPr id="10" name="Grafik 9">
            <a:extLst>
              <a:ext uri="{FF2B5EF4-FFF2-40B4-BE49-F238E27FC236}">
                <a16:creationId xmlns:a16="http://schemas.microsoft.com/office/drawing/2014/main" id="{0C21F57B-578A-5558-DE49-9BE08A94EB84}"/>
              </a:ext>
            </a:extLst>
          </p:cNvPr>
          <p:cNvPicPr>
            <a:picLocks noChangeAspect="1"/>
          </p:cNvPicPr>
          <p:nvPr/>
        </p:nvPicPr>
        <p:blipFill>
          <a:blip r:embed="rId4"/>
          <a:stretch>
            <a:fillRect/>
          </a:stretch>
        </p:blipFill>
        <p:spPr>
          <a:xfrm>
            <a:off x="4631286" y="3093467"/>
            <a:ext cx="1752600" cy="1590675"/>
          </a:xfrm>
          <a:prstGeom prst="rect">
            <a:avLst/>
          </a:prstGeom>
        </p:spPr>
      </p:pic>
      <p:sp>
        <p:nvSpPr>
          <p:cNvPr id="11" name="Textfeld 10">
            <a:extLst>
              <a:ext uri="{FF2B5EF4-FFF2-40B4-BE49-F238E27FC236}">
                <a16:creationId xmlns:a16="http://schemas.microsoft.com/office/drawing/2014/main" id="{CFB6E4CA-D266-6E28-F81F-BFBE5BF54A40}"/>
              </a:ext>
            </a:extLst>
          </p:cNvPr>
          <p:cNvSpPr txBox="1"/>
          <p:nvPr/>
        </p:nvSpPr>
        <p:spPr>
          <a:xfrm>
            <a:off x="2070555" y="3830842"/>
            <a:ext cx="263214" cy="276999"/>
          </a:xfrm>
          <a:prstGeom prst="rect">
            <a:avLst/>
          </a:prstGeom>
          <a:noFill/>
        </p:spPr>
        <p:txBody>
          <a:bodyPr wrap="none" rtlCol="0">
            <a:spAutoFit/>
          </a:bodyPr>
          <a:lstStyle/>
          <a:p>
            <a:r>
              <a:rPr lang="en-US" sz="1200" dirty="0">
                <a:solidFill>
                  <a:srgbClr val="FF0000"/>
                </a:solidFill>
              </a:rPr>
              <a:t>3</a:t>
            </a:r>
          </a:p>
        </p:txBody>
      </p:sp>
      <p:sp>
        <p:nvSpPr>
          <p:cNvPr id="12" name="Textfeld 11">
            <a:extLst>
              <a:ext uri="{FF2B5EF4-FFF2-40B4-BE49-F238E27FC236}">
                <a16:creationId xmlns:a16="http://schemas.microsoft.com/office/drawing/2014/main" id="{D365E959-881B-479B-FCE7-ABAB41A82D32}"/>
              </a:ext>
            </a:extLst>
          </p:cNvPr>
          <p:cNvSpPr txBox="1"/>
          <p:nvPr/>
        </p:nvSpPr>
        <p:spPr>
          <a:xfrm>
            <a:off x="1464372" y="3589358"/>
            <a:ext cx="263214" cy="276999"/>
          </a:xfrm>
          <a:prstGeom prst="rect">
            <a:avLst/>
          </a:prstGeom>
          <a:noFill/>
        </p:spPr>
        <p:txBody>
          <a:bodyPr wrap="none" rtlCol="0">
            <a:spAutoFit/>
          </a:bodyPr>
          <a:lstStyle/>
          <a:p>
            <a:r>
              <a:rPr lang="en-US" sz="1200" dirty="0">
                <a:solidFill>
                  <a:srgbClr val="FF0000"/>
                </a:solidFill>
              </a:rPr>
              <a:t>2</a:t>
            </a:r>
          </a:p>
        </p:txBody>
      </p:sp>
      <p:sp>
        <p:nvSpPr>
          <p:cNvPr id="13" name="Textfeld 12">
            <a:extLst>
              <a:ext uri="{FF2B5EF4-FFF2-40B4-BE49-F238E27FC236}">
                <a16:creationId xmlns:a16="http://schemas.microsoft.com/office/drawing/2014/main" id="{277C4CC6-0F63-8C89-587F-3B651138EBA4}"/>
              </a:ext>
            </a:extLst>
          </p:cNvPr>
          <p:cNvSpPr txBox="1"/>
          <p:nvPr/>
        </p:nvSpPr>
        <p:spPr>
          <a:xfrm>
            <a:off x="5798546" y="4151360"/>
            <a:ext cx="263214" cy="276999"/>
          </a:xfrm>
          <a:prstGeom prst="rect">
            <a:avLst/>
          </a:prstGeom>
          <a:noFill/>
        </p:spPr>
        <p:txBody>
          <a:bodyPr wrap="none" rtlCol="0">
            <a:spAutoFit/>
          </a:bodyPr>
          <a:lstStyle/>
          <a:p>
            <a:r>
              <a:rPr lang="en-US" sz="1200" dirty="0">
                <a:solidFill>
                  <a:srgbClr val="FF0000"/>
                </a:solidFill>
              </a:rPr>
              <a:t>3</a:t>
            </a:r>
          </a:p>
        </p:txBody>
      </p:sp>
      <p:sp>
        <p:nvSpPr>
          <p:cNvPr id="14" name="Textfeld 13">
            <a:extLst>
              <a:ext uri="{FF2B5EF4-FFF2-40B4-BE49-F238E27FC236}">
                <a16:creationId xmlns:a16="http://schemas.microsoft.com/office/drawing/2014/main" id="{FEDCE377-DC5E-2B29-0223-844D91C9CE54}"/>
              </a:ext>
            </a:extLst>
          </p:cNvPr>
          <p:cNvSpPr txBox="1"/>
          <p:nvPr/>
        </p:nvSpPr>
        <p:spPr>
          <a:xfrm>
            <a:off x="5192363" y="3909876"/>
            <a:ext cx="263214" cy="276999"/>
          </a:xfrm>
          <a:prstGeom prst="rect">
            <a:avLst/>
          </a:prstGeom>
          <a:noFill/>
        </p:spPr>
        <p:txBody>
          <a:bodyPr wrap="none" rtlCol="0">
            <a:spAutoFit/>
          </a:bodyPr>
          <a:lstStyle/>
          <a:p>
            <a:r>
              <a:rPr lang="en-US" sz="1200" dirty="0">
                <a:solidFill>
                  <a:srgbClr val="FF0000"/>
                </a:solidFill>
              </a:rPr>
              <a:t>2</a:t>
            </a:r>
          </a:p>
        </p:txBody>
      </p:sp>
      <p:sp>
        <p:nvSpPr>
          <p:cNvPr id="15" name="Textfeld 14">
            <a:extLst>
              <a:ext uri="{FF2B5EF4-FFF2-40B4-BE49-F238E27FC236}">
                <a16:creationId xmlns:a16="http://schemas.microsoft.com/office/drawing/2014/main" id="{21E007E3-8828-0CC8-F1B6-212A58D19262}"/>
              </a:ext>
            </a:extLst>
          </p:cNvPr>
          <p:cNvSpPr txBox="1"/>
          <p:nvPr/>
        </p:nvSpPr>
        <p:spPr>
          <a:xfrm>
            <a:off x="9546356" y="4183692"/>
            <a:ext cx="263214" cy="276999"/>
          </a:xfrm>
          <a:prstGeom prst="rect">
            <a:avLst/>
          </a:prstGeom>
          <a:noFill/>
        </p:spPr>
        <p:txBody>
          <a:bodyPr wrap="none" rtlCol="0">
            <a:spAutoFit/>
          </a:bodyPr>
          <a:lstStyle/>
          <a:p>
            <a:r>
              <a:rPr lang="en-US" sz="1200" dirty="0">
                <a:solidFill>
                  <a:srgbClr val="FF0000"/>
                </a:solidFill>
              </a:rPr>
              <a:t>3</a:t>
            </a:r>
          </a:p>
        </p:txBody>
      </p:sp>
      <p:sp>
        <p:nvSpPr>
          <p:cNvPr id="16" name="Textfeld 15">
            <a:extLst>
              <a:ext uri="{FF2B5EF4-FFF2-40B4-BE49-F238E27FC236}">
                <a16:creationId xmlns:a16="http://schemas.microsoft.com/office/drawing/2014/main" id="{81BF170B-8847-ACA0-2AB6-20F7F3B64CA7}"/>
              </a:ext>
            </a:extLst>
          </p:cNvPr>
          <p:cNvSpPr txBox="1"/>
          <p:nvPr/>
        </p:nvSpPr>
        <p:spPr>
          <a:xfrm>
            <a:off x="8940173" y="3942208"/>
            <a:ext cx="263214" cy="276999"/>
          </a:xfrm>
          <a:prstGeom prst="rect">
            <a:avLst/>
          </a:prstGeom>
          <a:noFill/>
        </p:spPr>
        <p:txBody>
          <a:bodyPr wrap="none" rtlCol="0">
            <a:spAutoFit/>
          </a:bodyPr>
          <a:lstStyle/>
          <a:p>
            <a:r>
              <a:rPr lang="en-US" sz="1200" dirty="0">
                <a:solidFill>
                  <a:srgbClr val="FF0000"/>
                </a:solidFill>
              </a:rPr>
              <a:t>2</a:t>
            </a:r>
          </a:p>
        </p:txBody>
      </p:sp>
    </p:spTree>
    <p:extLst>
      <p:ext uri="{BB962C8B-B14F-4D97-AF65-F5344CB8AC3E}">
        <p14:creationId xmlns:p14="http://schemas.microsoft.com/office/powerpoint/2010/main" val="4145640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385985-84F2-D111-A5A1-44E5965ED7CF}"/>
              </a:ext>
            </a:extLst>
          </p:cNvPr>
          <p:cNvSpPr>
            <a:spLocks noGrp="1"/>
          </p:cNvSpPr>
          <p:nvPr>
            <p:ph type="title"/>
          </p:nvPr>
        </p:nvSpPr>
        <p:spPr/>
        <p:txBody>
          <a:bodyPr/>
          <a:lstStyle/>
          <a:p>
            <a:r>
              <a:rPr lang="en-US" dirty="0"/>
              <a:t>E/Z configurations</a:t>
            </a:r>
          </a:p>
        </p:txBody>
      </p:sp>
      <p:sp>
        <p:nvSpPr>
          <p:cNvPr id="3" name="Inhaltsplatzhalter 2">
            <a:extLst>
              <a:ext uri="{FF2B5EF4-FFF2-40B4-BE49-F238E27FC236}">
                <a16:creationId xmlns:a16="http://schemas.microsoft.com/office/drawing/2014/main" id="{575228BF-7FB8-1D6D-FC00-B5EEC506CB5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53617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0D35A-A076-86F7-ECA9-9E533D98530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7E64EA-FCF6-4C56-7750-4F9F2076BF72}"/>
              </a:ext>
            </a:extLst>
          </p:cNvPr>
          <p:cNvSpPr>
            <a:spLocks noGrp="1"/>
          </p:cNvSpPr>
          <p:nvPr>
            <p:ph type="title"/>
          </p:nvPr>
        </p:nvSpPr>
        <p:spPr/>
        <p:txBody>
          <a:bodyPr/>
          <a:lstStyle/>
          <a:p>
            <a:r>
              <a:rPr lang="en-US" dirty="0"/>
              <a:t>Enhanced stereochemistry – double bonds</a:t>
            </a:r>
          </a:p>
        </p:txBody>
      </p:sp>
      <p:graphicFrame>
        <p:nvGraphicFramePr>
          <p:cNvPr id="4" name="Inhaltsplatzhalter 3">
            <a:extLst>
              <a:ext uri="{FF2B5EF4-FFF2-40B4-BE49-F238E27FC236}">
                <a16:creationId xmlns:a16="http://schemas.microsoft.com/office/drawing/2014/main" id="{19D55B75-5E10-437C-CE59-7B20B8A5A1DF}"/>
              </a:ext>
            </a:extLst>
          </p:cNvPr>
          <p:cNvGraphicFramePr>
            <a:graphicFrameLocks noGrp="1"/>
          </p:cNvGraphicFramePr>
          <p:nvPr>
            <p:ph idx="1"/>
            <p:extLst>
              <p:ext uri="{D42A27DB-BD31-4B8C-83A1-F6EECF244321}">
                <p14:modId xmlns:p14="http://schemas.microsoft.com/office/powerpoint/2010/main" val="997700191"/>
              </p:ext>
            </p:extLst>
          </p:nvPr>
        </p:nvGraphicFramePr>
        <p:xfrm>
          <a:off x="838200" y="1690686"/>
          <a:ext cx="10741466" cy="5087061"/>
        </p:xfrm>
        <a:graphic>
          <a:graphicData uri="http://schemas.openxmlformats.org/drawingml/2006/table">
            <a:tbl>
              <a:tblPr firstRow="1" bandRow="1">
                <a:tableStyleId>{5C22544A-7EE6-4342-B048-85BDC9FD1C3A}</a:tableStyleId>
              </a:tblPr>
              <a:tblGrid>
                <a:gridCol w="2458561">
                  <a:extLst>
                    <a:ext uri="{9D8B030D-6E8A-4147-A177-3AD203B41FA5}">
                      <a16:colId xmlns:a16="http://schemas.microsoft.com/office/drawing/2014/main" val="1160352942"/>
                    </a:ext>
                  </a:extLst>
                </a:gridCol>
                <a:gridCol w="3346607">
                  <a:extLst>
                    <a:ext uri="{9D8B030D-6E8A-4147-A177-3AD203B41FA5}">
                      <a16:colId xmlns:a16="http://schemas.microsoft.com/office/drawing/2014/main" val="3544827694"/>
                    </a:ext>
                  </a:extLst>
                </a:gridCol>
                <a:gridCol w="4936298">
                  <a:extLst>
                    <a:ext uri="{9D8B030D-6E8A-4147-A177-3AD203B41FA5}">
                      <a16:colId xmlns:a16="http://schemas.microsoft.com/office/drawing/2014/main" val="3966138796"/>
                    </a:ext>
                  </a:extLst>
                </a:gridCol>
              </a:tblGrid>
              <a:tr h="530711">
                <a:tc>
                  <a:txBody>
                    <a:bodyPr/>
                    <a:lstStyle/>
                    <a:p>
                      <a:r>
                        <a:rPr lang="en-US" dirty="0"/>
                        <a:t>Drawing</a:t>
                      </a:r>
                    </a:p>
                  </a:txBody>
                  <a:tcPr/>
                </a:tc>
                <a:tc>
                  <a:txBody>
                    <a:bodyPr/>
                    <a:lstStyle/>
                    <a:p>
                      <a:r>
                        <a:rPr lang="en-US" dirty="0"/>
                        <a:t>Meaning</a:t>
                      </a:r>
                    </a:p>
                  </a:txBody>
                  <a:tcPr/>
                </a:tc>
                <a:tc>
                  <a:txBody>
                    <a:bodyPr/>
                    <a:lstStyle/>
                    <a:p>
                      <a:r>
                        <a:rPr lang="en-US" dirty="0"/>
                        <a:t>Note</a:t>
                      </a:r>
                    </a:p>
                  </a:txBody>
                  <a:tcPr/>
                </a:tc>
                <a:extLst>
                  <a:ext uri="{0D108BD9-81ED-4DB2-BD59-A6C34878D82A}">
                    <a16:rowId xmlns:a16="http://schemas.microsoft.com/office/drawing/2014/main" val="3806843834"/>
                  </a:ext>
                </a:extLst>
              </a:tr>
              <a:tr h="874442">
                <a:tc>
                  <a:txBody>
                    <a:bodyPr/>
                    <a:lstStyle/>
                    <a:p>
                      <a:endParaRPr lang="en-US"/>
                    </a:p>
                  </a:txBody>
                  <a:tcPr/>
                </a:tc>
                <a:tc>
                  <a:txBody>
                    <a:bodyPr/>
                    <a:lstStyle/>
                    <a:p>
                      <a:r>
                        <a:rPr lang="en-US" dirty="0"/>
                        <a:t>Z configuration, defined by the coordinates of the ligand atoms</a:t>
                      </a:r>
                    </a:p>
                  </a:txBody>
                  <a:tcPr/>
                </a:tc>
                <a:tc>
                  <a:txBody>
                    <a:bodyPr/>
                    <a:lstStyle/>
                    <a:p>
                      <a:endParaRPr lang="en-US"/>
                    </a:p>
                  </a:txBody>
                  <a:tcPr/>
                </a:tc>
                <a:extLst>
                  <a:ext uri="{0D108BD9-81ED-4DB2-BD59-A6C34878D82A}">
                    <a16:rowId xmlns:a16="http://schemas.microsoft.com/office/drawing/2014/main" val="4186079296"/>
                  </a:ext>
                </a:extLst>
              </a:tr>
              <a:tr h="1076728">
                <a:tc>
                  <a:txBody>
                    <a:bodyPr/>
                    <a:lstStyle/>
                    <a:p>
                      <a:endParaRPr lang="en-US"/>
                    </a:p>
                  </a:txBody>
                  <a:tcPr/>
                </a:tc>
                <a:tc>
                  <a:txBody>
                    <a:bodyPr/>
                    <a:lstStyle/>
                    <a:p>
                      <a:r>
                        <a:rPr lang="en-US" dirty="0"/>
                        <a:t>E/Z unknown configuration</a:t>
                      </a:r>
                    </a:p>
                  </a:txBody>
                  <a:tcPr/>
                </a:tc>
                <a:tc>
                  <a:txBody>
                    <a:bodyPr/>
                    <a:lstStyle/>
                    <a:p>
                      <a:r>
                        <a:rPr lang="en-US" dirty="0"/>
                        <a:t>Double either bonds are used by Biovia, single either bonds are proposed by IUPAC and implemented by Chemaxon</a:t>
                      </a:r>
                    </a:p>
                  </a:txBody>
                  <a:tcPr/>
                </a:tc>
                <a:extLst>
                  <a:ext uri="{0D108BD9-81ED-4DB2-BD59-A6C34878D82A}">
                    <a16:rowId xmlns:a16="http://schemas.microsoft.com/office/drawing/2014/main" val="739771259"/>
                  </a:ext>
                </a:extLst>
              </a:tr>
              <a:tr h="1272829">
                <a:tc>
                  <a:txBody>
                    <a:bodyPr/>
                    <a:lstStyle/>
                    <a:p>
                      <a:endParaRPr lang="en-US"/>
                    </a:p>
                  </a:txBody>
                  <a:tcPr/>
                </a:tc>
                <a:tc>
                  <a:txBody>
                    <a:bodyPr/>
                    <a:lstStyle/>
                    <a:p>
                      <a:endParaRPr lang="en-US" dirty="0"/>
                    </a:p>
                  </a:txBody>
                  <a:tcPr/>
                </a:tc>
                <a:tc>
                  <a:txBody>
                    <a:bodyPr/>
                    <a:lstStyle/>
                    <a:p>
                      <a:r>
                        <a:rPr lang="en-US" dirty="0"/>
                        <a:t>Pure but unknown configuration</a:t>
                      </a:r>
                    </a:p>
                  </a:txBody>
                  <a:tcPr/>
                </a:tc>
                <a:extLst>
                  <a:ext uri="{0D108BD9-81ED-4DB2-BD59-A6C34878D82A}">
                    <a16:rowId xmlns:a16="http://schemas.microsoft.com/office/drawing/2014/main" val="1222947755"/>
                  </a:ext>
                </a:extLst>
              </a:tr>
              <a:tr h="1332351">
                <a:tc>
                  <a:txBody>
                    <a:bodyPr/>
                    <a:lstStyle/>
                    <a:p>
                      <a:endParaRPr lang="en-US" dirty="0"/>
                    </a:p>
                  </a:txBody>
                  <a:tcPr/>
                </a:tc>
                <a:tc>
                  <a:txBody>
                    <a:bodyPr/>
                    <a:lstStyle/>
                    <a:p>
                      <a:endParaRPr lang="en-US" dirty="0"/>
                    </a:p>
                  </a:txBody>
                  <a:tcPr/>
                </a:tc>
                <a:tc>
                  <a:txBody>
                    <a:bodyPr/>
                    <a:lstStyle/>
                    <a:p>
                      <a:r>
                        <a:rPr lang="en-US" dirty="0"/>
                        <a:t>(Racemic) mixture of both of the configurations</a:t>
                      </a:r>
                    </a:p>
                  </a:txBody>
                  <a:tcPr/>
                </a:tc>
                <a:extLst>
                  <a:ext uri="{0D108BD9-81ED-4DB2-BD59-A6C34878D82A}">
                    <a16:rowId xmlns:a16="http://schemas.microsoft.com/office/drawing/2014/main" val="71511625"/>
                  </a:ext>
                </a:extLst>
              </a:tr>
            </a:tbl>
          </a:graphicData>
        </a:graphic>
      </p:graphicFrame>
      <p:pic>
        <p:nvPicPr>
          <p:cNvPr id="6" name="Grafik 5">
            <a:extLst>
              <a:ext uri="{FF2B5EF4-FFF2-40B4-BE49-F238E27FC236}">
                <a16:creationId xmlns:a16="http://schemas.microsoft.com/office/drawing/2014/main" id="{73F79D40-535F-D019-328C-A13E01DB6DE3}"/>
              </a:ext>
            </a:extLst>
          </p:cNvPr>
          <p:cNvPicPr>
            <a:picLocks noChangeAspect="1"/>
          </p:cNvPicPr>
          <p:nvPr/>
        </p:nvPicPr>
        <p:blipFill>
          <a:blip r:embed="rId2"/>
          <a:stretch>
            <a:fillRect/>
          </a:stretch>
        </p:blipFill>
        <p:spPr>
          <a:xfrm>
            <a:off x="924918" y="2196089"/>
            <a:ext cx="963134" cy="834143"/>
          </a:xfrm>
          <a:prstGeom prst="rect">
            <a:avLst/>
          </a:prstGeom>
        </p:spPr>
      </p:pic>
      <p:pic>
        <p:nvPicPr>
          <p:cNvPr id="8" name="Grafik 7">
            <a:extLst>
              <a:ext uri="{FF2B5EF4-FFF2-40B4-BE49-F238E27FC236}">
                <a16:creationId xmlns:a16="http://schemas.microsoft.com/office/drawing/2014/main" id="{1CD0BDE0-30F6-73EF-BEC8-BFDEDA3D7DD2}"/>
              </a:ext>
            </a:extLst>
          </p:cNvPr>
          <p:cNvPicPr>
            <a:picLocks noChangeAspect="1"/>
          </p:cNvPicPr>
          <p:nvPr/>
        </p:nvPicPr>
        <p:blipFill>
          <a:blip r:embed="rId3"/>
          <a:stretch>
            <a:fillRect/>
          </a:stretch>
        </p:blipFill>
        <p:spPr>
          <a:xfrm>
            <a:off x="924918" y="3177135"/>
            <a:ext cx="963134" cy="834143"/>
          </a:xfrm>
          <a:prstGeom prst="rect">
            <a:avLst/>
          </a:prstGeom>
        </p:spPr>
      </p:pic>
      <p:pic>
        <p:nvPicPr>
          <p:cNvPr id="10" name="Grafik 9">
            <a:extLst>
              <a:ext uri="{FF2B5EF4-FFF2-40B4-BE49-F238E27FC236}">
                <a16:creationId xmlns:a16="http://schemas.microsoft.com/office/drawing/2014/main" id="{CBF3EBB2-E4F6-7225-2B8A-5C09466763B9}"/>
              </a:ext>
            </a:extLst>
          </p:cNvPr>
          <p:cNvPicPr>
            <a:picLocks noChangeAspect="1"/>
          </p:cNvPicPr>
          <p:nvPr/>
        </p:nvPicPr>
        <p:blipFill>
          <a:blip r:embed="rId4"/>
          <a:stretch>
            <a:fillRect/>
          </a:stretch>
        </p:blipFill>
        <p:spPr>
          <a:xfrm>
            <a:off x="2224760" y="3177135"/>
            <a:ext cx="963135" cy="834144"/>
          </a:xfrm>
          <a:prstGeom prst="rect">
            <a:avLst/>
          </a:prstGeom>
        </p:spPr>
      </p:pic>
      <p:pic>
        <p:nvPicPr>
          <p:cNvPr id="12" name="Grafik 11">
            <a:extLst>
              <a:ext uri="{FF2B5EF4-FFF2-40B4-BE49-F238E27FC236}">
                <a16:creationId xmlns:a16="http://schemas.microsoft.com/office/drawing/2014/main" id="{E0FB183B-398C-8AF8-382B-0E1028F5BAC9}"/>
              </a:ext>
            </a:extLst>
          </p:cNvPr>
          <p:cNvPicPr>
            <a:picLocks noChangeAspect="1"/>
          </p:cNvPicPr>
          <p:nvPr/>
        </p:nvPicPr>
        <p:blipFill>
          <a:blip r:embed="rId5"/>
          <a:stretch>
            <a:fillRect/>
          </a:stretch>
        </p:blipFill>
        <p:spPr>
          <a:xfrm>
            <a:off x="924918" y="4263977"/>
            <a:ext cx="963134" cy="1092125"/>
          </a:xfrm>
          <a:prstGeom prst="rect">
            <a:avLst/>
          </a:prstGeom>
        </p:spPr>
      </p:pic>
      <p:pic>
        <p:nvPicPr>
          <p:cNvPr id="14" name="Grafik 13">
            <a:extLst>
              <a:ext uri="{FF2B5EF4-FFF2-40B4-BE49-F238E27FC236}">
                <a16:creationId xmlns:a16="http://schemas.microsoft.com/office/drawing/2014/main" id="{2C2DCB86-0DEA-8BEB-EC1D-D39F4A749B3E}"/>
              </a:ext>
            </a:extLst>
          </p:cNvPr>
          <p:cNvPicPr>
            <a:picLocks noChangeAspect="1"/>
          </p:cNvPicPr>
          <p:nvPr/>
        </p:nvPicPr>
        <p:blipFill>
          <a:blip r:embed="rId2"/>
          <a:stretch>
            <a:fillRect/>
          </a:stretch>
        </p:blipFill>
        <p:spPr>
          <a:xfrm>
            <a:off x="3393387" y="4316020"/>
            <a:ext cx="1066949" cy="924054"/>
          </a:xfrm>
          <a:prstGeom prst="rect">
            <a:avLst/>
          </a:prstGeom>
        </p:spPr>
      </p:pic>
      <p:sp>
        <p:nvSpPr>
          <p:cNvPr id="15" name="Textfeld 14">
            <a:extLst>
              <a:ext uri="{FF2B5EF4-FFF2-40B4-BE49-F238E27FC236}">
                <a16:creationId xmlns:a16="http://schemas.microsoft.com/office/drawing/2014/main" id="{5F330C19-6F24-1D10-A80A-8EB915C19003}"/>
              </a:ext>
            </a:extLst>
          </p:cNvPr>
          <p:cNvSpPr txBox="1"/>
          <p:nvPr/>
        </p:nvSpPr>
        <p:spPr>
          <a:xfrm>
            <a:off x="4608904" y="4593381"/>
            <a:ext cx="386644" cy="369332"/>
          </a:xfrm>
          <a:prstGeom prst="rect">
            <a:avLst/>
          </a:prstGeom>
          <a:noFill/>
        </p:spPr>
        <p:txBody>
          <a:bodyPr wrap="none" rtlCol="0">
            <a:spAutoFit/>
          </a:bodyPr>
          <a:lstStyle/>
          <a:p>
            <a:r>
              <a:rPr lang="en-US" dirty="0"/>
              <a:t>or</a:t>
            </a:r>
          </a:p>
        </p:txBody>
      </p:sp>
      <p:pic>
        <p:nvPicPr>
          <p:cNvPr id="17" name="Grafik 16">
            <a:extLst>
              <a:ext uri="{FF2B5EF4-FFF2-40B4-BE49-F238E27FC236}">
                <a16:creationId xmlns:a16="http://schemas.microsoft.com/office/drawing/2014/main" id="{3C6EB705-ADF9-7DA8-FD5B-D5F13D60DC99}"/>
              </a:ext>
            </a:extLst>
          </p:cNvPr>
          <p:cNvPicPr>
            <a:picLocks noChangeAspect="1"/>
          </p:cNvPicPr>
          <p:nvPr/>
        </p:nvPicPr>
        <p:blipFill>
          <a:blip r:embed="rId6"/>
          <a:stretch>
            <a:fillRect/>
          </a:stretch>
        </p:blipFill>
        <p:spPr>
          <a:xfrm>
            <a:off x="5254991" y="4316020"/>
            <a:ext cx="1066949" cy="924054"/>
          </a:xfrm>
          <a:prstGeom prst="rect">
            <a:avLst/>
          </a:prstGeom>
        </p:spPr>
      </p:pic>
      <p:pic>
        <p:nvPicPr>
          <p:cNvPr id="18" name="Grafik 17">
            <a:extLst>
              <a:ext uri="{FF2B5EF4-FFF2-40B4-BE49-F238E27FC236}">
                <a16:creationId xmlns:a16="http://schemas.microsoft.com/office/drawing/2014/main" id="{AB7F3D4B-338C-59B1-7DF8-19F4A4BADFEF}"/>
              </a:ext>
            </a:extLst>
          </p:cNvPr>
          <p:cNvPicPr>
            <a:picLocks noChangeAspect="1"/>
          </p:cNvPicPr>
          <p:nvPr/>
        </p:nvPicPr>
        <p:blipFill>
          <a:blip r:embed="rId2"/>
          <a:stretch>
            <a:fillRect/>
          </a:stretch>
        </p:blipFill>
        <p:spPr>
          <a:xfrm>
            <a:off x="3422773" y="5568821"/>
            <a:ext cx="1066949" cy="924054"/>
          </a:xfrm>
          <a:prstGeom prst="rect">
            <a:avLst/>
          </a:prstGeom>
        </p:spPr>
      </p:pic>
      <p:sp>
        <p:nvSpPr>
          <p:cNvPr id="19" name="Textfeld 18">
            <a:extLst>
              <a:ext uri="{FF2B5EF4-FFF2-40B4-BE49-F238E27FC236}">
                <a16:creationId xmlns:a16="http://schemas.microsoft.com/office/drawing/2014/main" id="{628341AD-1F6C-6489-80DF-D2B0E159539C}"/>
              </a:ext>
            </a:extLst>
          </p:cNvPr>
          <p:cNvSpPr txBox="1"/>
          <p:nvPr/>
        </p:nvSpPr>
        <p:spPr>
          <a:xfrm>
            <a:off x="4638290" y="5846182"/>
            <a:ext cx="538930" cy="369332"/>
          </a:xfrm>
          <a:prstGeom prst="rect">
            <a:avLst/>
          </a:prstGeom>
          <a:noFill/>
        </p:spPr>
        <p:txBody>
          <a:bodyPr wrap="none" rtlCol="0">
            <a:spAutoFit/>
          </a:bodyPr>
          <a:lstStyle/>
          <a:p>
            <a:r>
              <a:rPr lang="en-US" dirty="0"/>
              <a:t>and</a:t>
            </a:r>
          </a:p>
        </p:txBody>
      </p:sp>
      <p:pic>
        <p:nvPicPr>
          <p:cNvPr id="20" name="Grafik 19">
            <a:extLst>
              <a:ext uri="{FF2B5EF4-FFF2-40B4-BE49-F238E27FC236}">
                <a16:creationId xmlns:a16="http://schemas.microsoft.com/office/drawing/2014/main" id="{952F0F86-6EE5-AD03-0F1C-53610E0D6052}"/>
              </a:ext>
            </a:extLst>
          </p:cNvPr>
          <p:cNvPicPr>
            <a:picLocks noChangeAspect="1"/>
          </p:cNvPicPr>
          <p:nvPr/>
        </p:nvPicPr>
        <p:blipFill>
          <a:blip r:embed="rId6"/>
          <a:stretch>
            <a:fillRect/>
          </a:stretch>
        </p:blipFill>
        <p:spPr>
          <a:xfrm>
            <a:off x="5284377" y="5568821"/>
            <a:ext cx="1066949" cy="924054"/>
          </a:xfrm>
          <a:prstGeom prst="rect">
            <a:avLst/>
          </a:prstGeom>
        </p:spPr>
      </p:pic>
      <p:pic>
        <p:nvPicPr>
          <p:cNvPr id="22" name="Grafik 21">
            <a:extLst>
              <a:ext uri="{FF2B5EF4-FFF2-40B4-BE49-F238E27FC236}">
                <a16:creationId xmlns:a16="http://schemas.microsoft.com/office/drawing/2014/main" id="{14A29BB3-4B7B-B599-9B55-33FA258BFD24}"/>
              </a:ext>
            </a:extLst>
          </p:cNvPr>
          <p:cNvPicPr>
            <a:picLocks noChangeAspect="1"/>
          </p:cNvPicPr>
          <p:nvPr/>
        </p:nvPicPr>
        <p:blipFill>
          <a:blip r:embed="rId7"/>
          <a:stretch>
            <a:fillRect/>
          </a:stretch>
        </p:blipFill>
        <p:spPr>
          <a:xfrm>
            <a:off x="924918" y="5471989"/>
            <a:ext cx="1014731" cy="1092126"/>
          </a:xfrm>
          <a:prstGeom prst="rect">
            <a:avLst/>
          </a:prstGeom>
        </p:spPr>
      </p:pic>
    </p:spTree>
    <p:extLst>
      <p:ext uri="{BB962C8B-B14F-4D97-AF65-F5344CB8AC3E}">
        <p14:creationId xmlns:p14="http://schemas.microsoft.com/office/powerpoint/2010/main" val="2625412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B8C0EF-E816-06B9-C270-E98879632DAB}"/>
              </a:ext>
            </a:extLst>
          </p:cNvPr>
          <p:cNvSpPr>
            <a:spLocks noGrp="1"/>
          </p:cNvSpPr>
          <p:nvPr>
            <p:ph type="title"/>
          </p:nvPr>
        </p:nvSpPr>
        <p:spPr/>
        <p:txBody>
          <a:bodyPr/>
          <a:lstStyle/>
          <a:p>
            <a:r>
              <a:rPr lang="en-US" dirty="0"/>
              <a:t>Enhanced stereochemistry – double bonds</a:t>
            </a:r>
          </a:p>
        </p:txBody>
      </p:sp>
      <p:sp>
        <p:nvSpPr>
          <p:cNvPr id="3" name="Inhaltsplatzhalter 2">
            <a:extLst>
              <a:ext uri="{FF2B5EF4-FFF2-40B4-BE49-F238E27FC236}">
                <a16:creationId xmlns:a16="http://schemas.microsoft.com/office/drawing/2014/main" id="{1B50D7EC-AA33-33D1-1878-F2F5CB726CD5}"/>
              </a:ext>
            </a:extLst>
          </p:cNvPr>
          <p:cNvSpPr>
            <a:spLocks noGrp="1"/>
          </p:cNvSpPr>
          <p:nvPr>
            <p:ph idx="1"/>
          </p:nvPr>
        </p:nvSpPr>
        <p:spPr/>
        <p:txBody>
          <a:bodyPr/>
          <a:lstStyle/>
          <a:p>
            <a:r>
              <a:rPr lang="en-US" dirty="0"/>
              <a:t>Pure known configuration</a:t>
            </a:r>
          </a:p>
        </p:txBody>
      </p:sp>
      <p:graphicFrame>
        <p:nvGraphicFramePr>
          <p:cNvPr id="8" name="Tabelle 7">
            <a:extLst>
              <a:ext uri="{FF2B5EF4-FFF2-40B4-BE49-F238E27FC236}">
                <a16:creationId xmlns:a16="http://schemas.microsoft.com/office/drawing/2014/main" id="{347F7B60-4350-CB4F-1151-BCE958ABBED9}"/>
              </a:ext>
            </a:extLst>
          </p:cNvPr>
          <p:cNvGraphicFramePr>
            <a:graphicFrameLocks noGrp="1"/>
          </p:cNvGraphicFramePr>
          <p:nvPr>
            <p:extLst>
              <p:ext uri="{D42A27DB-BD31-4B8C-83A1-F6EECF244321}">
                <p14:modId xmlns:p14="http://schemas.microsoft.com/office/powerpoint/2010/main" val="3932021531"/>
              </p:ext>
            </p:extLst>
          </p:nvPr>
        </p:nvGraphicFramePr>
        <p:xfrm>
          <a:off x="1094406" y="2203304"/>
          <a:ext cx="10764091" cy="4249804"/>
        </p:xfrm>
        <a:graphic>
          <a:graphicData uri="http://schemas.openxmlformats.org/drawingml/2006/table">
            <a:tbl>
              <a:tblPr firstRow="1" bandRow="1">
                <a:tableStyleId>{5C22544A-7EE6-4342-B048-85BDC9FD1C3A}</a:tableStyleId>
              </a:tblPr>
              <a:tblGrid>
                <a:gridCol w="1673397">
                  <a:extLst>
                    <a:ext uri="{9D8B030D-6E8A-4147-A177-3AD203B41FA5}">
                      <a16:colId xmlns:a16="http://schemas.microsoft.com/office/drawing/2014/main" val="2881776543"/>
                    </a:ext>
                  </a:extLst>
                </a:gridCol>
                <a:gridCol w="3214469">
                  <a:extLst>
                    <a:ext uri="{9D8B030D-6E8A-4147-A177-3AD203B41FA5}">
                      <a16:colId xmlns:a16="http://schemas.microsoft.com/office/drawing/2014/main" val="1813599712"/>
                    </a:ext>
                  </a:extLst>
                </a:gridCol>
                <a:gridCol w="2614611">
                  <a:extLst>
                    <a:ext uri="{9D8B030D-6E8A-4147-A177-3AD203B41FA5}">
                      <a16:colId xmlns:a16="http://schemas.microsoft.com/office/drawing/2014/main" val="3997352813"/>
                    </a:ext>
                  </a:extLst>
                </a:gridCol>
                <a:gridCol w="3261614">
                  <a:extLst>
                    <a:ext uri="{9D8B030D-6E8A-4147-A177-3AD203B41FA5}">
                      <a16:colId xmlns:a16="http://schemas.microsoft.com/office/drawing/2014/main" val="3948548872"/>
                    </a:ext>
                  </a:extLst>
                </a:gridCol>
              </a:tblGrid>
              <a:tr h="481159">
                <a:tc>
                  <a:txBody>
                    <a:bodyPr/>
                    <a:lstStyle/>
                    <a:p>
                      <a:r>
                        <a:rPr lang="en-US" dirty="0"/>
                        <a:t>Drawing</a:t>
                      </a:r>
                    </a:p>
                  </a:txBody>
                  <a:tcPr/>
                </a:tc>
                <a:tc>
                  <a:txBody>
                    <a:bodyPr/>
                    <a:lstStyle/>
                    <a:p>
                      <a:r>
                        <a:rPr lang="en-US" dirty="0"/>
                        <a:t>V2, recognition based on the coordinates of the ligand atoms</a:t>
                      </a:r>
                    </a:p>
                  </a:txBody>
                  <a:tcPr/>
                </a:tc>
                <a:tc>
                  <a:txBody>
                    <a:bodyPr/>
                    <a:lstStyle/>
                    <a:p>
                      <a:r>
                        <a:rPr lang="en-US" dirty="0" err="1"/>
                        <a:t>Enh</a:t>
                      </a:r>
                      <a:r>
                        <a:rPr lang="en-US" dirty="0"/>
                        <a:t>. Stereo: absolute (V3)</a:t>
                      </a:r>
                    </a:p>
                  </a:txBody>
                  <a:tcPr/>
                </a:tc>
                <a:tc>
                  <a:txBody>
                    <a:bodyPr/>
                    <a:lstStyle/>
                    <a:p>
                      <a:r>
                        <a:rPr lang="en-US" dirty="0"/>
                        <a:t>Notes</a:t>
                      </a:r>
                    </a:p>
                  </a:txBody>
                  <a:tcPr/>
                </a:tc>
                <a:extLst>
                  <a:ext uri="{0D108BD9-81ED-4DB2-BD59-A6C34878D82A}">
                    <a16:rowId xmlns:a16="http://schemas.microsoft.com/office/drawing/2014/main" val="2016881082"/>
                  </a:ext>
                </a:extLst>
              </a:tr>
              <a:tr h="3609724">
                <a:tc>
                  <a:txBody>
                    <a:bodyPr/>
                    <a:lstStyle/>
                    <a:p>
                      <a:endParaRPr lang="en-US" dirty="0"/>
                    </a:p>
                    <a:p>
                      <a:endParaRPr lang="en-US" dirty="0"/>
                    </a:p>
                    <a:p>
                      <a:endParaRPr lang="en-US" dirty="0"/>
                    </a:p>
                    <a:p>
                      <a:endParaRPr lang="en-US" dirty="0"/>
                    </a:p>
                    <a:p>
                      <a:r>
                        <a:rPr lang="it-IT" sz="1400" dirty="0"/>
                        <a:t>InChI=1B/C2BrCl2F/c3-1(4)2(5)6/b2-1+</a:t>
                      </a:r>
                      <a:endParaRPr lang="en-US" sz="1400" dirty="0"/>
                    </a:p>
                  </a:txBody>
                  <a:tcPr/>
                </a:tc>
                <a:tc>
                  <a:txBody>
                    <a:bodyPr/>
                    <a:lstStyle/>
                    <a:p>
                      <a:endParaRPr lang="en-US" sz="800" dirty="0"/>
                    </a:p>
                    <a:p>
                      <a:r>
                        <a:rPr lang="en-US" sz="800" dirty="0"/>
                        <a:t>  ACCLDraw05282600312D</a:t>
                      </a:r>
                    </a:p>
                    <a:p>
                      <a:endParaRPr lang="en-US" sz="800" dirty="0"/>
                    </a:p>
                    <a:p>
                      <a:r>
                        <a:rPr lang="en-US" sz="800" dirty="0"/>
                        <a:t>  6  5  0  0  0  0  0  0  0  0999 V2000</a:t>
                      </a:r>
                    </a:p>
                    <a:p>
                      <a:r>
                        <a:rPr lang="en-US" sz="800" dirty="0"/>
                        <a:t>   22.4441   -6.6788    0.0000 Cl  0  0  0  0  0  0  0  0  0  0  0  0</a:t>
                      </a:r>
                    </a:p>
                    <a:p>
                      <a:r>
                        <a:rPr lang="en-US" sz="800" dirty="0"/>
                        <a:t>   23.0344   -5.6563    0.0000 C   0  0  0  0  0  0  0  0  0  0  0  0</a:t>
                      </a:r>
                    </a:p>
                    <a:p>
                      <a:r>
                        <a:rPr lang="en-US" sz="800" dirty="0"/>
                        <a:t>   22.4439   -4.6334    0.0000 F   0  0  0  0  0  0  0  0  0  0  0  0</a:t>
                      </a:r>
                    </a:p>
                    <a:p>
                      <a:r>
                        <a:rPr lang="en-US" sz="800" dirty="0"/>
                        <a:t>   24.2155   -5.6563    0.0000 C   0  0  0  0  0  0  0  0  0  0  0  0</a:t>
                      </a:r>
                    </a:p>
                    <a:p>
                      <a:r>
                        <a:rPr lang="en-US" sz="800" dirty="0"/>
                        <a:t>   24.8061   -4.6335    0.0000 Br  0  0  0  0  0  0  0  0  0  0  0  0</a:t>
                      </a:r>
                    </a:p>
                    <a:p>
                      <a:r>
                        <a:rPr lang="en-US" sz="800" dirty="0"/>
                        <a:t>   24.8061   -6.6792    0.0000 Cl  0  0  0  0  0  0  0  0  0  0  0  0</a:t>
                      </a:r>
                    </a:p>
                    <a:p>
                      <a:r>
                        <a:rPr lang="en-US" sz="800" dirty="0"/>
                        <a:t>  1  2  1  0  0  0  0</a:t>
                      </a:r>
                    </a:p>
                    <a:p>
                      <a:r>
                        <a:rPr lang="en-US" sz="800" dirty="0"/>
                        <a:t>  2  3  1  0  0  0  0</a:t>
                      </a:r>
                    </a:p>
                    <a:p>
                      <a:r>
                        <a:rPr lang="en-US" sz="800" dirty="0"/>
                        <a:t>  2  4  2  0  0  0  0</a:t>
                      </a:r>
                    </a:p>
                    <a:p>
                      <a:r>
                        <a:rPr lang="en-US" sz="800" dirty="0"/>
                        <a:t>  4  5  1  0  0  0  0</a:t>
                      </a:r>
                    </a:p>
                    <a:p>
                      <a:r>
                        <a:rPr lang="en-US" sz="800" dirty="0"/>
                        <a:t>  4  6  1  0  0  0  0</a:t>
                      </a:r>
                    </a:p>
                    <a:p>
                      <a:r>
                        <a:rPr lang="en-US" sz="800" dirty="0"/>
                        <a:t>M  END</a:t>
                      </a:r>
                    </a:p>
                    <a:p>
                      <a:endParaRPr lang="en-US" sz="800" dirty="0"/>
                    </a:p>
                  </a:txBody>
                  <a:tcPr/>
                </a:tc>
                <a:tc>
                  <a:txBody>
                    <a:bodyPr/>
                    <a:lstStyle/>
                    <a:p>
                      <a:endParaRPr lang="en-US" sz="800" dirty="0"/>
                    </a:p>
                    <a:p>
                      <a:r>
                        <a:rPr lang="en-US" sz="800" dirty="0"/>
                        <a:t>  ACCLDraw05282600322D</a:t>
                      </a:r>
                    </a:p>
                    <a:p>
                      <a:endParaRPr lang="en-US" sz="800" dirty="0"/>
                    </a:p>
                    <a:p>
                      <a:r>
                        <a:rPr lang="en-US" sz="800" dirty="0"/>
                        <a:t>  0  0  0     0  0            999 V3000</a:t>
                      </a:r>
                    </a:p>
                    <a:p>
                      <a:r>
                        <a:rPr lang="en-US" sz="800" dirty="0"/>
                        <a:t>M  V30 BEGIN CTAB</a:t>
                      </a:r>
                    </a:p>
                    <a:p>
                      <a:r>
                        <a:rPr lang="en-US" sz="800" dirty="0"/>
                        <a:t>M  V30 COUNTS 6 5 0 0 1</a:t>
                      </a:r>
                    </a:p>
                    <a:p>
                      <a:r>
                        <a:rPr lang="en-US" sz="800" dirty="0"/>
                        <a:t>M  V30 BEGIN ATOM</a:t>
                      </a:r>
                    </a:p>
                    <a:p>
                      <a:r>
                        <a:rPr lang="en-US" sz="800" dirty="0"/>
                        <a:t>M  V30 1 Cl 2.7594 -3.9464 0 0 </a:t>
                      </a:r>
                    </a:p>
                    <a:p>
                      <a:r>
                        <a:rPr lang="en-US" sz="800" dirty="0"/>
                        <a:t>M  V30 2 C 3.35 -2.9236 0 0 </a:t>
                      </a:r>
                    </a:p>
                    <a:p>
                      <a:r>
                        <a:rPr lang="en-US" sz="800" dirty="0"/>
                        <a:t>M  V30 3 F 2.7592 -1.9004 0 0 </a:t>
                      </a:r>
                    </a:p>
                    <a:p>
                      <a:r>
                        <a:rPr lang="en-US" sz="800" dirty="0"/>
                        <a:t>M  V30 4 C 4.5314 -2.9236 0 0 </a:t>
                      </a:r>
                    </a:p>
                    <a:p>
                      <a:r>
                        <a:rPr lang="en-US" sz="800" dirty="0"/>
                        <a:t>M  V30 5 Cl 5.1222 -1.9004 0 0 </a:t>
                      </a:r>
                    </a:p>
                    <a:p>
                      <a:r>
                        <a:rPr lang="en-US" sz="800" dirty="0"/>
                        <a:t>M  V30 6 Br 5.1222 -3.9467 0 0 </a:t>
                      </a:r>
                    </a:p>
                    <a:p>
                      <a:r>
                        <a:rPr lang="en-US" sz="800" dirty="0"/>
                        <a:t>M  V30 END ATOM</a:t>
                      </a:r>
                    </a:p>
                    <a:p>
                      <a:r>
                        <a:rPr lang="en-US" sz="800" dirty="0"/>
                        <a:t>M  V30 BEGIN BOND</a:t>
                      </a:r>
                    </a:p>
                    <a:p>
                      <a:r>
                        <a:rPr lang="en-US" sz="800" dirty="0"/>
                        <a:t>M  V30 1 1 1 2 </a:t>
                      </a:r>
                    </a:p>
                    <a:p>
                      <a:r>
                        <a:rPr lang="en-US" sz="800" dirty="0"/>
                        <a:t>M  V30 2 1 2 3 </a:t>
                      </a:r>
                    </a:p>
                    <a:p>
                      <a:r>
                        <a:rPr lang="en-US" sz="800" dirty="0"/>
                        <a:t>M  V30 3 2 2 4 </a:t>
                      </a:r>
                    </a:p>
                    <a:p>
                      <a:r>
                        <a:rPr lang="en-US" sz="800" dirty="0"/>
                        <a:t>M  V30 4 1 4 5 </a:t>
                      </a:r>
                    </a:p>
                    <a:p>
                      <a:r>
                        <a:rPr lang="en-US" sz="800" dirty="0"/>
                        <a:t>M  V30 5 1 4 6 </a:t>
                      </a:r>
                    </a:p>
                    <a:p>
                      <a:r>
                        <a:rPr lang="en-US" sz="800" dirty="0"/>
                        <a:t>M  V30 END BOND</a:t>
                      </a:r>
                    </a:p>
                    <a:p>
                      <a:r>
                        <a:rPr lang="en-US" sz="800" dirty="0">
                          <a:solidFill>
                            <a:srgbClr val="FF0000"/>
                          </a:solidFill>
                        </a:rPr>
                        <a:t>M  V30 BEGIN COLLECTION</a:t>
                      </a:r>
                    </a:p>
                    <a:p>
                      <a:r>
                        <a:rPr lang="en-US" sz="800" dirty="0">
                          <a:solidFill>
                            <a:srgbClr val="FF0000"/>
                          </a:solidFill>
                        </a:rPr>
                        <a:t>M  V30 MDLV30/</a:t>
                      </a:r>
                      <a:r>
                        <a:rPr lang="en-US" sz="800" b="1" dirty="0">
                          <a:solidFill>
                            <a:srgbClr val="FF0000"/>
                          </a:solidFill>
                        </a:rPr>
                        <a:t>STEBABS</a:t>
                      </a:r>
                      <a:r>
                        <a:rPr lang="en-US" sz="800" dirty="0">
                          <a:solidFill>
                            <a:srgbClr val="FF0000"/>
                          </a:solidFill>
                        </a:rPr>
                        <a:t> BONDS=(1 3)</a:t>
                      </a:r>
                    </a:p>
                    <a:p>
                      <a:r>
                        <a:rPr lang="en-US" sz="800" dirty="0">
                          <a:solidFill>
                            <a:srgbClr val="FF0000"/>
                          </a:solidFill>
                        </a:rPr>
                        <a:t>M  V30 END COLLECTION</a:t>
                      </a:r>
                    </a:p>
                    <a:p>
                      <a:r>
                        <a:rPr lang="en-US" sz="800" dirty="0">
                          <a:solidFill>
                            <a:srgbClr val="FF0000"/>
                          </a:solidFill>
                        </a:rPr>
                        <a:t>M  V30 END CTAB</a:t>
                      </a:r>
                    </a:p>
                    <a:p>
                      <a:r>
                        <a:rPr lang="en-US" sz="800" dirty="0"/>
                        <a:t>M  END</a:t>
                      </a:r>
                    </a:p>
                  </a:txBody>
                  <a:tcPr/>
                </a:tc>
                <a:tc>
                  <a:txBody>
                    <a:bodyPr/>
                    <a:lstStyle/>
                    <a:p>
                      <a:pPr marL="0" indent="0"/>
                      <a:r>
                        <a:rPr lang="en-US" dirty="0"/>
                        <a:t>Both </a:t>
                      </a:r>
                      <a:r>
                        <a:rPr lang="en-US" dirty="0" err="1"/>
                        <a:t>molfiles</a:t>
                      </a:r>
                      <a:r>
                        <a:rPr lang="en-US" dirty="0"/>
                        <a:t> represent the same compound. As an identifier, the InChI for both of the structures must be identical. </a:t>
                      </a:r>
                    </a:p>
                    <a:p>
                      <a:pPr marL="0" indent="0"/>
                      <a:r>
                        <a:rPr lang="en-US" dirty="0">
                          <a:solidFill>
                            <a:schemeClr val="tx1"/>
                          </a:solidFill>
                        </a:rPr>
                        <a:t>Proposal: in case of “abs geometries” use the standard InChI representation.</a:t>
                      </a:r>
                    </a:p>
                  </a:txBody>
                  <a:tcPr/>
                </a:tc>
                <a:extLst>
                  <a:ext uri="{0D108BD9-81ED-4DB2-BD59-A6C34878D82A}">
                    <a16:rowId xmlns:a16="http://schemas.microsoft.com/office/drawing/2014/main" val="1071249832"/>
                  </a:ext>
                </a:extLst>
              </a:tr>
            </a:tbl>
          </a:graphicData>
        </a:graphic>
      </p:graphicFrame>
      <p:graphicFrame>
        <p:nvGraphicFramePr>
          <p:cNvPr id="4" name="Objekt 3">
            <a:extLst>
              <a:ext uri="{FF2B5EF4-FFF2-40B4-BE49-F238E27FC236}">
                <a16:creationId xmlns:a16="http://schemas.microsoft.com/office/drawing/2014/main" id="{87FAD8D5-4385-3FEC-44B3-F1F0A37554A9}"/>
              </a:ext>
            </a:extLst>
          </p:cNvPr>
          <p:cNvGraphicFramePr>
            <a:graphicFrameLocks noChangeAspect="1"/>
          </p:cNvGraphicFramePr>
          <p:nvPr>
            <p:extLst>
              <p:ext uri="{D42A27DB-BD31-4B8C-83A1-F6EECF244321}">
                <p14:modId xmlns:p14="http://schemas.microsoft.com/office/powerpoint/2010/main" val="3365748964"/>
              </p:ext>
            </p:extLst>
          </p:nvPr>
        </p:nvGraphicFramePr>
        <p:xfrm>
          <a:off x="1283532" y="2971800"/>
          <a:ext cx="1057275" cy="914400"/>
        </p:xfrm>
        <a:graphic>
          <a:graphicData uri="http://schemas.openxmlformats.org/presentationml/2006/ole">
            <mc:AlternateContent xmlns:mc="http://schemas.openxmlformats.org/markup-compatibility/2006">
              <mc:Choice xmlns:v="urn:schemas-microsoft-com:vml" Requires="v">
                <p:oleObj name="ISIS/Draw Sketch" r:id="rId2" imgW="1057440" imgH="914293" progId="MDLDrawOLE.MDLDrawObject.1">
                  <p:embed/>
                </p:oleObj>
              </mc:Choice>
              <mc:Fallback>
                <p:oleObj name="ISIS/Draw Sketch" r:id="rId2" imgW="1057440" imgH="914293" progId="MDLDrawOLE.MDLDrawObject.1">
                  <p:embed/>
                  <p:pic>
                    <p:nvPicPr>
                      <p:cNvPr id="0" name=""/>
                      <p:cNvPicPr/>
                      <p:nvPr/>
                    </p:nvPicPr>
                    <p:blipFill>
                      <a:blip r:embed="rId3"/>
                      <a:stretch>
                        <a:fillRect/>
                      </a:stretch>
                    </p:blipFill>
                    <p:spPr>
                      <a:xfrm>
                        <a:off x="1283532" y="2971800"/>
                        <a:ext cx="1057275" cy="914400"/>
                      </a:xfrm>
                      <a:prstGeom prst="rect">
                        <a:avLst/>
                      </a:prstGeom>
                    </p:spPr>
                  </p:pic>
                </p:oleObj>
              </mc:Fallback>
            </mc:AlternateContent>
          </a:graphicData>
        </a:graphic>
      </p:graphicFrame>
    </p:spTree>
    <p:extLst>
      <p:ext uri="{BB962C8B-B14F-4D97-AF65-F5344CB8AC3E}">
        <p14:creationId xmlns:p14="http://schemas.microsoft.com/office/powerpoint/2010/main" val="2007619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9CFCD-30AC-FB36-022B-F1A2798C3B2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81E5D5E-3210-5297-5CA6-FE174449EFBB}"/>
              </a:ext>
            </a:extLst>
          </p:cNvPr>
          <p:cNvSpPr>
            <a:spLocks noGrp="1"/>
          </p:cNvSpPr>
          <p:nvPr>
            <p:ph type="title"/>
          </p:nvPr>
        </p:nvSpPr>
        <p:spPr/>
        <p:txBody>
          <a:bodyPr/>
          <a:lstStyle/>
          <a:p>
            <a:r>
              <a:rPr lang="en-US" dirty="0"/>
              <a:t>Enhanced stereochemistry – double bonds</a:t>
            </a:r>
          </a:p>
        </p:txBody>
      </p:sp>
      <p:sp>
        <p:nvSpPr>
          <p:cNvPr id="3" name="Inhaltsplatzhalter 2">
            <a:extLst>
              <a:ext uri="{FF2B5EF4-FFF2-40B4-BE49-F238E27FC236}">
                <a16:creationId xmlns:a16="http://schemas.microsoft.com/office/drawing/2014/main" id="{8CBF913B-DA41-2369-E208-92B9A17FD081}"/>
              </a:ext>
            </a:extLst>
          </p:cNvPr>
          <p:cNvSpPr>
            <a:spLocks noGrp="1"/>
          </p:cNvSpPr>
          <p:nvPr>
            <p:ph idx="1"/>
          </p:nvPr>
        </p:nvSpPr>
        <p:spPr/>
        <p:txBody>
          <a:bodyPr>
            <a:normAutofit lnSpcReduction="10000"/>
          </a:bodyPr>
          <a:lstStyle/>
          <a:p>
            <a:r>
              <a:rPr lang="en-US" dirty="0"/>
              <a:t>Unknown configuration</a:t>
            </a:r>
          </a:p>
          <a:p>
            <a:endParaRPr lang="en-US" dirty="0"/>
          </a:p>
          <a:p>
            <a:endParaRPr lang="en-US" dirty="0"/>
          </a:p>
          <a:p>
            <a:endParaRPr lang="en-US" dirty="0"/>
          </a:p>
          <a:p>
            <a:endParaRPr lang="en-US" dirty="0"/>
          </a:p>
          <a:p>
            <a:endParaRPr lang="en-US" dirty="0"/>
          </a:p>
          <a:p>
            <a:endParaRPr lang="en-US" dirty="0"/>
          </a:p>
          <a:p>
            <a:endParaRPr lang="en-US" dirty="0"/>
          </a:p>
          <a:p>
            <a:r>
              <a:rPr lang="en-US" dirty="0"/>
              <a:t>In case of unknown configurations, the /b layer does not exist</a:t>
            </a:r>
          </a:p>
          <a:p>
            <a:endParaRPr lang="en-US" dirty="0"/>
          </a:p>
        </p:txBody>
      </p:sp>
      <p:graphicFrame>
        <p:nvGraphicFramePr>
          <p:cNvPr id="5" name="Tabelle 4">
            <a:extLst>
              <a:ext uri="{FF2B5EF4-FFF2-40B4-BE49-F238E27FC236}">
                <a16:creationId xmlns:a16="http://schemas.microsoft.com/office/drawing/2014/main" id="{664534E3-9EA1-09B7-20C8-22802823DCF9}"/>
              </a:ext>
            </a:extLst>
          </p:cNvPr>
          <p:cNvGraphicFramePr>
            <a:graphicFrameLocks noGrp="1"/>
          </p:cNvGraphicFramePr>
          <p:nvPr>
            <p:extLst>
              <p:ext uri="{D42A27DB-BD31-4B8C-83A1-F6EECF244321}">
                <p14:modId xmlns:p14="http://schemas.microsoft.com/office/powerpoint/2010/main" val="498973211"/>
              </p:ext>
            </p:extLst>
          </p:nvPr>
        </p:nvGraphicFramePr>
        <p:xfrm>
          <a:off x="1104729" y="2142521"/>
          <a:ext cx="9581039" cy="3197374"/>
        </p:xfrm>
        <a:graphic>
          <a:graphicData uri="http://schemas.openxmlformats.org/drawingml/2006/table">
            <a:tbl>
              <a:tblPr firstRow="1" bandRow="1">
                <a:tableStyleId>{5C22544A-7EE6-4342-B048-85BDC9FD1C3A}</a:tableStyleId>
              </a:tblPr>
              <a:tblGrid>
                <a:gridCol w="1098465">
                  <a:extLst>
                    <a:ext uri="{9D8B030D-6E8A-4147-A177-3AD203B41FA5}">
                      <a16:colId xmlns:a16="http://schemas.microsoft.com/office/drawing/2014/main" val="491023371"/>
                    </a:ext>
                  </a:extLst>
                </a:gridCol>
                <a:gridCol w="3377516">
                  <a:extLst>
                    <a:ext uri="{9D8B030D-6E8A-4147-A177-3AD203B41FA5}">
                      <a16:colId xmlns:a16="http://schemas.microsoft.com/office/drawing/2014/main" val="1295171508"/>
                    </a:ext>
                  </a:extLst>
                </a:gridCol>
                <a:gridCol w="1176829">
                  <a:extLst>
                    <a:ext uri="{9D8B030D-6E8A-4147-A177-3AD203B41FA5}">
                      <a16:colId xmlns:a16="http://schemas.microsoft.com/office/drawing/2014/main" val="1284256266"/>
                    </a:ext>
                  </a:extLst>
                </a:gridCol>
                <a:gridCol w="3928229">
                  <a:extLst>
                    <a:ext uri="{9D8B030D-6E8A-4147-A177-3AD203B41FA5}">
                      <a16:colId xmlns:a16="http://schemas.microsoft.com/office/drawing/2014/main" val="2366628608"/>
                    </a:ext>
                  </a:extLst>
                </a:gridCol>
              </a:tblGrid>
              <a:tr h="412058">
                <a:tc>
                  <a:txBody>
                    <a:bodyPr/>
                    <a:lstStyle/>
                    <a:p>
                      <a:r>
                        <a:rPr lang="en-US" dirty="0"/>
                        <a:t>Drawing</a:t>
                      </a:r>
                    </a:p>
                  </a:txBody>
                  <a:tcPr/>
                </a:tc>
                <a:tc>
                  <a:txBody>
                    <a:bodyPr/>
                    <a:lstStyle/>
                    <a:p>
                      <a:r>
                        <a:rPr lang="en-US" dirty="0"/>
                        <a:t>V2 molfile</a:t>
                      </a:r>
                    </a:p>
                  </a:txBody>
                  <a:tcPr/>
                </a:tc>
                <a:tc>
                  <a:txBody>
                    <a:bodyPr/>
                    <a:lstStyle/>
                    <a:p>
                      <a:r>
                        <a:rPr lang="en-US" dirty="0"/>
                        <a:t>Drawing</a:t>
                      </a:r>
                    </a:p>
                  </a:txBody>
                  <a:tcPr/>
                </a:tc>
                <a:tc>
                  <a:txBody>
                    <a:bodyPr/>
                    <a:lstStyle/>
                    <a:p>
                      <a:r>
                        <a:rPr lang="en-US" dirty="0"/>
                        <a:t>V2 molfile</a:t>
                      </a:r>
                    </a:p>
                  </a:txBody>
                  <a:tcPr/>
                </a:tc>
                <a:extLst>
                  <a:ext uri="{0D108BD9-81ED-4DB2-BD59-A6C34878D82A}">
                    <a16:rowId xmlns:a16="http://schemas.microsoft.com/office/drawing/2014/main" val="344868279"/>
                  </a:ext>
                </a:extLst>
              </a:tr>
              <a:tr h="2785316">
                <a:tc>
                  <a:txBody>
                    <a:bodyPr/>
                    <a:lstStyle/>
                    <a:p>
                      <a:endParaRPr lang="en-US" dirty="0"/>
                    </a:p>
                  </a:txBody>
                  <a:tcPr/>
                </a:tc>
                <a:tc>
                  <a:txBody>
                    <a:bodyPr/>
                    <a:lstStyle/>
                    <a:p>
                      <a:endParaRPr lang="en-US" sz="800" dirty="0"/>
                    </a:p>
                    <a:p>
                      <a:r>
                        <a:rPr lang="en-US" sz="800" dirty="0"/>
                        <a:t> ACCLDraw05282616242D</a:t>
                      </a:r>
                    </a:p>
                    <a:p>
                      <a:endParaRPr lang="en-US" sz="800" dirty="0"/>
                    </a:p>
                    <a:p>
                      <a:r>
                        <a:rPr lang="en-US" sz="800" dirty="0"/>
                        <a:t>  6  5  0  0  0  0  0  0  0  0999 V2000</a:t>
                      </a:r>
                    </a:p>
                    <a:p>
                      <a:r>
                        <a:rPr lang="en-US" sz="800" dirty="0"/>
                        <a:t>    3.8816  -10.8976    0.0000 Cl  0  0  0  0  0  0  0  0  0  0  0  0</a:t>
                      </a:r>
                    </a:p>
                    <a:p>
                      <a:r>
                        <a:rPr lang="en-US" sz="800" dirty="0"/>
                        <a:t>    4.4719   -9.8750    0.0000 C   0  0  0  0  0  0  0  0  0  0  0  0</a:t>
                      </a:r>
                    </a:p>
                    <a:p>
                      <a:r>
                        <a:rPr lang="en-US" sz="800" dirty="0"/>
                        <a:t>    3.8814   -8.8521    0.0000 F   0  0  0  0  0  0  0  0  0  0  0  0</a:t>
                      </a:r>
                    </a:p>
                    <a:p>
                      <a:r>
                        <a:rPr lang="en-US" sz="800" dirty="0"/>
                        <a:t>    5.6530   -9.8750    0.0000 C   0  0  0  0  0  0  0  0  0  0  0  0</a:t>
                      </a:r>
                    </a:p>
                    <a:p>
                      <a:r>
                        <a:rPr lang="en-US" sz="800" dirty="0"/>
                        <a:t>    6.2436   -8.8522    0.0000 Cl  0  0  0  0  0  0  0  0  0  0  0  0</a:t>
                      </a:r>
                    </a:p>
                    <a:p>
                      <a:r>
                        <a:rPr lang="en-US" sz="800" dirty="0"/>
                        <a:t>    6.2435  -10.8980    0.0000 Br  0  0  0  0  0  0  0  0  0  0  0  0</a:t>
                      </a:r>
                    </a:p>
                    <a:p>
                      <a:r>
                        <a:rPr lang="en-US" sz="800" dirty="0"/>
                        <a:t>  1  2  1  0  0  0  0</a:t>
                      </a:r>
                    </a:p>
                    <a:p>
                      <a:r>
                        <a:rPr lang="en-US" sz="800" dirty="0"/>
                        <a:t>  2  3  1  0  0  0  0</a:t>
                      </a:r>
                    </a:p>
                    <a:p>
                      <a:r>
                        <a:rPr lang="en-US" sz="800" dirty="0"/>
                        <a:t>  2  4  </a:t>
                      </a:r>
                      <a:r>
                        <a:rPr lang="en-US" sz="800" dirty="0">
                          <a:solidFill>
                            <a:srgbClr val="FF0000"/>
                          </a:solidFill>
                        </a:rPr>
                        <a:t>2  3</a:t>
                      </a:r>
                      <a:r>
                        <a:rPr lang="en-US" sz="800" dirty="0"/>
                        <a:t>  0  0  0</a:t>
                      </a:r>
                    </a:p>
                    <a:p>
                      <a:r>
                        <a:rPr lang="en-US" sz="800" dirty="0"/>
                        <a:t>  4  5  1  0  0  0  0</a:t>
                      </a:r>
                    </a:p>
                    <a:p>
                      <a:r>
                        <a:rPr lang="en-US" sz="800" dirty="0"/>
                        <a:t>  4  6  1  0  0  0  0</a:t>
                      </a:r>
                    </a:p>
                    <a:p>
                      <a:r>
                        <a:rPr lang="en-US" sz="800" dirty="0"/>
                        <a:t>M  END</a:t>
                      </a:r>
                    </a:p>
                    <a:p>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200" dirty="0">
                          <a:solidFill>
                            <a:schemeClr val="dk1"/>
                          </a:solidFill>
                          <a:effectLst/>
                          <a:latin typeface="+mn-lt"/>
                          <a:ea typeface="+mn-ea"/>
                          <a:cs typeface="+mn-cs"/>
                        </a:rPr>
                        <a:t>InChI=1B/C2BrCl2F/c3-1(4)2(5)6</a:t>
                      </a:r>
                    </a:p>
                  </a:txBody>
                  <a:tcPr/>
                </a:tc>
                <a:tc>
                  <a:txBody>
                    <a:bodyPr/>
                    <a:lstStyle/>
                    <a:p>
                      <a:endParaRPr lang="en-US" dirty="0"/>
                    </a:p>
                  </a:txBody>
                  <a:tcPr/>
                </a:tc>
                <a:tc>
                  <a:txBody>
                    <a:bodyPr/>
                    <a:lstStyle/>
                    <a:p>
                      <a:endParaRPr lang="en-US" sz="800" dirty="0"/>
                    </a:p>
                    <a:p>
                      <a:r>
                        <a:rPr lang="en-US" sz="800" dirty="0"/>
                        <a:t>  ACCLDraw05282616322D</a:t>
                      </a:r>
                    </a:p>
                    <a:p>
                      <a:endParaRPr lang="en-US" sz="800" dirty="0"/>
                    </a:p>
                    <a:p>
                      <a:r>
                        <a:rPr lang="en-US" sz="800" dirty="0"/>
                        <a:t>  6  5  0  0  0  0  0  0  0  0999 V2000</a:t>
                      </a:r>
                    </a:p>
                    <a:p>
                      <a:r>
                        <a:rPr lang="en-US" sz="800" dirty="0"/>
                        <a:t>   10.1316  -11.0226    0.0000 Cl  0  0  0  0  0  0  0  0  0  0  0  0</a:t>
                      </a:r>
                    </a:p>
                    <a:p>
                      <a:r>
                        <a:rPr lang="en-US" sz="800" dirty="0"/>
                        <a:t>   10.7219  -10.0000    0.0000 C   0  0  0  0  0  0  0  0  0  0  0  0</a:t>
                      </a:r>
                    </a:p>
                    <a:p>
                      <a:r>
                        <a:rPr lang="en-US" sz="800" dirty="0"/>
                        <a:t>   10.1314   -8.9771    0.0000 F   0  0  0  0  0  0  0  0  0  0  0  0</a:t>
                      </a:r>
                    </a:p>
                    <a:p>
                      <a:r>
                        <a:rPr lang="en-US" sz="800" dirty="0"/>
                        <a:t>   11.9030  -10.0000    0.0000 C   0  0  0  0  0  0  0  0  0  0  0  0</a:t>
                      </a:r>
                    </a:p>
                    <a:p>
                      <a:r>
                        <a:rPr lang="en-US" sz="800" dirty="0"/>
                        <a:t>   12.4936   -8.9772    0.0000 Cl  0  0  0  0  0  0  0  0  0  0  0  0</a:t>
                      </a:r>
                    </a:p>
                    <a:p>
                      <a:r>
                        <a:rPr lang="en-US" sz="800" dirty="0"/>
                        <a:t>   12.4935  -11.0230    0.0000 Br  0  0  0  0  0  0  0  0  0  0  0  0</a:t>
                      </a:r>
                    </a:p>
                    <a:p>
                      <a:r>
                        <a:rPr lang="en-US" sz="800" dirty="0"/>
                        <a:t>  1  2  1  0  0  0  0</a:t>
                      </a:r>
                    </a:p>
                    <a:p>
                      <a:r>
                        <a:rPr lang="en-US" sz="800" dirty="0"/>
                        <a:t>  2  3  1  0  0  0  0</a:t>
                      </a:r>
                    </a:p>
                    <a:p>
                      <a:r>
                        <a:rPr lang="en-US" sz="800" dirty="0"/>
                        <a:t>  2  4  2  0  0  0  0</a:t>
                      </a:r>
                    </a:p>
                    <a:p>
                      <a:r>
                        <a:rPr lang="en-US" sz="800" dirty="0"/>
                        <a:t>  4  5  </a:t>
                      </a:r>
                      <a:r>
                        <a:rPr lang="en-US" sz="800" dirty="0">
                          <a:solidFill>
                            <a:srgbClr val="FF0000"/>
                          </a:solidFill>
                        </a:rPr>
                        <a:t>1  4</a:t>
                      </a:r>
                      <a:r>
                        <a:rPr lang="en-US" sz="800" dirty="0"/>
                        <a:t>  0  0  0</a:t>
                      </a:r>
                    </a:p>
                    <a:p>
                      <a:r>
                        <a:rPr lang="en-US" sz="800" dirty="0"/>
                        <a:t>  4  6  1  0  0  0  0</a:t>
                      </a:r>
                    </a:p>
                    <a:p>
                      <a:r>
                        <a:rPr lang="en-US" sz="800" dirty="0"/>
                        <a:t>M  END</a:t>
                      </a:r>
                    </a:p>
                    <a:p>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200" dirty="0">
                          <a:solidFill>
                            <a:schemeClr val="dk1"/>
                          </a:solidFill>
                          <a:effectLst/>
                          <a:latin typeface="+mn-lt"/>
                          <a:ea typeface="+mn-ea"/>
                          <a:cs typeface="+mn-cs"/>
                        </a:rPr>
                        <a:t>InChI=1B/C2BrCl2F/c3-1(4)2(5)6</a:t>
                      </a:r>
                    </a:p>
                    <a:p>
                      <a:endParaRPr lang="en-US" sz="800" dirty="0"/>
                    </a:p>
                    <a:p>
                      <a:endParaRPr lang="en-US" sz="800" dirty="0"/>
                    </a:p>
                  </a:txBody>
                  <a:tcPr/>
                </a:tc>
                <a:extLst>
                  <a:ext uri="{0D108BD9-81ED-4DB2-BD59-A6C34878D82A}">
                    <a16:rowId xmlns:a16="http://schemas.microsoft.com/office/drawing/2014/main" val="3245977015"/>
                  </a:ext>
                </a:extLst>
              </a:tr>
            </a:tbl>
          </a:graphicData>
        </a:graphic>
      </p:graphicFrame>
      <p:pic>
        <p:nvPicPr>
          <p:cNvPr id="6" name="Grafik 5">
            <a:extLst>
              <a:ext uri="{FF2B5EF4-FFF2-40B4-BE49-F238E27FC236}">
                <a16:creationId xmlns:a16="http://schemas.microsoft.com/office/drawing/2014/main" id="{2145C86F-AC91-F29E-5D48-C7D99404724B}"/>
              </a:ext>
            </a:extLst>
          </p:cNvPr>
          <p:cNvPicPr>
            <a:picLocks noChangeAspect="1"/>
          </p:cNvPicPr>
          <p:nvPr/>
        </p:nvPicPr>
        <p:blipFill>
          <a:blip r:embed="rId2"/>
          <a:stretch>
            <a:fillRect/>
          </a:stretch>
        </p:blipFill>
        <p:spPr>
          <a:xfrm>
            <a:off x="1199648" y="2599179"/>
            <a:ext cx="963134" cy="834143"/>
          </a:xfrm>
          <a:prstGeom prst="rect">
            <a:avLst/>
          </a:prstGeom>
        </p:spPr>
      </p:pic>
      <p:pic>
        <p:nvPicPr>
          <p:cNvPr id="7" name="Grafik 6">
            <a:extLst>
              <a:ext uri="{FF2B5EF4-FFF2-40B4-BE49-F238E27FC236}">
                <a16:creationId xmlns:a16="http://schemas.microsoft.com/office/drawing/2014/main" id="{F35D2164-CB39-9BBA-7672-2BBD3BA25149}"/>
              </a:ext>
            </a:extLst>
          </p:cNvPr>
          <p:cNvPicPr>
            <a:picLocks noChangeAspect="1"/>
          </p:cNvPicPr>
          <p:nvPr/>
        </p:nvPicPr>
        <p:blipFill>
          <a:blip r:embed="rId3"/>
          <a:stretch>
            <a:fillRect/>
          </a:stretch>
        </p:blipFill>
        <p:spPr>
          <a:xfrm>
            <a:off x="5674193" y="2615141"/>
            <a:ext cx="963135" cy="834144"/>
          </a:xfrm>
          <a:prstGeom prst="rect">
            <a:avLst/>
          </a:prstGeom>
        </p:spPr>
      </p:pic>
    </p:spTree>
    <p:extLst>
      <p:ext uri="{BB962C8B-B14F-4D97-AF65-F5344CB8AC3E}">
        <p14:creationId xmlns:p14="http://schemas.microsoft.com/office/powerpoint/2010/main" val="4099367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FD2F2B-4C2E-E074-209A-2415531230BA}"/>
              </a:ext>
            </a:extLst>
          </p:cNvPr>
          <p:cNvSpPr>
            <a:spLocks noGrp="1"/>
          </p:cNvSpPr>
          <p:nvPr>
            <p:ph type="title"/>
          </p:nvPr>
        </p:nvSpPr>
        <p:spPr/>
        <p:txBody>
          <a:bodyPr/>
          <a:lstStyle/>
          <a:p>
            <a:r>
              <a:rPr lang="en-US" dirty="0"/>
              <a:t>Enhanced stereochemistry – double bonds</a:t>
            </a:r>
          </a:p>
        </p:txBody>
      </p:sp>
      <p:sp>
        <p:nvSpPr>
          <p:cNvPr id="3" name="Inhaltsplatzhalter 2">
            <a:extLst>
              <a:ext uri="{FF2B5EF4-FFF2-40B4-BE49-F238E27FC236}">
                <a16:creationId xmlns:a16="http://schemas.microsoft.com/office/drawing/2014/main" id="{65773913-24B8-F049-A3F1-629386244420}"/>
              </a:ext>
            </a:extLst>
          </p:cNvPr>
          <p:cNvSpPr>
            <a:spLocks noGrp="1"/>
          </p:cNvSpPr>
          <p:nvPr>
            <p:ph idx="1"/>
          </p:nvPr>
        </p:nvSpPr>
        <p:spPr/>
        <p:txBody>
          <a:bodyPr/>
          <a:lstStyle/>
          <a:p>
            <a:r>
              <a:rPr lang="en-US" dirty="0"/>
              <a:t>Pure but unknown configuration</a:t>
            </a:r>
          </a:p>
        </p:txBody>
      </p:sp>
      <p:graphicFrame>
        <p:nvGraphicFramePr>
          <p:cNvPr id="4" name="Tabelle 3">
            <a:extLst>
              <a:ext uri="{FF2B5EF4-FFF2-40B4-BE49-F238E27FC236}">
                <a16:creationId xmlns:a16="http://schemas.microsoft.com/office/drawing/2014/main" id="{4117DCA2-FA74-8019-C29D-C6692C8D5F9A}"/>
              </a:ext>
            </a:extLst>
          </p:cNvPr>
          <p:cNvGraphicFramePr>
            <a:graphicFrameLocks noGrp="1"/>
          </p:cNvGraphicFramePr>
          <p:nvPr>
            <p:extLst>
              <p:ext uri="{D42A27DB-BD31-4B8C-83A1-F6EECF244321}">
                <p14:modId xmlns:p14="http://schemas.microsoft.com/office/powerpoint/2010/main" val="3405320343"/>
              </p:ext>
            </p:extLst>
          </p:nvPr>
        </p:nvGraphicFramePr>
        <p:xfrm>
          <a:off x="1142202" y="2195827"/>
          <a:ext cx="10482570" cy="4455160"/>
        </p:xfrm>
        <a:graphic>
          <a:graphicData uri="http://schemas.openxmlformats.org/drawingml/2006/table">
            <a:tbl>
              <a:tblPr firstRow="1" bandRow="1">
                <a:tableStyleId>{5C22544A-7EE6-4342-B048-85BDC9FD1C3A}</a:tableStyleId>
              </a:tblPr>
              <a:tblGrid>
                <a:gridCol w="1277063">
                  <a:extLst>
                    <a:ext uri="{9D8B030D-6E8A-4147-A177-3AD203B41FA5}">
                      <a16:colId xmlns:a16="http://schemas.microsoft.com/office/drawing/2014/main" val="2363299576"/>
                    </a:ext>
                  </a:extLst>
                </a:gridCol>
                <a:gridCol w="1914909">
                  <a:extLst>
                    <a:ext uri="{9D8B030D-6E8A-4147-A177-3AD203B41FA5}">
                      <a16:colId xmlns:a16="http://schemas.microsoft.com/office/drawing/2014/main" val="235752228"/>
                    </a:ext>
                  </a:extLst>
                </a:gridCol>
                <a:gridCol w="1344947">
                  <a:extLst>
                    <a:ext uri="{9D8B030D-6E8A-4147-A177-3AD203B41FA5}">
                      <a16:colId xmlns:a16="http://schemas.microsoft.com/office/drawing/2014/main" val="3165797117"/>
                    </a:ext>
                  </a:extLst>
                </a:gridCol>
                <a:gridCol w="1935412">
                  <a:extLst>
                    <a:ext uri="{9D8B030D-6E8A-4147-A177-3AD203B41FA5}">
                      <a16:colId xmlns:a16="http://schemas.microsoft.com/office/drawing/2014/main" val="3230882908"/>
                    </a:ext>
                  </a:extLst>
                </a:gridCol>
                <a:gridCol w="4010239">
                  <a:extLst>
                    <a:ext uri="{9D8B030D-6E8A-4147-A177-3AD203B41FA5}">
                      <a16:colId xmlns:a16="http://schemas.microsoft.com/office/drawing/2014/main" val="3528995915"/>
                    </a:ext>
                  </a:extLst>
                </a:gridCol>
              </a:tblGrid>
              <a:tr h="370840">
                <a:tc>
                  <a:txBody>
                    <a:bodyPr/>
                    <a:lstStyle/>
                    <a:p>
                      <a:r>
                        <a:rPr lang="en-US" dirty="0"/>
                        <a:t>Drawing</a:t>
                      </a:r>
                    </a:p>
                  </a:txBody>
                  <a:tcPr/>
                </a:tc>
                <a:tc>
                  <a:txBody>
                    <a:bodyPr/>
                    <a:lstStyle/>
                    <a:p>
                      <a:r>
                        <a:rPr lang="en-US" dirty="0"/>
                        <a:t>V3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Drawing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V3 molfile</a:t>
                      </a:r>
                    </a:p>
                  </a:txBody>
                  <a:tcPr/>
                </a:tc>
                <a:tc>
                  <a:txBody>
                    <a:bodyPr/>
                    <a:lstStyle/>
                    <a:p>
                      <a:r>
                        <a:rPr lang="en-US" dirty="0"/>
                        <a:t>Proposal</a:t>
                      </a:r>
                    </a:p>
                  </a:txBody>
                  <a:tcPr/>
                </a:tc>
                <a:extLst>
                  <a:ext uri="{0D108BD9-81ED-4DB2-BD59-A6C34878D82A}">
                    <a16:rowId xmlns:a16="http://schemas.microsoft.com/office/drawing/2014/main" val="618254344"/>
                  </a:ext>
                </a:extLst>
              </a:tr>
              <a:tr h="370840">
                <a:tc>
                  <a:txBody>
                    <a:bodyPr/>
                    <a:lstStyle/>
                    <a:p>
                      <a:endParaRPr lang="en-US"/>
                    </a:p>
                  </a:txBody>
                  <a:tcPr/>
                </a:tc>
                <a:tc>
                  <a:txBody>
                    <a:bodyPr/>
                    <a:lstStyle/>
                    <a:p>
                      <a:endParaRPr lang="en-US" sz="800" dirty="0"/>
                    </a:p>
                    <a:p>
                      <a:r>
                        <a:rPr lang="en-US" sz="800" dirty="0"/>
                        <a:t>  ACCLDraw05282616492D</a:t>
                      </a:r>
                    </a:p>
                    <a:p>
                      <a:endParaRPr lang="en-US" sz="800" dirty="0"/>
                    </a:p>
                    <a:p>
                      <a:r>
                        <a:rPr lang="en-US" sz="800" dirty="0"/>
                        <a:t>  0  0  0     0  0            999 V3000</a:t>
                      </a:r>
                    </a:p>
                    <a:p>
                      <a:r>
                        <a:rPr lang="en-US" sz="800" dirty="0"/>
                        <a:t>M  V30 BEGIN CTAB</a:t>
                      </a:r>
                    </a:p>
                    <a:p>
                      <a:r>
                        <a:rPr lang="en-US" sz="800" dirty="0"/>
                        <a:t>M  V30 COUNTS 6 5 0 0 0</a:t>
                      </a:r>
                    </a:p>
                    <a:p>
                      <a:r>
                        <a:rPr lang="en-US" sz="800" dirty="0"/>
                        <a:t>M  V30 BEGIN ATOM</a:t>
                      </a:r>
                    </a:p>
                    <a:p>
                      <a:r>
                        <a:rPr lang="en-US" sz="800" dirty="0"/>
                        <a:t>M  V30 1 Br 9.31 -8.4761 0 0 </a:t>
                      </a:r>
                    </a:p>
                    <a:p>
                      <a:r>
                        <a:rPr lang="en-US" sz="800" dirty="0"/>
                        <a:t>M  V30 2 C 8.7194 -7.4532 0 0 </a:t>
                      </a:r>
                    </a:p>
                    <a:p>
                      <a:r>
                        <a:rPr lang="en-US" sz="800" dirty="0"/>
                        <a:t>M  V30 3 Cl 9.3101 -6.4303 0 0 </a:t>
                      </a:r>
                    </a:p>
                    <a:p>
                      <a:r>
                        <a:rPr lang="en-US" sz="800" dirty="0"/>
                        <a:t>M  V30 4 C 7.5383 -7.4532 0 0 </a:t>
                      </a:r>
                    </a:p>
                    <a:p>
                      <a:r>
                        <a:rPr lang="en-US" sz="800" dirty="0"/>
                        <a:t>M  V30 5 F 6.9478 -6.4302 0 0 </a:t>
                      </a:r>
                    </a:p>
                    <a:p>
                      <a:r>
                        <a:rPr lang="en-US" sz="800" dirty="0"/>
                        <a:t>M  V30 6 Cl 6.948 -8.4757 0 0 </a:t>
                      </a:r>
                    </a:p>
                    <a:p>
                      <a:r>
                        <a:rPr lang="en-US" sz="800" dirty="0"/>
                        <a:t>M  V30 END ATOM</a:t>
                      </a:r>
                    </a:p>
                    <a:p>
                      <a:r>
                        <a:rPr lang="en-US" sz="800" dirty="0"/>
                        <a:t>M  V30 BEGIN BOND</a:t>
                      </a:r>
                    </a:p>
                    <a:p>
                      <a:r>
                        <a:rPr lang="en-US" sz="800" dirty="0"/>
                        <a:t>M  V30 1 1 2 1 </a:t>
                      </a:r>
                    </a:p>
                    <a:p>
                      <a:r>
                        <a:rPr lang="en-US" sz="800" dirty="0"/>
                        <a:t>M  V30 2 1 2 3 </a:t>
                      </a:r>
                    </a:p>
                    <a:p>
                      <a:r>
                        <a:rPr lang="en-US" sz="800" dirty="0"/>
                        <a:t>M  V30 3 2 4 2 </a:t>
                      </a:r>
                    </a:p>
                    <a:p>
                      <a:r>
                        <a:rPr lang="en-US" sz="800" dirty="0"/>
                        <a:t>M  V30 4 1 4 5 </a:t>
                      </a:r>
                    </a:p>
                    <a:p>
                      <a:r>
                        <a:rPr lang="en-US" sz="800" dirty="0"/>
                        <a:t>M  V30 5 1 6 4 </a:t>
                      </a:r>
                    </a:p>
                    <a:p>
                      <a:r>
                        <a:rPr lang="en-US" sz="800" dirty="0"/>
                        <a:t>M  V30 END BOND</a:t>
                      </a:r>
                    </a:p>
                    <a:p>
                      <a:r>
                        <a:rPr lang="en-US" sz="800" dirty="0">
                          <a:solidFill>
                            <a:srgbClr val="FF0000"/>
                          </a:solidFill>
                        </a:rPr>
                        <a:t>M  V30 BEGIN COLLECTION</a:t>
                      </a:r>
                    </a:p>
                    <a:p>
                      <a:r>
                        <a:rPr lang="en-US" sz="800" dirty="0">
                          <a:solidFill>
                            <a:srgbClr val="FF0000"/>
                          </a:solidFill>
                        </a:rPr>
                        <a:t>M  V30 MDLV30/</a:t>
                      </a:r>
                      <a:r>
                        <a:rPr lang="en-US" sz="800" b="1" dirty="0">
                          <a:solidFill>
                            <a:srgbClr val="FF0000"/>
                          </a:solidFill>
                        </a:rPr>
                        <a:t>STEBREL1</a:t>
                      </a:r>
                      <a:r>
                        <a:rPr lang="en-US" sz="800" dirty="0">
                          <a:solidFill>
                            <a:srgbClr val="FF0000"/>
                          </a:solidFill>
                        </a:rPr>
                        <a:t> BONDS=(1 3)</a:t>
                      </a:r>
                    </a:p>
                    <a:p>
                      <a:r>
                        <a:rPr lang="en-US" sz="800" dirty="0">
                          <a:solidFill>
                            <a:srgbClr val="FF0000"/>
                          </a:solidFill>
                        </a:rPr>
                        <a:t>M  V30 END COLLECTION</a:t>
                      </a:r>
                    </a:p>
                    <a:p>
                      <a:r>
                        <a:rPr lang="en-US" sz="800" dirty="0"/>
                        <a:t>M  V30 END CTAB</a:t>
                      </a:r>
                    </a:p>
                    <a:p>
                      <a:r>
                        <a:rPr lang="en-US" sz="800" dirty="0"/>
                        <a:t>M  END</a:t>
                      </a:r>
                    </a:p>
                    <a:p>
                      <a:endParaRPr lang="en-US" sz="800" dirty="0"/>
                    </a:p>
                    <a:p>
                      <a:endParaRPr lang="en-US" sz="800" dirty="0"/>
                    </a:p>
                    <a:p>
                      <a:endParaRPr lang="en-US" sz="300" dirty="0"/>
                    </a:p>
                    <a:p>
                      <a:endParaRPr lang="en-US" sz="30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InChI=1B/C2BrCl2F/c3-1(4) 2(5)6/b2(</a:t>
                      </a:r>
                      <a:r>
                        <a:rPr lang="it-IT" sz="1200" b="1" kern="1200" dirty="0">
                          <a:solidFill>
                            <a:srgbClr val="FF0000"/>
                          </a:solidFill>
                          <a:effectLst/>
                          <a:latin typeface="+mn-lt"/>
                          <a:ea typeface="+mn-ea"/>
                          <a:cs typeface="+mn-cs"/>
                        </a:rPr>
                        <a:t>2-1-)</a:t>
                      </a:r>
                    </a:p>
                    <a:p>
                      <a:endParaRPr lang="en-US" sz="800" dirty="0"/>
                    </a:p>
                  </a:txBody>
                  <a:tcPr/>
                </a:tc>
                <a:tc>
                  <a:txBody>
                    <a:bodyPr/>
                    <a:lstStyle/>
                    <a:p>
                      <a:endParaRPr lang="en-US" dirty="0"/>
                    </a:p>
                  </a:txBody>
                  <a:tcPr/>
                </a:tc>
                <a:tc>
                  <a:txBody>
                    <a:bodyPr/>
                    <a:lstStyle/>
                    <a:p>
                      <a:endParaRPr lang="en-US" sz="800" dirty="0"/>
                    </a:p>
                    <a:p>
                      <a:r>
                        <a:rPr lang="en-US" sz="800" dirty="0"/>
                        <a:t>  ACCLDraw05282617022D</a:t>
                      </a:r>
                    </a:p>
                    <a:p>
                      <a:endParaRPr lang="en-US" sz="800" dirty="0"/>
                    </a:p>
                    <a:p>
                      <a:r>
                        <a:rPr lang="en-US" sz="800" dirty="0"/>
                        <a:t>  0  0  0     0  0            999 V3000</a:t>
                      </a:r>
                    </a:p>
                    <a:p>
                      <a:r>
                        <a:rPr lang="en-US" sz="800" dirty="0"/>
                        <a:t>M  V30 BEGIN CTAB</a:t>
                      </a:r>
                    </a:p>
                    <a:p>
                      <a:r>
                        <a:rPr lang="en-US" sz="800" dirty="0"/>
                        <a:t>M  V30 COUNTS 6 5 0 0 0</a:t>
                      </a:r>
                    </a:p>
                    <a:p>
                      <a:r>
                        <a:rPr lang="en-US" sz="800" dirty="0"/>
                        <a:t>M  V30 BEGIN ATOM</a:t>
                      </a:r>
                    </a:p>
                    <a:p>
                      <a:r>
                        <a:rPr lang="en-US" sz="800" dirty="0"/>
                        <a:t>M  V30 1 Cl 7.7123 -9.5855 0 0 </a:t>
                      </a:r>
                    </a:p>
                    <a:p>
                      <a:r>
                        <a:rPr lang="en-US" sz="800" dirty="0"/>
                        <a:t>M  V30 2 C 7.1217 -8.5626 0 0 </a:t>
                      </a:r>
                    </a:p>
                    <a:p>
                      <a:r>
                        <a:rPr lang="en-US" sz="800" dirty="0"/>
                        <a:t>M  V30 3 Br 7.7124 -7.5397 0 0 </a:t>
                      </a:r>
                    </a:p>
                    <a:p>
                      <a:r>
                        <a:rPr lang="en-US" sz="800" dirty="0"/>
                        <a:t>M  V30 4 C 5.9406 -8.5626 0 0 </a:t>
                      </a:r>
                    </a:p>
                    <a:p>
                      <a:r>
                        <a:rPr lang="en-US" sz="800" dirty="0"/>
                        <a:t>M  V30 5 F 5.3501 -7.5396 0 0 </a:t>
                      </a:r>
                    </a:p>
                    <a:p>
                      <a:r>
                        <a:rPr lang="en-US" sz="800" dirty="0"/>
                        <a:t>M  V30 6 Cl 5.3503 -9.5851 0 0 </a:t>
                      </a:r>
                    </a:p>
                    <a:p>
                      <a:r>
                        <a:rPr lang="en-US" sz="800" dirty="0"/>
                        <a:t>M  V30 END ATOM</a:t>
                      </a:r>
                    </a:p>
                    <a:p>
                      <a:r>
                        <a:rPr lang="en-US" sz="800" dirty="0"/>
                        <a:t>M  V30 BEGIN BOND</a:t>
                      </a:r>
                    </a:p>
                    <a:p>
                      <a:r>
                        <a:rPr lang="en-US" sz="800" dirty="0"/>
                        <a:t>M  V30 1 1 2 1 </a:t>
                      </a:r>
                    </a:p>
                    <a:p>
                      <a:r>
                        <a:rPr lang="en-US" sz="800" dirty="0"/>
                        <a:t>M  V30 2 1 2 3 </a:t>
                      </a:r>
                    </a:p>
                    <a:p>
                      <a:r>
                        <a:rPr lang="en-US" sz="800" dirty="0"/>
                        <a:t>M  V30 3 2 4 2 </a:t>
                      </a:r>
                    </a:p>
                    <a:p>
                      <a:r>
                        <a:rPr lang="en-US" sz="800" dirty="0"/>
                        <a:t>M  V30 4 1 4 5 </a:t>
                      </a:r>
                    </a:p>
                    <a:p>
                      <a:r>
                        <a:rPr lang="en-US" sz="800" dirty="0"/>
                        <a:t>M  V30 5 1 6 4 </a:t>
                      </a:r>
                    </a:p>
                    <a:p>
                      <a:r>
                        <a:rPr lang="en-US" sz="800" dirty="0"/>
                        <a:t>M  V30 END BOND</a:t>
                      </a:r>
                    </a:p>
                    <a:p>
                      <a:r>
                        <a:rPr lang="en-US" sz="800" dirty="0">
                          <a:solidFill>
                            <a:srgbClr val="FF0000"/>
                          </a:solidFill>
                        </a:rPr>
                        <a:t>M  V30 BEGIN COLLECTION</a:t>
                      </a:r>
                    </a:p>
                    <a:p>
                      <a:r>
                        <a:rPr lang="en-US" sz="800" dirty="0">
                          <a:solidFill>
                            <a:srgbClr val="FF0000"/>
                          </a:solidFill>
                        </a:rPr>
                        <a:t>M  V30 MDLV30/</a:t>
                      </a:r>
                      <a:r>
                        <a:rPr lang="en-US" sz="800" b="1" dirty="0">
                          <a:solidFill>
                            <a:srgbClr val="FF0000"/>
                          </a:solidFill>
                        </a:rPr>
                        <a:t>STEBREL1 </a:t>
                      </a:r>
                      <a:r>
                        <a:rPr lang="en-US" sz="800" dirty="0">
                          <a:solidFill>
                            <a:srgbClr val="FF0000"/>
                          </a:solidFill>
                        </a:rPr>
                        <a:t>BONDS=(1 3)</a:t>
                      </a:r>
                    </a:p>
                    <a:p>
                      <a:r>
                        <a:rPr lang="en-US" sz="800" dirty="0">
                          <a:solidFill>
                            <a:srgbClr val="FF0000"/>
                          </a:solidFill>
                        </a:rPr>
                        <a:t>M  V30 END COLLECTION</a:t>
                      </a:r>
                    </a:p>
                    <a:p>
                      <a:r>
                        <a:rPr lang="en-US" sz="800" dirty="0"/>
                        <a:t>M  V30 END CTAB</a:t>
                      </a:r>
                    </a:p>
                    <a:p>
                      <a:r>
                        <a:rPr lang="en-US" sz="800" dirty="0"/>
                        <a:t>M  END</a:t>
                      </a:r>
                    </a:p>
                    <a:p>
                      <a:endParaRPr lang="en-US" sz="800" dirty="0"/>
                    </a:p>
                    <a:p>
                      <a:endParaRPr lang="en-US" sz="800" dirty="0"/>
                    </a:p>
                    <a:p>
                      <a:endParaRPr lang="en-US" sz="300" dirty="0"/>
                    </a:p>
                    <a:p>
                      <a:endParaRPr lang="en-US" sz="30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InChI=1B/C2BrCl2F/c3-1(4) 2(5)6/b2(</a:t>
                      </a:r>
                      <a:r>
                        <a:rPr lang="it-IT" sz="1200" b="1" kern="1200" dirty="0">
                          <a:solidFill>
                            <a:srgbClr val="FF0000"/>
                          </a:solidFill>
                          <a:effectLst/>
                          <a:latin typeface="+mn-lt"/>
                          <a:ea typeface="+mn-ea"/>
                          <a:cs typeface="+mn-cs"/>
                        </a:rPr>
                        <a:t>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Use «2» for the Rel configuration analog to «s2», alternative: «o» for OR# centers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Each bond is represented by their canonicalized atom number pairs starting with the higher number and «-» as orientation for both of the atoms.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Proposed format: /b2(2-1-)</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Multiple OR geometries are ordered ascendendly by the atom number tupples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In case of OR# with #= 1,2,…. set each block of related groups in brackets and add # in front of the first atom pair of each block. Separate each block by «,».</a:t>
                      </a:r>
                    </a:p>
                  </a:txBody>
                  <a:tcPr/>
                </a:tc>
                <a:extLst>
                  <a:ext uri="{0D108BD9-81ED-4DB2-BD59-A6C34878D82A}">
                    <a16:rowId xmlns:a16="http://schemas.microsoft.com/office/drawing/2014/main" val="237514379"/>
                  </a:ext>
                </a:extLst>
              </a:tr>
            </a:tbl>
          </a:graphicData>
        </a:graphic>
      </p:graphicFrame>
      <p:pic>
        <p:nvPicPr>
          <p:cNvPr id="6" name="Grafik 5">
            <a:extLst>
              <a:ext uri="{FF2B5EF4-FFF2-40B4-BE49-F238E27FC236}">
                <a16:creationId xmlns:a16="http://schemas.microsoft.com/office/drawing/2014/main" id="{94702B20-E91A-110E-571C-465C546AB960}"/>
              </a:ext>
            </a:extLst>
          </p:cNvPr>
          <p:cNvPicPr>
            <a:picLocks noChangeAspect="1"/>
          </p:cNvPicPr>
          <p:nvPr/>
        </p:nvPicPr>
        <p:blipFill>
          <a:blip r:embed="rId2"/>
          <a:stretch>
            <a:fillRect/>
          </a:stretch>
        </p:blipFill>
        <p:spPr>
          <a:xfrm>
            <a:off x="1245618" y="2737519"/>
            <a:ext cx="1114425" cy="1276350"/>
          </a:xfrm>
          <a:prstGeom prst="rect">
            <a:avLst/>
          </a:prstGeom>
        </p:spPr>
      </p:pic>
      <p:pic>
        <p:nvPicPr>
          <p:cNvPr id="8" name="Grafik 7">
            <a:extLst>
              <a:ext uri="{FF2B5EF4-FFF2-40B4-BE49-F238E27FC236}">
                <a16:creationId xmlns:a16="http://schemas.microsoft.com/office/drawing/2014/main" id="{3AB0B353-10B2-0265-0EF6-0DCB4A9B6F4E}"/>
              </a:ext>
            </a:extLst>
          </p:cNvPr>
          <p:cNvPicPr>
            <a:picLocks noChangeAspect="1"/>
          </p:cNvPicPr>
          <p:nvPr/>
        </p:nvPicPr>
        <p:blipFill>
          <a:blip r:embed="rId3"/>
          <a:stretch>
            <a:fillRect/>
          </a:stretch>
        </p:blipFill>
        <p:spPr>
          <a:xfrm>
            <a:off x="4484972" y="2737519"/>
            <a:ext cx="1114425" cy="1276350"/>
          </a:xfrm>
          <a:prstGeom prst="rect">
            <a:avLst/>
          </a:prstGeom>
        </p:spPr>
      </p:pic>
    </p:spTree>
    <p:extLst>
      <p:ext uri="{BB962C8B-B14F-4D97-AF65-F5344CB8AC3E}">
        <p14:creationId xmlns:p14="http://schemas.microsoft.com/office/powerpoint/2010/main" val="2697353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B91E2A-9C82-8968-BD88-F0C5DA06D322}"/>
              </a:ext>
            </a:extLst>
          </p:cNvPr>
          <p:cNvSpPr>
            <a:spLocks noGrp="1"/>
          </p:cNvSpPr>
          <p:nvPr>
            <p:ph type="title"/>
          </p:nvPr>
        </p:nvSpPr>
        <p:spPr/>
        <p:txBody>
          <a:bodyPr/>
          <a:lstStyle/>
          <a:p>
            <a:r>
              <a:rPr lang="en-US" dirty="0"/>
              <a:t>Enhanced stereochemistry – double bonds</a:t>
            </a:r>
          </a:p>
        </p:txBody>
      </p:sp>
      <p:sp>
        <p:nvSpPr>
          <p:cNvPr id="3" name="Inhaltsplatzhalter 2">
            <a:extLst>
              <a:ext uri="{FF2B5EF4-FFF2-40B4-BE49-F238E27FC236}">
                <a16:creationId xmlns:a16="http://schemas.microsoft.com/office/drawing/2014/main" id="{878587CC-829E-3489-1202-9D6697E67591}"/>
              </a:ext>
            </a:extLst>
          </p:cNvPr>
          <p:cNvSpPr>
            <a:spLocks noGrp="1"/>
          </p:cNvSpPr>
          <p:nvPr>
            <p:ph idx="1"/>
          </p:nvPr>
        </p:nvSpPr>
        <p:spPr/>
        <p:txBody>
          <a:bodyPr/>
          <a:lstStyle/>
          <a:p>
            <a:r>
              <a:rPr lang="en-US" dirty="0"/>
              <a:t>(Racemic) mixture </a:t>
            </a:r>
          </a:p>
        </p:txBody>
      </p:sp>
      <p:graphicFrame>
        <p:nvGraphicFramePr>
          <p:cNvPr id="4" name="Tabelle 3">
            <a:extLst>
              <a:ext uri="{FF2B5EF4-FFF2-40B4-BE49-F238E27FC236}">
                <a16:creationId xmlns:a16="http://schemas.microsoft.com/office/drawing/2014/main" id="{3411F5EC-43A0-7903-0AA2-D9A6544BEEEE}"/>
              </a:ext>
            </a:extLst>
          </p:cNvPr>
          <p:cNvGraphicFramePr>
            <a:graphicFrameLocks noGrp="1"/>
          </p:cNvGraphicFramePr>
          <p:nvPr>
            <p:extLst>
              <p:ext uri="{D42A27DB-BD31-4B8C-83A1-F6EECF244321}">
                <p14:modId xmlns:p14="http://schemas.microsoft.com/office/powerpoint/2010/main" val="1531487767"/>
              </p:ext>
            </p:extLst>
          </p:nvPr>
        </p:nvGraphicFramePr>
        <p:xfrm>
          <a:off x="1129902" y="2109441"/>
          <a:ext cx="10498971" cy="4709933"/>
        </p:xfrm>
        <a:graphic>
          <a:graphicData uri="http://schemas.openxmlformats.org/drawingml/2006/table">
            <a:tbl>
              <a:tblPr firstRow="1" bandRow="1">
                <a:tableStyleId>{5C22544A-7EE6-4342-B048-85BDC9FD1C3A}</a:tableStyleId>
              </a:tblPr>
              <a:tblGrid>
                <a:gridCol w="1326268">
                  <a:extLst>
                    <a:ext uri="{9D8B030D-6E8A-4147-A177-3AD203B41FA5}">
                      <a16:colId xmlns:a16="http://schemas.microsoft.com/office/drawing/2014/main" val="2363299576"/>
                    </a:ext>
                  </a:extLst>
                </a:gridCol>
                <a:gridCol w="1898508">
                  <a:extLst>
                    <a:ext uri="{9D8B030D-6E8A-4147-A177-3AD203B41FA5}">
                      <a16:colId xmlns:a16="http://schemas.microsoft.com/office/drawing/2014/main" val="235752228"/>
                    </a:ext>
                  </a:extLst>
                </a:gridCol>
                <a:gridCol w="1410554">
                  <a:extLst>
                    <a:ext uri="{9D8B030D-6E8A-4147-A177-3AD203B41FA5}">
                      <a16:colId xmlns:a16="http://schemas.microsoft.com/office/drawing/2014/main" val="3165797117"/>
                    </a:ext>
                  </a:extLst>
                </a:gridCol>
                <a:gridCol w="1890307">
                  <a:extLst>
                    <a:ext uri="{9D8B030D-6E8A-4147-A177-3AD203B41FA5}">
                      <a16:colId xmlns:a16="http://schemas.microsoft.com/office/drawing/2014/main" val="3230882908"/>
                    </a:ext>
                  </a:extLst>
                </a:gridCol>
                <a:gridCol w="3973334">
                  <a:extLst>
                    <a:ext uri="{9D8B030D-6E8A-4147-A177-3AD203B41FA5}">
                      <a16:colId xmlns:a16="http://schemas.microsoft.com/office/drawing/2014/main" val="3528995915"/>
                    </a:ext>
                  </a:extLst>
                </a:gridCol>
              </a:tblGrid>
              <a:tr h="320328">
                <a:tc>
                  <a:txBody>
                    <a:bodyPr/>
                    <a:lstStyle/>
                    <a:p>
                      <a:r>
                        <a:rPr lang="en-US" dirty="0"/>
                        <a:t>Drawing</a:t>
                      </a:r>
                    </a:p>
                  </a:txBody>
                  <a:tcPr/>
                </a:tc>
                <a:tc>
                  <a:txBody>
                    <a:bodyPr/>
                    <a:lstStyle/>
                    <a:p>
                      <a:r>
                        <a:rPr lang="en-US" dirty="0"/>
                        <a:t>V3 molfile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Drawing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V3 molfile</a:t>
                      </a:r>
                    </a:p>
                  </a:txBody>
                  <a:tcPr/>
                </a:tc>
                <a:tc>
                  <a:txBody>
                    <a:bodyPr/>
                    <a:lstStyle/>
                    <a:p>
                      <a:r>
                        <a:rPr lang="en-US" dirty="0"/>
                        <a:t>Proposal</a:t>
                      </a:r>
                    </a:p>
                  </a:txBody>
                  <a:tcPr/>
                </a:tc>
                <a:extLst>
                  <a:ext uri="{0D108BD9-81ED-4DB2-BD59-A6C34878D82A}">
                    <a16:rowId xmlns:a16="http://schemas.microsoft.com/office/drawing/2014/main" val="618254344"/>
                  </a:ext>
                </a:extLst>
              </a:tr>
              <a:tr h="4344173">
                <a:tc>
                  <a:txBody>
                    <a:bodyPr/>
                    <a:lstStyle/>
                    <a:p>
                      <a:endParaRPr lang="en-US"/>
                    </a:p>
                  </a:txBody>
                  <a:tcPr/>
                </a:tc>
                <a:tc>
                  <a:txBody>
                    <a:bodyPr/>
                    <a:lstStyle/>
                    <a:p>
                      <a:endParaRPr lang="en-US" sz="800" dirty="0"/>
                    </a:p>
                    <a:p>
                      <a:r>
                        <a:rPr lang="en-US" sz="800" dirty="0"/>
                        <a:t>  ACCLDraw05282623592D</a:t>
                      </a:r>
                    </a:p>
                    <a:p>
                      <a:endParaRPr lang="en-US" sz="800" dirty="0"/>
                    </a:p>
                    <a:p>
                      <a:r>
                        <a:rPr lang="en-US" sz="800" dirty="0"/>
                        <a:t>  0  0  0     0  0            999 V3000</a:t>
                      </a:r>
                    </a:p>
                    <a:p>
                      <a:r>
                        <a:rPr lang="en-US" sz="800" dirty="0"/>
                        <a:t>M  V30 BEGIN CTAB</a:t>
                      </a:r>
                    </a:p>
                    <a:p>
                      <a:r>
                        <a:rPr lang="en-US" sz="800" dirty="0"/>
                        <a:t>M  V30 COUNTS 6 5 0 0 0</a:t>
                      </a:r>
                    </a:p>
                    <a:p>
                      <a:r>
                        <a:rPr lang="en-US" sz="800" dirty="0"/>
                        <a:t>M  V30 BEGIN ATOM</a:t>
                      </a:r>
                    </a:p>
                    <a:p>
                      <a:r>
                        <a:rPr lang="en-US" sz="800" dirty="0"/>
                        <a:t>M  V30 1 Br 9.31 -8.4761 0 0 </a:t>
                      </a:r>
                    </a:p>
                    <a:p>
                      <a:r>
                        <a:rPr lang="en-US" sz="800" dirty="0"/>
                        <a:t>M  V30 2 C 8.7194 -7.4532 0 0 </a:t>
                      </a:r>
                    </a:p>
                    <a:p>
                      <a:r>
                        <a:rPr lang="en-US" sz="800" dirty="0"/>
                        <a:t>M  V30 3 Cl 9.3101 -6.4303 0 0 </a:t>
                      </a:r>
                    </a:p>
                    <a:p>
                      <a:r>
                        <a:rPr lang="en-US" sz="800" dirty="0"/>
                        <a:t>M  V30 4 C 7.5383 -7.4532 0 0 </a:t>
                      </a:r>
                    </a:p>
                    <a:p>
                      <a:r>
                        <a:rPr lang="en-US" sz="800" dirty="0"/>
                        <a:t>M  V30 5 F 6.9478 -6.4302 0 0 </a:t>
                      </a:r>
                    </a:p>
                    <a:p>
                      <a:r>
                        <a:rPr lang="en-US" sz="800" dirty="0"/>
                        <a:t>M  V30 6 Cl 6.948 -8.4757 0 0 </a:t>
                      </a:r>
                    </a:p>
                    <a:p>
                      <a:r>
                        <a:rPr lang="en-US" sz="800" dirty="0"/>
                        <a:t>M  V30 END ATOM</a:t>
                      </a:r>
                    </a:p>
                    <a:p>
                      <a:r>
                        <a:rPr lang="en-US" sz="800" dirty="0"/>
                        <a:t>M  V30 BEGIN BOND</a:t>
                      </a:r>
                    </a:p>
                    <a:p>
                      <a:r>
                        <a:rPr lang="en-US" sz="800" dirty="0"/>
                        <a:t>M  V30 1 1 2 1 </a:t>
                      </a:r>
                    </a:p>
                    <a:p>
                      <a:r>
                        <a:rPr lang="en-US" sz="800" dirty="0"/>
                        <a:t>M  V30 2 1 2 3 </a:t>
                      </a:r>
                    </a:p>
                    <a:p>
                      <a:r>
                        <a:rPr lang="en-US" sz="800" dirty="0"/>
                        <a:t>M  V30 3 2 4 2 </a:t>
                      </a:r>
                    </a:p>
                    <a:p>
                      <a:r>
                        <a:rPr lang="en-US" sz="800" dirty="0"/>
                        <a:t>M  V30 4 1 4 5 </a:t>
                      </a:r>
                    </a:p>
                    <a:p>
                      <a:r>
                        <a:rPr lang="en-US" sz="800" dirty="0"/>
                        <a:t>M  V30 5 1 6 4 </a:t>
                      </a:r>
                    </a:p>
                    <a:p>
                      <a:r>
                        <a:rPr lang="en-US" sz="800" dirty="0"/>
                        <a:t>M  V30 END BOND</a:t>
                      </a:r>
                    </a:p>
                    <a:p>
                      <a:r>
                        <a:rPr lang="en-US" sz="800" dirty="0">
                          <a:solidFill>
                            <a:srgbClr val="FF0000"/>
                          </a:solidFill>
                        </a:rPr>
                        <a:t>M  V30 BEGIN COLLECTION</a:t>
                      </a:r>
                    </a:p>
                    <a:p>
                      <a:r>
                        <a:rPr lang="en-US" sz="800" dirty="0">
                          <a:solidFill>
                            <a:srgbClr val="FF0000"/>
                          </a:solidFill>
                        </a:rPr>
                        <a:t>M  V30 MDLV30/</a:t>
                      </a:r>
                      <a:r>
                        <a:rPr lang="en-US" sz="800" b="1" dirty="0">
                          <a:solidFill>
                            <a:srgbClr val="FF0000"/>
                          </a:solidFill>
                        </a:rPr>
                        <a:t>STEBRAC1</a:t>
                      </a:r>
                      <a:r>
                        <a:rPr lang="en-US" sz="800" dirty="0">
                          <a:solidFill>
                            <a:srgbClr val="FF0000"/>
                          </a:solidFill>
                        </a:rPr>
                        <a:t> BONDS=(1 3)</a:t>
                      </a:r>
                    </a:p>
                    <a:p>
                      <a:r>
                        <a:rPr lang="en-US" sz="800" dirty="0">
                          <a:solidFill>
                            <a:srgbClr val="FF0000"/>
                          </a:solidFill>
                        </a:rPr>
                        <a:t>M  V30 END COLLECTION</a:t>
                      </a:r>
                    </a:p>
                    <a:p>
                      <a:r>
                        <a:rPr lang="en-US" sz="800" dirty="0"/>
                        <a:t>M  V30 END CTAB</a:t>
                      </a:r>
                    </a:p>
                    <a:p>
                      <a:r>
                        <a:rPr lang="en-US" sz="800" dirty="0"/>
                        <a:t>M  END</a:t>
                      </a:r>
                    </a:p>
                    <a:p>
                      <a:endParaRPr lang="en-US" sz="800" dirty="0"/>
                    </a:p>
                    <a:p>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InChI=1B/C2BrCl2F/c3-1(4) 2(5)6/b3(</a:t>
                      </a:r>
                      <a:r>
                        <a:rPr lang="it-IT" sz="1200" b="1" kern="1200" dirty="0">
                          <a:solidFill>
                            <a:srgbClr val="FF0000"/>
                          </a:solidFill>
                          <a:effectLst/>
                          <a:latin typeface="+mn-lt"/>
                          <a:ea typeface="+mn-ea"/>
                          <a:cs typeface="+mn-cs"/>
                        </a:rPr>
                        <a:t>2-1-)</a:t>
                      </a:r>
                    </a:p>
                    <a:p>
                      <a:endParaRPr lang="en-US" sz="800" dirty="0"/>
                    </a:p>
                  </a:txBody>
                  <a:tcPr/>
                </a:tc>
                <a:tc>
                  <a:txBody>
                    <a:bodyPr/>
                    <a:lstStyle/>
                    <a:p>
                      <a:endParaRPr lang="en-US" dirty="0"/>
                    </a:p>
                  </a:txBody>
                  <a:tcPr/>
                </a:tc>
                <a:tc>
                  <a:txBody>
                    <a:bodyPr/>
                    <a:lstStyle/>
                    <a:p>
                      <a:endParaRPr lang="en-US" sz="800" dirty="0"/>
                    </a:p>
                    <a:p>
                      <a:r>
                        <a:rPr lang="en-US" sz="800" dirty="0"/>
                        <a:t>  ACCLDraw05292600022D</a:t>
                      </a:r>
                    </a:p>
                    <a:p>
                      <a:endParaRPr lang="en-US" sz="800" dirty="0"/>
                    </a:p>
                    <a:p>
                      <a:r>
                        <a:rPr lang="en-US" sz="800" dirty="0"/>
                        <a:t>  0  0  0     0  0            999 V3000</a:t>
                      </a:r>
                    </a:p>
                    <a:p>
                      <a:r>
                        <a:rPr lang="en-US" sz="800" dirty="0"/>
                        <a:t>M  V30 BEGIN CTAB</a:t>
                      </a:r>
                    </a:p>
                    <a:p>
                      <a:r>
                        <a:rPr lang="en-US" sz="800" dirty="0"/>
                        <a:t>M  V30 COUNTS 6 5 0 0 0</a:t>
                      </a:r>
                    </a:p>
                    <a:p>
                      <a:r>
                        <a:rPr lang="en-US" sz="800" dirty="0"/>
                        <a:t>M  V30 BEGIN ATOM</a:t>
                      </a:r>
                    </a:p>
                    <a:p>
                      <a:r>
                        <a:rPr lang="en-US" sz="800" dirty="0"/>
                        <a:t>M  V30 1 Cl 9.4936 -13.9917 0 0 </a:t>
                      </a:r>
                    </a:p>
                    <a:p>
                      <a:r>
                        <a:rPr lang="en-US" sz="800" dirty="0"/>
                        <a:t>M  V30 2 C 8.903 -12.9688 0 0 </a:t>
                      </a:r>
                    </a:p>
                    <a:p>
                      <a:r>
                        <a:rPr lang="en-US" sz="800" dirty="0"/>
                        <a:t>M  V30 3 Br 9.4937 -11.9459 0 0 </a:t>
                      </a:r>
                    </a:p>
                    <a:p>
                      <a:r>
                        <a:rPr lang="en-US" sz="800" dirty="0"/>
                        <a:t>M  V30 4 C 7.7219 -12.9688 0 0 </a:t>
                      </a:r>
                    </a:p>
                    <a:p>
                      <a:r>
                        <a:rPr lang="en-US" sz="800" dirty="0"/>
                        <a:t>M  V30 5 F 7.1314 -11.9458 0 0 </a:t>
                      </a:r>
                    </a:p>
                    <a:p>
                      <a:r>
                        <a:rPr lang="en-US" sz="800" dirty="0"/>
                        <a:t>M  V30 6 Cl 7.1316 -13.9913 0 0 </a:t>
                      </a:r>
                    </a:p>
                    <a:p>
                      <a:r>
                        <a:rPr lang="en-US" sz="800" dirty="0"/>
                        <a:t>M  V30 END ATOM</a:t>
                      </a:r>
                    </a:p>
                    <a:p>
                      <a:r>
                        <a:rPr lang="en-US" sz="800" dirty="0"/>
                        <a:t>M  V30 BEGIN BOND</a:t>
                      </a:r>
                    </a:p>
                    <a:p>
                      <a:r>
                        <a:rPr lang="en-US" sz="800" dirty="0"/>
                        <a:t>M  V30 1 1 2 1 </a:t>
                      </a:r>
                    </a:p>
                    <a:p>
                      <a:r>
                        <a:rPr lang="en-US" sz="800" dirty="0"/>
                        <a:t>M  V30 2 1 2 3 </a:t>
                      </a:r>
                    </a:p>
                    <a:p>
                      <a:r>
                        <a:rPr lang="en-US" sz="800" dirty="0"/>
                        <a:t>M  V30 3 2 4 2 </a:t>
                      </a:r>
                    </a:p>
                    <a:p>
                      <a:r>
                        <a:rPr lang="en-US" sz="800" dirty="0"/>
                        <a:t>M  V30 4 1 4 5 </a:t>
                      </a:r>
                    </a:p>
                    <a:p>
                      <a:r>
                        <a:rPr lang="en-US" sz="800" dirty="0"/>
                        <a:t>M  V30 5 1 6 4 </a:t>
                      </a:r>
                    </a:p>
                    <a:p>
                      <a:r>
                        <a:rPr lang="en-US" sz="800" dirty="0"/>
                        <a:t>M  V30 END BOND</a:t>
                      </a:r>
                    </a:p>
                    <a:p>
                      <a:r>
                        <a:rPr lang="en-US" sz="800" dirty="0">
                          <a:solidFill>
                            <a:srgbClr val="FF0000"/>
                          </a:solidFill>
                        </a:rPr>
                        <a:t>M  V30 BEGIN COLLECTION</a:t>
                      </a:r>
                    </a:p>
                    <a:p>
                      <a:r>
                        <a:rPr lang="en-US" sz="800" dirty="0">
                          <a:solidFill>
                            <a:srgbClr val="FF0000"/>
                          </a:solidFill>
                        </a:rPr>
                        <a:t>M  V30 MDLV30/</a:t>
                      </a:r>
                      <a:r>
                        <a:rPr lang="en-US" sz="800" b="1" dirty="0">
                          <a:solidFill>
                            <a:srgbClr val="FF0000"/>
                          </a:solidFill>
                        </a:rPr>
                        <a:t>STEBRAC1 </a:t>
                      </a:r>
                      <a:r>
                        <a:rPr lang="en-US" sz="800" dirty="0">
                          <a:solidFill>
                            <a:srgbClr val="FF0000"/>
                          </a:solidFill>
                        </a:rPr>
                        <a:t>BONDS=(1 3)</a:t>
                      </a:r>
                    </a:p>
                    <a:p>
                      <a:r>
                        <a:rPr lang="en-US" sz="800" dirty="0">
                          <a:solidFill>
                            <a:srgbClr val="FF0000"/>
                          </a:solidFill>
                        </a:rPr>
                        <a:t>M  V30 END COLLECTION</a:t>
                      </a:r>
                    </a:p>
                    <a:p>
                      <a:r>
                        <a:rPr lang="en-US" sz="800" dirty="0"/>
                        <a:t>M  V30 END CTAB</a:t>
                      </a:r>
                    </a:p>
                    <a:p>
                      <a:r>
                        <a:rPr lang="en-US" sz="800" dirty="0"/>
                        <a:t>M  END</a:t>
                      </a:r>
                    </a:p>
                    <a:p>
                      <a:endParaRPr lang="en-US" sz="800" dirty="0"/>
                    </a:p>
                    <a:p>
                      <a:endParaRPr lang="en-US" sz="800"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kern="1200" dirty="0">
                          <a:solidFill>
                            <a:schemeClr val="dk1"/>
                          </a:solidFill>
                          <a:effectLst/>
                          <a:latin typeface="+mn-lt"/>
                          <a:ea typeface="+mn-ea"/>
                          <a:cs typeface="+mn-cs"/>
                        </a:rPr>
                        <a:t>InChI=1B/C2BrCl2F/c3-1(4) 2(5)6/b3(</a:t>
                      </a:r>
                      <a:r>
                        <a:rPr lang="it-IT" sz="1200" b="1" kern="1200" dirty="0">
                          <a:solidFill>
                            <a:srgbClr val="FF0000"/>
                          </a:solidFill>
                          <a:effectLst/>
                          <a:latin typeface="+mn-lt"/>
                          <a:ea typeface="+mn-ea"/>
                          <a:cs typeface="+mn-cs"/>
                        </a:rPr>
                        <a:t>2-1-)</a:t>
                      </a:r>
                    </a:p>
                    <a:p>
                      <a:endParaRPr lang="en-US" sz="800" dirty="0"/>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Use «3» for the Rac configuration analog to «s3», alternative: «&amp;» for AND# centers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Each bond is represented by their canonicalized atom number pairs starting with the higher number and «-» as orientation for both of the atoms.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Proposed format: /b3(2-1-)</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Multiple AND geometries are ordered ascendendly by the atom number tupples</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800" kern="1200" dirty="0">
                          <a:solidFill>
                            <a:schemeClr val="dk1"/>
                          </a:solidFill>
                          <a:effectLst/>
                          <a:latin typeface="+mn-lt"/>
                          <a:ea typeface="+mn-ea"/>
                          <a:cs typeface="+mn-cs"/>
                        </a:rPr>
                        <a:t>In case of AND# with #= 1,2,…. set each block of related groups in brackets and add # in front of the first atom pair of each block. Separate each block by «,».</a:t>
                      </a:r>
                    </a:p>
                  </a:txBody>
                  <a:tcPr/>
                </a:tc>
                <a:extLst>
                  <a:ext uri="{0D108BD9-81ED-4DB2-BD59-A6C34878D82A}">
                    <a16:rowId xmlns:a16="http://schemas.microsoft.com/office/drawing/2014/main" val="237514379"/>
                  </a:ext>
                </a:extLst>
              </a:tr>
            </a:tbl>
          </a:graphicData>
        </a:graphic>
      </p:graphicFrame>
      <p:pic>
        <p:nvPicPr>
          <p:cNvPr id="6" name="Grafik 5">
            <a:extLst>
              <a:ext uri="{FF2B5EF4-FFF2-40B4-BE49-F238E27FC236}">
                <a16:creationId xmlns:a16="http://schemas.microsoft.com/office/drawing/2014/main" id="{B348ECD0-3E59-B10D-614C-C0608C6F49F3}"/>
              </a:ext>
            </a:extLst>
          </p:cNvPr>
          <p:cNvPicPr>
            <a:picLocks noChangeAspect="1"/>
          </p:cNvPicPr>
          <p:nvPr/>
        </p:nvPicPr>
        <p:blipFill>
          <a:blip r:embed="rId2"/>
          <a:stretch>
            <a:fillRect/>
          </a:stretch>
        </p:blipFill>
        <p:spPr>
          <a:xfrm>
            <a:off x="1194554" y="2721117"/>
            <a:ext cx="1200150" cy="1276350"/>
          </a:xfrm>
          <a:prstGeom prst="rect">
            <a:avLst/>
          </a:prstGeom>
        </p:spPr>
      </p:pic>
      <p:pic>
        <p:nvPicPr>
          <p:cNvPr id="8" name="Grafik 7">
            <a:extLst>
              <a:ext uri="{FF2B5EF4-FFF2-40B4-BE49-F238E27FC236}">
                <a16:creationId xmlns:a16="http://schemas.microsoft.com/office/drawing/2014/main" id="{1E82BE0D-E462-1238-1B0B-B3A66A2CF97F}"/>
              </a:ext>
            </a:extLst>
          </p:cNvPr>
          <p:cNvPicPr>
            <a:picLocks noChangeAspect="1"/>
          </p:cNvPicPr>
          <p:nvPr/>
        </p:nvPicPr>
        <p:blipFill>
          <a:blip r:embed="rId3"/>
          <a:stretch>
            <a:fillRect/>
          </a:stretch>
        </p:blipFill>
        <p:spPr>
          <a:xfrm>
            <a:off x="4454411" y="2721117"/>
            <a:ext cx="1200150" cy="1276350"/>
          </a:xfrm>
          <a:prstGeom prst="rect">
            <a:avLst/>
          </a:prstGeom>
        </p:spPr>
      </p:pic>
    </p:spTree>
    <p:extLst>
      <p:ext uri="{BB962C8B-B14F-4D97-AF65-F5344CB8AC3E}">
        <p14:creationId xmlns:p14="http://schemas.microsoft.com/office/powerpoint/2010/main" val="1157285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2502D-C9C1-1CD2-3D23-4E144ABC5C36}"/>
              </a:ext>
            </a:extLst>
          </p:cNvPr>
          <p:cNvSpPr>
            <a:spLocks noGrp="1"/>
          </p:cNvSpPr>
          <p:nvPr>
            <p:ph type="title"/>
          </p:nvPr>
        </p:nvSpPr>
        <p:spPr/>
        <p:txBody>
          <a:bodyPr/>
          <a:lstStyle/>
          <a:p>
            <a:r>
              <a:rPr lang="en-US" dirty="0"/>
              <a:t>Enhanced stereochemistry – double bonds</a:t>
            </a:r>
          </a:p>
        </p:txBody>
      </p:sp>
      <p:sp>
        <p:nvSpPr>
          <p:cNvPr id="3" name="Inhaltsplatzhalter 2">
            <a:extLst>
              <a:ext uri="{FF2B5EF4-FFF2-40B4-BE49-F238E27FC236}">
                <a16:creationId xmlns:a16="http://schemas.microsoft.com/office/drawing/2014/main" id="{15C76445-884E-0F7B-F7FF-751095498EDE}"/>
              </a:ext>
            </a:extLst>
          </p:cNvPr>
          <p:cNvSpPr>
            <a:spLocks noGrp="1"/>
          </p:cNvSpPr>
          <p:nvPr>
            <p:ph idx="1"/>
          </p:nvPr>
        </p:nvSpPr>
        <p:spPr>
          <a:xfrm>
            <a:off x="803275" y="1690688"/>
            <a:ext cx="10550525" cy="4351338"/>
          </a:xfrm>
        </p:spPr>
        <p:txBody>
          <a:bodyPr/>
          <a:lstStyle/>
          <a:p>
            <a:r>
              <a:rPr lang="en-US" dirty="0"/>
              <a:t>Example</a:t>
            </a:r>
          </a:p>
        </p:txBody>
      </p:sp>
      <p:graphicFrame>
        <p:nvGraphicFramePr>
          <p:cNvPr id="4" name="Tabelle 3">
            <a:extLst>
              <a:ext uri="{FF2B5EF4-FFF2-40B4-BE49-F238E27FC236}">
                <a16:creationId xmlns:a16="http://schemas.microsoft.com/office/drawing/2014/main" id="{BC89E1BB-7F89-CC8F-9319-0F8B2E4A5CE6}"/>
              </a:ext>
            </a:extLst>
          </p:cNvPr>
          <p:cNvGraphicFramePr>
            <a:graphicFrameLocks noGrp="1"/>
          </p:cNvGraphicFramePr>
          <p:nvPr>
            <p:extLst>
              <p:ext uri="{D42A27DB-BD31-4B8C-83A1-F6EECF244321}">
                <p14:modId xmlns:p14="http://schemas.microsoft.com/office/powerpoint/2010/main" val="380404296"/>
              </p:ext>
            </p:extLst>
          </p:nvPr>
        </p:nvGraphicFramePr>
        <p:xfrm>
          <a:off x="1098920" y="2158922"/>
          <a:ext cx="10398738" cy="4735313"/>
        </p:xfrm>
        <a:graphic>
          <a:graphicData uri="http://schemas.openxmlformats.org/drawingml/2006/table">
            <a:tbl>
              <a:tblPr firstRow="1" bandRow="1">
                <a:tableStyleId>{5C22544A-7EE6-4342-B048-85BDC9FD1C3A}</a:tableStyleId>
              </a:tblPr>
              <a:tblGrid>
                <a:gridCol w="2907218">
                  <a:extLst>
                    <a:ext uri="{9D8B030D-6E8A-4147-A177-3AD203B41FA5}">
                      <a16:colId xmlns:a16="http://schemas.microsoft.com/office/drawing/2014/main" val="3798196971"/>
                    </a:ext>
                  </a:extLst>
                </a:gridCol>
                <a:gridCol w="2903118">
                  <a:extLst>
                    <a:ext uri="{9D8B030D-6E8A-4147-A177-3AD203B41FA5}">
                      <a16:colId xmlns:a16="http://schemas.microsoft.com/office/drawing/2014/main" val="1606710212"/>
                    </a:ext>
                  </a:extLst>
                </a:gridCol>
                <a:gridCol w="4588402">
                  <a:extLst>
                    <a:ext uri="{9D8B030D-6E8A-4147-A177-3AD203B41FA5}">
                      <a16:colId xmlns:a16="http://schemas.microsoft.com/office/drawing/2014/main" val="3721304831"/>
                    </a:ext>
                  </a:extLst>
                </a:gridCol>
              </a:tblGrid>
              <a:tr h="420917">
                <a:tc>
                  <a:txBody>
                    <a:bodyPr/>
                    <a:lstStyle/>
                    <a:p>
                      <a:r>
                        <a:rPr lang="en-US" dirty="0"/>
                        <a:t>Drawing</a:t>
                      </a:r>
                    </a:p>
                  </a:txBody>
                  <a:tcPr/>
                </a:tc>
                <a:tc>
                  <a:txBody>
                    <a:bodyPr/>
                    <a:lstStyle/>
                    <a:p>
                      <a:r>
                        <a:rPr lang="en-US" dirty="0"/>
                        <a:t>V3 molfile</a:t>
                      </a:r>
                    </a:p>
                  </a:txBody>
                  <a:tcPr/>
                </a:tc>
                <a:tc>
                  <a:txBody>
                    <a:bodyPr/>
                    <a:lstStyle/>
                    <a:p>
                      <a:r>
                        <a:rPr lang="en-US" dirty="0"/>
                        <a:t>InChI</a:t>
                      </a:r>
                    </a:p>
                  </a:txBody>
                  <a:tcPr/>
                </a:tc>
                <a:extLst>
                  <a:ext uri="{0D108BD9-81ED-4DB2-BD59-A6C34878D82A}">
                    <a16:rowId xmlns:a16="http://schemas.microsoft.com/office/drawing/2014/main" val="4167246387"/>
                  </a:ext>
                </a:extLst>
              </a:tr>
              <a:tr h="4314396">
                <a:tc>
                  <a:txBody>
                    <a:bodyPr/>
                    <a:lstStyle/>
                    <a:p>
                      <a:endParaRPr lang="en-US" dirty="0"/>
                    </a:p>
                  </a:txBody>
                  <a:tcPr/>
                </a:tc>
                <a:tc>
                  <a:txBody>
                    <a:bodyPr/>
                    <a:lstStyle/>
                    <a:p>
                      <a:endParaRPr lang="en-US" sz="600" dirty="0"/>
                    </a:p>
                    <a:p>
                      <a:r>
                        <a:rPr lang="en-US" sz="600" dirty="0"/>
                        <a:t>  ACCLDraw05292600392D</a:t>
                      </a:r>
                    </a:p>
                    <a:p>
                      <a:endParaRPr lang="en-US" sz="600" dirty="0"/>
                    </a:p>
                    <a:p>
                      <a:r>
                        <a:rPr lang="en-US" sz="600" dirty="0"/>
                        <a:t>  0  0  0     0  0            999 V3000</a:t>
                      </a:r>
                    </a:p>
                    <a:p>
                      <a:r>
                        <a:rPr lang="en-US" sz="600" dirty="0"/>
                        <a:t>M  V30 BEGIN CTAB</a:t>
                      </a:r>
                    </a:p>
                    <a:p>
                      <a:r>
                        <a:rPr lang="en-US" sz="600" dirty="0"/>
                        <a:t>M  V30 COUNTS 31 31 0 0 0</a:t>
                      </a:r>
                    </a:p>
                    <a:p>
                      <a:r>
                        <a:rPr lang="en-US" sz="600" dirty="0"/>
                        <a:t>M  V30 BEGIN ATOM</a:t>
                      </a:r>
                    </a:p>
                    <a:p>
                      <a:r>
                        <a:rPr lang="en-US" sz="600" dirty="0"/>
                        <a:t>M  V30 1 Br 9.5751 -2.6288 0 0 </a:t>
                      </a:r>
                    </a:p>
                    <a:p>
                      <a:r>
                        <a:rPr lang="en-US" sz="600" dirty="0"/>
                        <a:t>M  V30 2 C 10.5979 -3.2194 0 0 </a:t>
                      </a:r>
                    </a:p>
                    <a:p>
                      <a:r>
                        <a:rPr lang="en-US" sz="600" dirty="0"/>
                        <a:t>M  V30 3 C 10.5979 -4.4006 0 0 </a:t>
                      </a:r>
                    </a:p>
                    <a:p>
                      <a:r>
                        <a:rPr lang="en-US" sz="600" dirty="0"/>
                        <a:t>M  V30 4 C 9.5751 -4.991 0 0 CFG=3 </a:t>
                      </a:r>
                    </a:p>
                    <a:p>
                      <a:r>
                        <a:rPr lang="en-US" sz="600" dirty="0"/>
                        <a:t>M  V30 5 C 8.5522 -4.4006 0 0 </a:t>
                      </a:r>
                    </a:p>
                    <a:p>
                      <a:r>
                        <a:rPr lang="en-US" sz="600" dirty="0"/>
                        <a:t>M  V30 6 C 7.5293 -4.991 0 0 CFG=3 </a:t>
                      </a:r>
                    </a:p>
                    <a:p>
                      <a:r>
                        <a:rPr lang="en-US" sz="600" dirty="0"/>
                        <a:t>M  V30 7 C 7.5293 -6.1722 0 0 CFG=3 </a:t>
                      </a:r>
                    </a:p>
                    <a:p>
                      <a:r>
                        <a:rPr lang="en-US" sz="600" dirty="0"/>
                        <a:t>M  V30 8 C 8.5522 -6.7628 0 0 </a:t>
                      </a:r>
                    </a:p>
                    <a:p>
                      <a:r>
                        <a:rPr lang="en-US" sz="600" dirty="0"/>
                        <a:t>M  V30 9 C 9.5751 -6.1722 0 0 CFG=3 </a:t>
                      </a:r>
                    </a:p>
                    <a:p>
                      <a:r>
                        <a:rPr lang="en-US" sz="600" dirty="0"/>
                        <a:t>M  V30 10 C 10.5979 -6.7628 0 0 </a:t>
                      </a:r>
                    </a:p>
                    <a:p>
                      <a:r>
                        <a:rPr lang="en-US" sz="600" dirty="0"/>
                        <a:t>M  V30 11 C 10.5979 -7.9439 0 0 </a:t>
                      </a:r>
                    </a:p>
                    <a:p>
                      <a:r>
                        <a:rPr lang="en-US" sz="600" dirty="0"/>
                        <a:t>M  V30 12 N 9.5751 -8.5345 0 0 </a:t>
                      </a:r>
                    </a:p>
                    <a:p>
                      <a:r>
                        <a:rPr lang="en-US" sz="600" dirty="0"/>
                        <a:t>M  V30 13 C 11.6208 -8.5345 0 0 </a:t>
                      </a:r>
                    </a:p>
                    <a:p>
                      <a:r>
                        <a:rPr lang="en-US" sz="600" dirty="0"/>
                        <a:t>M  V30 14 Br 11.6208 -6.1722 0 0 </a:t>
                      </a:r>
                    </a:p>
                    <a:p>
                      <a:r>
                        <a:rPr lang="en-US" sz="600" dirty="0"/>
                        <a:t>M  V30 15 C 6.5065 -6.7628 0 0 </a:t>
                      </a:r>
                    </a:p>
                    <a:p>
                      <a:r>
                        <a:rPr lang="en-US" sz="600" dirty="0"/>
                        <a:t>M  V30 16 C 6.5065 -7.9439 0 0 </a:t>
                      </a:r>
                    </a:p>
                    <a:p>
                      <a:r>
                        <a:rPr lang="en-US" sz="600" dirty="0"/>
                        <a:t>M  V30 17 F 7.5293 -8.5345 0 0 </a:t>
                      </a:r>
                    </a:p>
                    <a:p>
                      <a:r>
                        <a:rPr lang="en-US" sz="600" dirty="0"/>
                        <a:t>M  V30 18 C 5.4835 -8.5345 0 0 </a:t>
                      </a:r>
                    </a:p>
                    <a:p>
                      <a:r>
                        <a:rPr lang="en-US" sz="600" dirty="0"/>
                        <a:t>M  V30 19 C 5.4835 -9.716 0 0 </a:t>
                      </a:r>
                    </a:p>
                    <a:p>
                      <a:r>
                        <a:rPr lang="en-US" sz="600" dirty="0"/>
                        <a:t>M  V30 20 C 6.5067 -10.3067 0 0 </a:t>
                      </a:r>
                    </a:p>
                    <a:p>
                      <a:r>
                        <a:rPr lang="en-US" sz="600" dirty="0"/>
                        <a:t>M  V30 21 Cl 6.5067 -11.4882 0 0 </a:t>
                      </a:r>
                    </a:p>
                    <a:p>
                      <a:r>
                        <a:rPr lang="en-US" sz="600" dirty="0"/>
                        <a:t>M  V30 22 F 7.5299 -9.7159 0 0 </a:t>
                      </a:r>
                    </a:p>
                    <a:p>
                      <a:r>
                        <a:rPr lang="en-US" sz="600" dirty="0"/>
                        <a:t>M  V30 23 O 4.4603 -10.3067 0 0 </a:t>
                      </a:r>
                    </a:p>
                    <a:p>
                      <a:r>
                        <a:rPr lang="en-US" sz="600" dirty="0"/>
                        <a:t>M  V30 24 O 5.4835 -6.1722 0 0 </a:t>
                      </a:r>
                    </a:p>
                    <a:p>
                      <a:r>
                        <a:rPr lang="en-US" sz="600" dirty="0"/>
                        <a:t>M  V30 25 C 6.5065 -4.4006 0 0 </a:t>
                      </a:r>
                    </a:p>
                    <a:p>
                      <a:r>
                        <a:rPr lang="en-US" sz="600" dirty="0"/>
                        <a:t>M  V30 26 C 6.5065 -3.2194 0 0 </a:t>
                      </a:r>
                    </a:p>
                    <a:p>
                      <a:r>
                        <a:rPr lang="en-US" sz="600" dirty="0"/>
                        <a:t>M  V30 27 Cl 7.5293 -2.6288 0 0 </a:t>
                      </a:r>
                    </a:p>
                    <a:p>
                      <a:r>
                        <a:rPr lang="en-US" sz="600" dirty="0"/>
                        <a:t>M  V30 28 F 5.4835 -2.6288 0 0 </a:t>
                      </a:r>
                    </a:p>
                    <a:p>
                      <a:r>
                        <a:rPr lang="en-US" sz="600" dirty="0"/>
                        <a:t>M  V30 29 Cl 5.4835 -4.991 0 0 </a:t>
                      </a:r>
                    </a:p>
                    <a:p>
                      <a:r>
                        <a:rPr lang="en-US" sz="600" dirty="0"/>
                        <a:t>M  V30 30 N 11.6208 -4.991 0 0 </a:t>
                      </a:r>
                    </a:p>
                    <a:p>
                      <a:r>
                        <a:rPr lang="en-US" sz="600" dirty="0"/>
                        <a:t>M  V30 31 Cl 11.6208 -2.6288 0 0 </a:t>
                      </a:r>
                    </a:p>
                    <a:p>
                      <a:r>
                        <a:rPr lang="en-US" sz="600" dirty="0"/>
                        <a:t>M  V30 END ATOM</a:t>
                      </a:r>
                    </a:p>
                    <a:p>
                      <a:endParaRPr lang="en-US" sz="600" dirty="0"/>
                    </a:p>
                  </a:txBody>
                  <a:tcPr/>
                </a:tc>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sz="1600" kern="1200" dirty="0">
                          <a:solidFill>
                            <a:schemeClr val="dk1"/>
                          </a:solidFill>
                          <a:effectLst/>
                          <a:latin typeface="+mn-lt"/>
                          <a:ea typeface="+mn-ea"/>
                          <a:cs typeface="+mn-cs"/>
                        </a:rPr>
                        <a:t>InChI=1S/C18H19Br2Cl4F3N2O2/c1-5(28)12(19)6-2-9(15(31)10(25)4-11(30)17(23)26)7(13(21)18(24)27) 3-8(6)14(29)16(20)22/h6-9,30-31H,2-4,28-29H2,1H3 /b</a:t>
                      </a:r>
                      <a:r>
                        <a:rPr lang="pt-BR" sz="1600" kern="1200" dirty="0">
                          <a:solidFill>
                            <a:srgbClr val="7030A0"/>
                          </a:solidFill>
                          <a:effectLst/>
                          <a:latin typeface="+mn-lt"/>
                          <a:ea typeface="+mn-ea"/>
                          <a:cs typeface="+mn-cs"/>
                        </a:rPr>
                        <a:t>12-5+</a:t>
                      </a:r>
                      <a:r>
                        <a:rPr lang="pt-BR" sz="1600" kern="1200" dirty="0">
                          <a:solidFill>
                            <a:schemeClr val="dk1"/>
                          </a:solidFill>
                          <a:effectLst/>
                          <a:latin typeface="+mn-lt"/>
                          <a:ea typeface="+mn-ea"/>
                          <a:cs typeface="+mn-cs"/>
                        </a:rPr>
                        <a:t>,2(</a:t>
                      </a:r>
                      <a:r>
                        <a:rPr lang="pt-BR" sz="1600" kern="1200" dirty="0">
                          <a:solidFill>
                            <a:schemeClr val="accent6">
                              <a:lumMod val="75000"/>
                            </a:schemeClr>
                          </a:solidFill>
                          <a:effectLst/>
                          <a:latin typeface="+mn-lt"/>
                          <a:ea typeface="+mn-ea"/>
                          <a:cs typeface="+mn-cs"/>
                        </a:rPr>
                        <a:t>16-14-</a:t>
                      </a:r>
                      <a:r>
                        <a:rPr lang="pt-BR" sz="1600" kern="1200" dirty="0">
                          <a:solidFill>
                            <a:schemeClr val="dk1"/>
                          </a:solidFill>
                          <a:effectLst/>
                          <a:latin typeface="+mn-lt"/>
                          <a:ea typeface="+mn-ea"/>
                          <a:cs typeface="+mn-cs"/>
                        </a:rPr>
                        <a:t>),3(</a:t>
                      </a:r>
                      <a:r>
                        <a:rPr lang="pt-BR" sz="1600" kern="1200" dirty="0">
                          <a:solidFill>
                            <a:schemeClr val="accent1"/>
                          </a:solidFill>
                          <a:effectLst/>
                          <a:latin typeface="+mn-lt"/>
                          <a:ea typeface="+mn-ea"/>
                          <a:cs typeface="+mn-cs"/>
                        </a:rPr>
                        <a:t>1</a:t>
                      </a:r>
                      <a:r>
                        <a:rPr lang="pt-BR" sz="1600" kern="1200" dirty="0">
                          <a:solidFill>
                            <a:schemeClr val="dk1"/>
                          </a:solidFill>
                          <a:effectLst/>
                          <a:latin typeface="+mn-lt"/>
                          <a:ea typeface="+mn-ea"/>
                          <a:cs typeface="+mn-cs"/>
                        </a:rPr>
                        <a:t>(</a:t>
                      </a:r>
                      <a:r>
                        <a:rPr lang="pt-BR" sz="1600" kern="1200" dirty="0">
                          <a:solidFill>
                            <a:schemeClr val="accent1"/>
                          </a:solidFill>
                          <a:effectLst/>
                          <a:latin typeface="+mn-lt"/>
                          <a:ea typeface="+mn-ea"/>
                          <a:cs typeface="+mn-cs"/>
                        </a:rPr>
                        <a:t>15-10-</a:t>
                      </a:r>
                      <a:r>
                        <a:rPr lang="pt-BR" sz="1600" kern="1200" dirty="0">
                          <a:solidFill>
                            <a:schemeClr val="dk1"/>
                          </a:solidFill>
                          <a:effectLst/>
                          <a:latin typeface="+mn-lt"/>
                          <a:ea typeface="+mn-ea"/>
                          <a:cs typeface="+mn-cs"/>
                        </a:rPr>
                        <a:t>)(</a:t>
                      </a:r>
                      <a:r>
                        <a:rPr lang="pt-BR" sz="1600" kern="1200" dirty="0">
                          <a:solidFill>
                            <a:schemeClr val="accent1"/>
                          </a:solidFill>
                          <a:effectLst/>
                          <a:latin typeface="+mn-lt"/>
                          <a:ea typeface="+mn-ea"/>
                          <a:cs typeface="+mn-cs"/>
                        </a:rPr>
                        <a:t>17-11-</a:t>
                      </a:r>
                      <a:r>
                        <a:rPr lang="pt-BR" sz="1600" kern="1200" dirty="0">
                          <a:solidFill>
                            <a:schemeClr val="dk1"/>
                          </a:solidFill>
                          <a:effectLst/>
                          <a:latin typeface="+mn-lt"/>
                          <a:ea typeface="+mn-ea"/>
                          <a:cs typeface="+mn-cs"/>
                        </a:rPr>
                        <a:t>),2(</a:t>
                      </a:r>
                      <a:r>
                        <a:rPr lang="pt-BR" sz="1600" kern="1200" dirty="0">
                          <a:solidFill>
                            <a:schemeClr val="accent2">
                              <a:lumMod val="75000"/>
                            </a:schemeClr>
                          </a:solidFill>
                          <a:effectLst/>
                          <a:latin typeface="+mn-lt"/>
                          <a:ea typeface="+mn-ea"/>
                          <a:cs typeface="+mn-cs"/>
                        </a:rPr>
                        <a:t>18-13-</a:t>
                      </a:r>
                      <a:r>
                        <a:rPr lang="pt-BR" sz="1600" kern="1200" dirty="0">
                          <a:solidFill>
                            <a:schemeClr val="dk1"/>
                          </a:solidFill>
                          <a:effectLst/>
                          <a:latin typeface="+mn-lt"/>
                          <a:ea typeface="+mn-ea"/>
                          <a:cs typeface="+mn-cs"/>
                        </a:rPr>
                        <a:t>))</a:t>
                      </a:r>
                    </a:p>
                    <a:p>
                      <a:endParaRPr lang="en-US" dirty="0"/>
                    </a:p>
                  </a:txBody>
                  <a:tcPr/>
                </a:tc>
                <a:extLst>
                  <a:ext uri="{0D108BD9-81ED-4DB2-BD59-A6C34878D82A}">
                    <a16:rowId xmlns:a16="http://schemas.microsoft.com/office/drawing/2014/main" val="4094906566"/>
                  </a:ext>
                </a:extLst>
              </a:tr>
            </a:tbl>
          </a:graphicData>
        </a:graphic>
      </p:graphicFrame>
      <p:sp>
        <p:nvSpPr>
          <p:cNvPr id="7" name="Textfeld 6">
            <a:extLst>
              <a:ext uri="{FF2B5EF4-FFF2-40B4-BE49-F238E27FC236}">
                <a16:creationId xmlns:a16="http://schemas.microsoft.com/office/drawing/2014/main" id="{5401881F-4106-2119-B3FD-A4C5375A15DF}"/>
              </a:ext>
            </a:extLst>
          </p:cNvPr>
          <p:cNvSpPr txBox="1"/>
          <p:nvPr/>
        </p:nvSpPr>
        <p:spPr>
          <a:xfrm>
            <a:off x="5330583" y="3106461"/>
            <a:ext cx="1595309" cy="3877985"/>
          </a:xfrm>
          <a:prstGeom prst="rect">
            <a:avLst/>
          </a:prstGeom>
          <a:noFill/>
        </p:spPr>
        <p:txBody>
          <a:bodyPr wrap="none" rtlCol="0">
            <a:spAutoFit/>
          </a:bodyPr>
          <a:lstStyle/>
          <a:p>
            <a:r>
              <a:rPr lang="en-US" sz="600" dirty="0"/>
              <a:t>M  V30 BEGIN BOND</a:t>
            </a:r>
          </a:p>
          <a:p>
            <a:r>
              <a:rPr lang="en-US" sz="600" dirty="0"/>
              <a:t>M  V30 1 1 2 1 </a:t>
            </a:r>
          </a:p>
          <a:p>
            <a:r>
              <a:rPr lang="en-US" sz="600" dirty="0"/>
              <a:t>M  V30 2 2 3 2 </a:t>
            </a:r>
          </a:p>
          <a:p>
            <a:r>
              <a:rPr lang="en-US" sz="600" dirty="0"/>
              <a:t>M  V30 3 1 4 3 </a:t>
            </a:r>
          </a:p>
          <a:p>
            <a:r>
              <a:rPr lang="en-US" sz="600" dirty="0"/>
              <a:t>M  V30 4 1 4 5 </a:t>
            </a:r>
          </a:p>
          <a:p>
            <a:r>
              <a:rPr lang="en-US" sz="600" dirty="0"/>
              <a:t>M  V30 5 1 5 6 </a:t>
            </a:r>
          </a:p>
          <a:p>
            <a:r>
              <a:rPr lang="en-US" sz="600" dirty="0"/>
              <a:t>M  V30 6 1 6 7 </a:t>
            </a:r>
          </a:p>
          <a:p>
            <a:r>
              <a:rPr lang="en-US" sz="600" dirty="0"/>
              <a:t>M  V30 7 1 8 7 </a:t>
            </a:r>
          </a:p>
          <a:p>
            <a:r>
              <a:rPr lang="en-US" sz="600" dirty="0"/>
              <a:t>M  V30 8 1 9 4 </a:t>
            </a:r>
          </a:p>
          <a:p>
            <a:r>
              <a:rPr lang="en-US" sz="600" dirty="0"/>
              <a:t>M  V30 9 1 8 9 </a:t>
            </a:r>
          </a:p>
          <a:p>
            <a:r>
              <a:rPr lang="en-US" sz="600" dirty="0"/>
              <a:t>M  V30 10 1 9 10 </a:t>
            </a:r>
          </a:p>
          <a:p>
            <a:r>
              <a:rPr lang="en-US" sz="600" dirty="0"/>
              <a:t>M  V30 11 2 10 11 </a:t>
            </a:r>
          </a:p>
          <a:p>
            <a:r>
              <a:rPr lang="en-US" sz="600" dirty="0"/>
              <a:t>M  V30 12 1 11 12 </a:t>
            </a:r>
          </a:p>
          <a:p>
            <a:r>
              <a:rPr lang="en-US" sz="600" dirty="0"/>
              <a:t>M  V30 13 1 11 13 </a:t>
            </a:r>
          </a:p>
          <a:p>
            <a:r>
              <a:rPr lang="en-US" sz="600" dirty="0"/>
              <a:t>M  V30 14 1 10 14 </a:t>
            </a:r>
          </a:p>
          <a:p>
            <a:r>
              <a:rPr lang="en-US" sz="600" dirty="0"/>
              <a:t>M  V30 15 1 15 7 </a:t>
            </a:r>
          </a:p>
          <a:p>
            <a:r>
              <a:rPr lang="en-US" sz="600" dirty="0"/>
              <a:t>M  V30 16 2 16 15 </a:t>
            </a:r>
          </a:p>
          <a:p>
            <a:r>
              <a:rPr lang="en-US" sz="600" dirty="0"/>
              <a:t>M  V30 17 1 16 17 </a:t>
            </a:r>
          </a:p>
          <a:p>
            <a:r>
              <a:rPr lang="en-US" sz="600" dirty="0"/>
              <a:t>M  V30 18 1 16 18 </a:t>
            </a:r>
          </a:p>
          <a:p>
            <a:r>
              <a:rPr lang="en-US" sz="600" dirty="0"/>
              <a:t>M  V30 19 1 19 18 </a:t>
            </a:r>
          </a:p>
          <a:p>
            <a:r>
              <a:rPr lang="en-US" sz="600" dirty="0"/>
              <a:t>M  V30 20 2 20 19 </a:t>
            </a:r>
          </a:p>
          <a:p>
            <a:r>
              <a:rPr lang="en-US" sz="600" dirty="0"/>
              <a:t>M  V30 21 1 21 20 </a:t>
            </a:r>
          </a:p>
          <a:p>
            <a:r>
              <a:rPr lang="en-US" sz="600" dirty="0"/>
              <a:t>M  V30 22 1 20 22 </a:t>
            </a:r>
          </a:p>
          <a:p>
            <a:r>
              <a:rPr lang="en-US" sz="600" dirty="0"/>
              <a:t>M  V30 23 1 19 23 </a:t>
            </a:r>
          </a:p>
          <a:p>
            <a:r>
              <a:rPr lang="en-US" sz="600" dirty="0"/>
              <a:t>M  V30 24 1 15 24 </a:t>
            </a:r>
          </a:p>
          <a:p>
            <a:r>
              <a:rPr lang="en-US" sz="600" dirty="0"/>
              <a:t>M  V30 25 1 25 6 </a:t>
            </a:r>
          </a:p>
          <a:p>
            <a:r>
              <a:rPr lang="en-US" sz="600" dirty="0"/>
              <a:t>M  V30 26 2 26 25 </a:t>
            </a:r>
          </a:p>
          <a:p>
            <a:r>
              <a:rPr lang="en-US" sz="600" dirty="0"/>
              <a:t>M  V30 27 1 27 26 </a:t>
            </a:r>
          </a:p>
          <a:p>
            <a:r>
              <a:rPr lang="en-US" sz="600" dirty="0"/>
              <a:t>M  V30 28 1 26 28 </a:t>
            </a:r>
          </a:p>
          <a:p>
            <a:r>
              <a:rPr lang="en-US" sz="600" dirty="0"/>
              <a:t>M  V30 29 1 25 29 </a:t>
            </a:r>
          </a:p>
          <a:p>
            <a:r>
              <a:rPr lang="en-US" sz="600" dirty="0"/>
              <a:t>M  V30 30 1 3 30 </a:t>
            </a:r>
          </a:p>
          <a:p>
            <a:r>
              <a:rPr lang="en-US" sz="600" dirty="0"/>
              <a:t>M  V30 31 1 2 31 </a:t>
            </a:r>
          </a:p>
          <a:p>
            <a:r>
              <a:rPr lang="en-US" sz="600" dirty="0"/>
              <a:t>M  V30 END BOND</a:t>
            </a:r>
          </a:p>
          <a:p>
            <a:r>
              <a:rPr lang="en-US" sz="600" dirty="0">
                <a:solidFill>
                  <a:srgbClr val="FF0000"/>
                </a:solidFill>
              </a:rPr>
              <a:t>M  V30 BEGIN COLLECTION</a:t>
            </a:r>
          </a:p>
          <a:p>
            <a:r>
              <a:rPr lang="en-US" sz="600" dirty="0">
                <a:solidFill>
                  <a:srgbClr val="FF0000"/>
                </a:solidFill>
              </a:rPr>
              <a:t>M  V30 MDLV30/</a:t>
            </a:r>
            <a:r>
              <a:rPr lang="en-US" sz="600" b="1" dirty="0">
                <a:solidFill>
                  <a:srgbClr val="FF0000"/>
                </a:solidFill>
              </a:rPr>
              <a:t>STEBREL1</a:t>
            </a:r>
            <a:r>
              <a:rPr lang="en-US" sz="600" dirty="0">
                <a:solidFill>
                  <a:srgbClr val="FF0000"/>
                </a:solidFill>
              </a:rPr>
              <a:t> BONDS=(1 2)</a:t>
            </a:r>
          </a:p>
          <a:p>
            <a:r>
              <a:rPr lang="en-US" sz="600" dirty="0">
                <a:solidFill>
                  <a:srgbClr val="FF0000"/>
                </a:solidFill>
              </a:rPr>
              <a:t>M  V30 MDLV30/</a:t>
            </a:r>
            <a:r>
              <a:rPr lang="en-US" sz="600" b="1" dirty="0">
                <a:solidFill>
                  <a:srgbClr val="FF0000"/>
                </a:solidFill>
              </a:rPr>
              <a:t>STEBRAC1</a:t>
            </a:r>
            <a:r>
              <a:rPr lang="en-US" sz="600" dirty="0">
                <a:solidFill>
                  <a:srgbClr val="FF0000"/>
                </a:solidFill>
              </a:rPr>
              <a:t> BONDS=(2 16 20)</a:t>
            </a:r>
          </a:p>
          <a:p>
            <a:r>
              <a:rPr lang="en-US" sz="600" dirty="0">
                <a:solidFill>
                  <a:srgbClr val="FF0000"/>
                </a:solidFill>
              </a:rPr>
              <a:t>M  V30 MDLV30/</a:t>
            </a:r>
            <a:r>
              <a:rPr lang="en-US" sz="600" b="1" dirty="0">
                <a:solidFill>
                  <a:srgbClr val="FF0000"/>
                </a:solidFill>
              </a:rPr>
              <a:t>STEBRAC2</a:t>
            </a:r>
            <a:r>
              <a:rPr lang="en-US" sz="600" dirty="0">
                <a:solidFill>
                  <a:srgbClr val="FF0000"/>
                </a:solidFill>
              </a:rPr>
              <a:t> BONDS=(1 26)</a:t>
            </a:r>
          </a:p>
          <a:p>
            <a:r>
              <a:rPr lang="en-US" sz="600" dirty="0">
                <a:solidFill>
                  <a:srgbClr val="FF0000"/>
                </a:solidFill>
              </a:rPr>
              <a:t>M  V30 END COLLECTION</a:t>
            </a:r>
          </a:p>
          <a:p>
            <a:r>
              <a:rPr lang="en-US" sz="600" dirty="0"/>
              <a:t>M  V30 END CTAB</a:t>
            </a:r>
          </a:p>
          <a:p>
            <a:r>
              <a:rPr lang="en-US" sz="600" dirty="0"/>
              <a:t>M  END</a:t>
            </a:r>
          </a:p>
          <a:p>
            <a:endParaRPr lang="en-US" sz="600" dirty="0"/>
          </a:p>
        </p:txBody>
      </p:sp>
      <p:pic>
        <p:nvPicPr>
          <p:cNvPr id="9" name="Grafik 8">
            <a:extLst>
              <a:ext uri="{FF2B5EF4-FFF2-40B4-BE49-F238E27FC236}">
                <a16:creationId xmlns:a16="http://schemas.microsoft.com/office/drawing/2014/main" id="{3047AF03-C453-1250-537D-E6A6151D1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8018" y="2664809"/>
            <a:ext cx="1967848" cy="2380644"/>
          </a:xfrm>
          <a:prstGeom prst="rect">
            <a:avLst/>
          </a:prstGeom>
        </p:spPr>
      </p:pic>
      <p:pic>
        <p:nvPicPr>
          <p:cNvPr id="13" name="Grafik 12">
            <a:extLst>
              <a:ext uri="{FF2B5EF4-FFF2-40B4-BE49-F238E27FC236}">
                <a16:creationId xmlns:a16="http://schemas.microsoft.com/office/drawing/2014/main" id="{783A88EE-A526-3E4B-2C46-B5E5B3CAB4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3708" y="2676036"/>
            <a:ext cx="2100167" cy="2369418"/>
          </a:xfrm>
          <a:prstGeom prst="rect">
            <a:avLst/>
          </a:prstGeom>
        </p:spPr>
      </p:pic>
      <p:sp>
        <p:nvSpPr>
          <p:cNvPr id="14" name="Textfeld 13">
            <a:extLst>
              <a:ext uri="{FF2B5EF4-FFF2-40B4-BE49-F238E27FC236}">
                <a16:creationId xmlns:a16="http://schemas.microsoft.com/office/drawing/2014/main" id="{86592535-2F68-3555-4123-A1518933E85E}"/>
              </a:ext>
            </a:extLst>
          </p:cNvPr>
          <p:cNvSpPr txBox="1"/>
          <p:nvPr/>
        </p:nvSpPr>
        <p:spPr>
          <a:xfrm>
            <a:off x="10399408" y="4675060"/>
            <a:ext cx="876458" cy="276999"/>
          </a:xfrm>
          <a:prstGeom prst="rect">
            <a:avLst/>
          </a:prstGeom>
          <a:noFill/>
        </p:spPr>
        <p:txBody>
          <a:bodyPr wrap="none" rtlCol="0">
            <a:spAutoFit/>
          </a:bodyPr>
          <a:lstStyle/>
          <a:p>
            <a:r>
              <a:rPr lang="en-US" sz="1200" dirty="0"/>
              <a:t>InChI index</a:t>
            </a:r>
          </a:p>
        </p:txBody>
      </p:sp>
      <p:sp>
        <p:nvSpPr>
          <p:cNvPr id="15" name="Textfeld 14">
            <a:extLst>
              <a:ext uri="{FF2B5EF4-FFF2-40B4-BE49-F238E27FC236}">
                <a16:creationId xmlns:a16="http://schemas.microsoft.com/office/drawing/2014/main" id="{5A417AB9-28A4-B9AC-BDFC-F7680ED0CF8E}"/>
              </a:ext>
            </a:extLst>
          </p:cNvPr>
          <p:cNvSpPr txBox="1"/>
          <p:nvPr/>
        </p:nvSpPr>
        <p:spPr>
          <a:xfrm>
            <a:off x="8123538" y="4675061"/>
            <a:ext cx="999889" cy="276999"/>
          </a:xfrm>
          <a:prstGeom prst="rect">
            <a:avLst/>
          </a:prstGeom>
          <a:noFill/>
        </p:spPr>
        <p:txBody>
          <a:bodyPr wrap="none" rtlCol="0">
            <a:spAutoFit/>
          </a:bodyPr>
          <a:lstStyle/>
          <a:p>
            <a:r>
              <a:rPr lang="en-US" sz="1200" dirty="0"/>
              <a:t>Molfile index</a:t>
            </a:r>
          </a:p>
        </p:txBody>
      </p:sp>
      <p:pic>
        <p:nvPicPr>
          <p:cNvPr id="6" name="Grafik 5">
            <a:extLst>
              <a:ext uri="{FF2B5EF4-FFF2-40B4-BE49-F238E27FC236}">
                <a16:creationId xmlns:a16="http://schemas.microsoft.com/office/drawing/2014/main" id="{1B28A927-A205-CFE9-EB30-DC3B7E0D1B29}"/>
              </a:ext>
            </a:extLst>
          </p:cNvPr>
          <p:cNvPicPr>
            <a:picLocks noChangeAspect="1"/>
          </p:cNvPicPr>
          <p:nvPr/>
        </p:nvPicPr>
        <p:blipFill>
          <a:blip r:embed="rId4"/>
          <a:stretch>
            <a:fillRect/>
          </a:stretch>
        </p:blipFill>
        <p:spPr>
          <a:xfrm>
            <a:off x="1169054" y="2664809"/>
            <a:ext cx="2628900" cy="3286125"/>
          </a:xfrm>
          <a:prstGeom prst="rect">
            <a:avLst/>
          </a:prstGeom>
        </p:spPr>
      </p:pic>
    </p:spTree>
    <p:extLst>
      <p:ext uri="{BB962C8B-B14F-4D97-AF65-F5344CB8AC3E}">
        <p14:creationId xmlns:p14="http://schemas.microsoft.com/office/powerpoint/2010/main" val="99124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9DEE18-2491-D99B-BF0B-FFB954DBAA81}"/>
              </a:ext>
            </a:extLst>
          </p:cNvPr>
          <p:cNvSpPr>
            <a:spLocks noGrp="1"/>
          </p:cNvSpPr>
          <p:nvPr>
            <p:ph type="title"/>
          </p:nvPr>
        </p:nvSpPr>
        <p:spPr/>
        <p:txBody>
          <a:bodyPr/>
          <a:lstStyle/>
          <a:p>
            <a:r>
              <a:rPr lang="en-US" dirty="0"/>
              <a:t>Enhanced stereochemistry – double bonds and tetrahedral centers</a:t>
            </a:r>
          </a:p>
        </p:txBody>
      </p:sp>
      <p:sp>
        <p:nvSpPr>
          <p:cNvPr id="3" name="Inhaltsplatzhalter 2">
            <a:extLst>
              <a:ext uri="{FF2B5EF4-FFF2-40B4-BE49-F238E27FC236}">
                <a16:creationId xmlns:a16="http://schemas.microsoft.com/office/drawing/2014/main" id="{92C27284-89E3-1FE0-C5A9-4F555EAFD8AC}"/>
              </a:ext>
            </a:extLst>
          </p:cNvPr>
          <p:cNvSpPr>
            <a:spLocks noGrp="1"/>
          </p:cNvSpPr>
          <p:nvPr>
            <p:ph idx="1"/>
          </p:nvPr>
        </p:nvSpPr>
        <p:spPr/>
        <p:txBody>
          <a:bodyPr/>
          <a:lstStyle/>
          <a:p>
            <a:r>
              <a:rPr lang="en-US" dirty="0"/>
              <a:t>Tetrahedral centers / allenes and double bonds must be handled separately (Examples)</a:t>
            </a:r>
          </a:p>
        </p:txBody>
      </p:sp>
      <p:graphicFrame>
        <p:nvGraphicFramePr>
          <p:cNvPr id="4" name="Tabelle 3">
            <a:extLst>
              <a:ext uri="{FF2B5EF4-FFF2-40B4-BE49-F238E27FC236}">
                <a16:creationId xmlns:a16="http://schemas.microsoft.com/office/drawing/2014/main" id="{7AF9EDF6-E412-7E37-00A6-88B4AA72A6DC}"/>
              </a:ext>
            </a:extLst>
          </p:cNvPr>
          <p:cNvGraphicFramePr>
            <a:graphicFrameLocks noGrp="1"/>
          </p:cNvGraphicFramePr>
          <p:nvPr>
            <p:extLst>
              <p:ext uri="{D42A27DB-BD31-4B8C-83A1-F6EECF244321}">
                <p14:modId xmlns:p14="http://schemas.microsoft.com/office/powerpoint/2010/main" val="3990998273"/>
              </p:ext>
            </p:extLst>
          </p:nvPr>
        </p:nvGraphicFramePr>
        <p:xfrm>
          <a:off x="803275" y="2475918"/>
          <a:ext cx="11321754" cy="4511040"/>
        </p:xfrm>
        <a:graphic>
          <a:graphicData uri="http://schemas.openxmlformats.org/drawingml/2006/table">
            <a:tbl>
              <a:tblPr firstRow="1" bandRow="1">
                <a:tableStyleId>{5C22544A-7EE6-4342-B048-85BDC9FD1C3A}</a:tableStyleId>
              </a:tblPr>
              <a:tblGrid>
                <a:gridCol w="1997332">
                  <a:extLst>
                    <a:ext uri="{9D8B030D-6E8A-4147-A177-3AD203B41FA5}">
                      <a16:colId xmlns:a16="http://schemas.microsoft.com/office/drawing/2014/main" val="2800186839"/>
                    </a:ext>
                  </a:extLst>
                </a:gridCol>
                <a:gridCol w="1776586">
                  <a:extLst>
                    <a:ext uri="{9D8B030D-6E8A-4147-A177-3AD203B41FA5}">
                      <a16:colId xmlns:a16="http://schemas.microsoft.com/office/drawing/2014/main" val="361831399"/>
                    </a:ext>
                  </a:extLst>
                </a:gridCol>
                <a:gridCol w="1886959">
                  <a:extLst>
                    <a:ext uri="{9D8B030D-6E8A-4147-A177-3AD203B41FA5}">
                      <a16:colId xmlns:a16="http://schemas.microsoft.com/office/drawing/2014/main" val="3264215991"/>
                    </a:ext>
                  </a:extLst>
                </a:gridCol>
                <a:gridCol w="1886959">
                  <a:extLst>
                    <a:ext uri="{9D8B030D-6E8A-4147-A177-3AD203B41FA5}">
                      <a16:colId xmlns:a16="http://schemas.microsoft.com/office/drawing/2014/main" val="1448422981"/>
                    </a:ext>
                  </a:extLst>
                </a:gridCol>
                <a:gridCol w="1886959">
                  <a:extLst>
                    <a:ext uri="{9D8B030D-6E8A-4147-A177-3AD203B41FA5}">
                      <a16:colId xmlns:a16="http://schemas.microsoft.com/office/drawing/2014/main" val="1026093634"/>
                    </a:ext>
                  </a:extLst>
                </a:gridCol>
                <a:gridCol w="1886959">
                  <a:extLst>
                    <a:ext uri="{9D8B030D-6E8A-4147-A177-3AD203B41FA5}">
                      <a16:colId xmlns:a16="http://schemas.microsoft.com/office/drawing/2014/main" val="1037629216"/>
                    </a:ext>
                  </a:extLst>
                </a:gridCol>
              </a:tblGrid>
              <a:tr h="307435">
                <a:tc>
                  <a:txBody>
                    <a:bodyPr/>
                    <a:lstStyle/>
                    <a:p>
                      <a:r>
                        <a:rPr lang="en-US" dirty="0"/>
                        <a:t>V2 Molfile</a:t>
                      </a:r>
                    </a:p>
                  </a:txBody>
                  <a:tcPr/>
                </a:tc>
                <a:tc>
                  <a:txBody>
                    <a:bodyPr/>
                    <a:lstStyle/>
                    <a:p>
                      <a:r>
                        <a:rPr lang="en-US" dirty="0"/>
                        <a:t>V3 Molfile</a:t>
                      </a:r>
                    </a:p>
                  </a:txBody>
                  <a:tcPr/>
                </a:tc>
                <a:tc>
                  <a:txBody>
                    <a:bodyPr/>
                    <a:lstStyle/>
                    <a:p>
                      <a:r>
                        <a:rPr lang="en-US" dirty="0"/>
                        <a:t>Drawing/InChI</a:t>
                      </a:r>
                    </a:p>
                  </a:txBody>
                  <a:tcPr/>
                </a:tc>
                <a:tc>
                  <a:txBody>
                    <a:bodyPr/>
                    <a:lstStyle/>
                    <a:p>
                      <a:r>
                        <a:rPr lang="en-US" dirty="0"/>
                        <a:t>V3 Molfile</a:t>
                      </a:r>
                    </a:p>
                  </a:txBody>
                  <a:tcPr/>
                </a:tc>
                <a:tc>
                  <a:txBody>
                    <a:bodyPr/>
                    <a:lstStyle/>
                    <a:p>
                      <a:r>
                        <a:rPr lang="en-US" dirty="0"/>
                        <a:t>Drawing/InChI</a:t>
                      </a:r>
                    </a:p>
                  </a:txBody>
                  <a:tcPr/>
                </a:tc>
                <a:tc>
                  <a:txBody>
                    <a:bodyPr/>
                    <a:lstStyle/>
                    <a:p>
                      <a:r>
                        <a:rPr lang="en-US" dirty="0"/>
                        <a:t>V3 Molfile</a:t>
                      </a:r>
                    </a:p>
                  </a:txBody>
                  <a:tcPr/>
                </a:tc>
                <a:extLst>
                  <a:ext uri="{0D108BD9-81ED-4DB2-BD59-A6C34878D82A}">
                    <a16:rowId xmlns:a16="http://schemas.microsoft.com/office/drawing/2014/main" val="2181404453"/>
                  </a:ext>
                </a:extLst>
              </a:tr>
              <a:tr h="2946254">
                <a:tc>
                  <a:txBody>
                    <a:bodyPr/>
                    <a:lstStyle/>
                    <a:p>
                      <a:endParaRPr lang="en-US" dirty="0"/>
                    </a:p>
                    <a:p>
                      <a:endParaRPr lang="en-US" dirty="0"/>
                    </a:p>
                    <a:p>
                      <a:endParaRPr lang="en-US" dirty="0"/>
                    </a:p>
                    <a:p>
                      <a:r>
                        <a:rPr lang="en-US" dirty="0"/>
                        <a:t>  </a:t>
                      </a:r>
                      <a:r>
                        <a:rPr lang="en-US" sz="600" dirty="0"/>
                        <a:t>ACCLDraw07032619442D</a:t>
                      </a:r>
                    </a:p>
                    <a:p>
                      <a:endParaRPr lang="en-US" sz="600" dirty="0"/>
                    </a:p>
                    <a:p>
                      <a:r>
                        <a:rPr lang="en-US" sz="600" dirty="0"/>
                        <a:t>  8  7  0  0  1  0  0  0  0  0999 V2000</a:t>
                      </a:r>
                    </a:p>
                    <a:p>
                      <a:r>
                        <a:rPr lang="en-US" sz="600" dirty="0"/>
                        <a:t>    3.5407   -4.4464    0.0000 Cl  0  0  0  0  0  0  0  0  0  0  0  0</a:t>
                      </a:r>
                    </a:p>
                    <a:p>
                      <a:r>
                        <a:rPr lang="en-US" sz="600" dirty="0"/>
                        <a:t>    4.1312   -3.4236    0.0000 C   0  0  0  0  0  0  0  0  0  0  0  0</a:t>
                      </a:r>
                    </a:p>
                    <a:p>
                      <a:r>
                        <a:rPr lang="en-US" sz="600" dirty="0"/>
                        <a:t>    3.5405   -2.4004    0.0000 F   0  0  0  0  0  0  0  0  0  0  0  0</a:t>
                      </a:r>
                    </a:p>
                    <a:p>
                      <a:r>
                        <a:rPr lang="en-US" sz="600" dirty="0"/>
                        <a:t>    5.3127   -3.4236    0.0000 C   0  0  0  0  0  0  0  0  0  0  0  0</a:t>
                      </a:r>
                    </a:p>
                    <a:p>
                      <a:r>
                        <a:rPr lang="en-US" sz="600" dirty="0"/>
                        <a:t>    5.9034   -2.4004    0.0000 Br  0  0  0  0  0  0  0  0  0  0  0  0</a:t>
                      </a:r>
                    </a:p>
                    <a:p>
                      <a:r>
                        <a:rPr lang="en-US" sz="600" dirty="0"/>
                        <a:t>    5.9034   -4.4467    0.0000 C   0  0  1  0  0  0  0  0  0  0  0  0</a:t>
                      </a:r>
                    </a:p>
                    <a:p>
                      <a:r>
                        <a:rPr lang="en-US" sz="600" dirty="0"/>
                        <a:t>    7.0849   -4.4467    0.0000 C   0  0  0  0  0  0  0  0  0  0  0  0</a:t>
                      </a:r>
                    </a:p>
                    <a:p>
                      <a:r>
                        <a:rPr lang="en-US" sz="600" dirty="0"/>
                        <a:t>    5.3127   -5.4699    0.0000 O   0  0  0  0  0  0  0  0  0  0  0  0</a:t>
                      </a:r>
                    </a:p>
                    <a:p>
                      <a:r>
                        <a:rPr lang="en-US" sz="600" dirty="0"/>
                        <a:t>  1  2  1  0  0  0  0</a:t>
                      </a:r>
                    </a:p>
                    <a:p>
                      <a:r>
                        <a:rPr lang="en-US" sz="600" dirty="0"/>
                        <a:t>  2  3  1  0  0  0  0</a:t>
                      </a:r>
                    </a:p>
                    <a:p>
                      <a:r>
                        <a:rPr lang="en-US" sz="600" dirty="0"/>
                        <a:t>  2  4  2  0  0  0  0</a:t>
                      </a:r>
                    </a:p>
                    <a:p>
                      <a:r>
                        <a:rPr lang="en-US" sz="600" dirty="0"/>
                        <a:t>  4  5  1  0  0  0  0</a:t>
                      </a:r>
                    </a:p>
                    <a:p>
                      <a:r>
                        <a:rPr lang="en-US" sz="600" dirty="0"/>
                        <a:t>  4  6  1  0  0  0  0</a:t>
                      </a:r>
                    </a:p>
                    <a:p>
                      <a:r>
                        <a:rPr lang="en-US" sz="600" dirty="0"/>
                        <a:t>  6  7  1  0  0  0  0</a:t>
                      </a:r>
                    </a:p>
                    <a:p>
                      <a:r>
                        <a:rPr lang="en-US" sz="600" dirty="0"/>
                        <a:t>  6  8  1  1  0  0  0</a:t>
                      </a:r>
                    </a:p>
                    <a:p>
                      <a:r>
                        <a:rPr lang="en-US" sz="600" dirty="0"/>
                        <a:t>M  END</a:t>
                      </a:r>
                    </a:p>
                    <a:p>
                      <a:endParaRPr lang="en-US" dirty="0"/>
                    </a:p>
                  </a:txBody>
                  <a:tcPr/>
                </a:tc>
                <a:tc>
                  <a:txBody>
                    <a:bodyPr/>
                    <a:lstStyle/>
                    <a:p>
                      <a:endParaRPr lang="en-US" sz="600" dirty="0"/>
                    </a:p>
                    <a:p>
                      <a:r>
                        <a:rPr lang="en-US" sz="600" dirty="0"/>
                        <a:t>  ACCLDraw07032619482D</a:t>
                      </a:r>
                    </a:p>
                    <a:p>
                      <a:endParaRPr lang="en-US" sz="600" dirty="0"/>
                    </a:p>
                    <a:p>
                      <a:r>
                        <a:rPr lang="en-US" sz="600" dirty="0"/>
                        <a:t>  0  0  0     0  0            999 V3000</a:t>
                      </a:r>
                    </a:p>
                    <a:p>
                      <a:r>
                        <a:rPr lang="en-US" sz="600" dirty="0"/>
                        <a:t>M  V30 BEGIN CTAB</a:t>
                      </a:r>
                    </a:p>
                    <a:p>
                      <a:r>
                        <a:rPr lang="en-US" sz="600" dirty="0"/>
                        <a:t>M  V30 COUNTS 8 7 0 0 1</a:t>
                      </a:r>
                    </a:p>
                    <a:p>
                      <a:r>
                        <a:rPr lang="en-US" sz="600" dirty="0"/>
                        <a:t>M  V30 BEGIN ATOM</a:t>
                      </a:r>
                    </a:p>
                    <a:p>
                      <a:r>
                        <a:rPr lang="en-US" sz="600" dirty="0"/>
                        <a:t>M  V30 1 Cl 3.5407 -4.4464 0 0 </a:t>
                      </a:r>
                    </a:p>
                    <a:p>
                      <a:r>
                        <a:rPr lang="en-US" sz="600" dirty="0"/>
                        <a:t>M  V30 2 C 4.1312 -3.4236 0 0 </a:t>
                      </a:r>
                    </a:p>
                    <a:p>
                      <a:r>
                        <a:rPr lang="en-US" sz="600" dirty="0"/>
                        <a:t>M  V30 3 F 3.5405 -2.4004 0 0 </a:t>
                      </a:r>
                    </a:p>
                    <a:p>
                      <a:r>
                        <a:rPr lang="en-US" sz="600" dirty="0"/>
                        <a:t>M  V30 4 C 5.3127 -3.4236 0 0 </a:t>
                      </a:r>
                    </a:p>
                    <a:p>
                      <a:r>
                        <a:rPr lang="en-US" sz="600" dirty="0"/>
                        <a:t>M  V30 5 Br 5.9034 -2.4004 0 0 </a:t>
                      </a:r>
                    </a:p>
                    <a:p>
                      <a:r>
                        <a:rPr lang="en-US" sz="600" dirty="0"/>
                        <a:t>M  V30 6 C 5.9034 -4.4467 0 0 CFG=1 </a:t>
                      </a:r>
                    </a:p>
                    <a:p>
                      <a:r>
                        <a:rPr lang="en-US" sz="600" dirty="0"/>
                        <a:t>M  V30 7 C 7.0849 -4.4467 0 0 </a:t>
                      </a:r>
                    </a:p>
                    <a:p>
                      <a:r>
                        <a:rPr lang="en-US" sz="600" dirty="0"/>
                        <a:t>M  V30 8 O 5.3127 -5.4699 0 0 </a:t>
                      </a:r>
                    </a:p>
                    <a:p>
                      <a:r>
                        <a:rPr lang="en-US" sz="600" dirty="0"/>
                        <a:t>M  V30 END ATOM</a:t>
                      </a:r>
                    </a:p>
                    <a:p>
                      <a:r>
                        <a:rPr lang="en-US" sz="600" dirty="0"/>
                        <a:t>M  V30 BEGIN BOND</a:t>
                      </a:r>
                    </a:p>
                    <a:p>
                      <a:r>
                        <a:rPr lang="en-US" sz="600" dirty="0"/>
                        <a:t>M  V30 1 1 1 2 </a:t>
                      </a:r>
                    </a:p>
                    <a:p>
                      <a:r>
                        <a:rPr lang="en-US" sz="600" dirty="0"/>
                        <a:t>M  V30 2 1 2 3 </a:t>
                      </a:r>
                    </a:p>
                    <a:p>
                      <a:r>
                        <a:rPr lang="en-US" sz="600" dirty="0"/>
                        <a:t>M  V30 3 2 2 4 </a:t>
                      </a:r>
                    </a:p>
                    <a:p>
                      <a:r>
                        <a:rPr lang="en-US" sz="600" dirty="0"/>
                        <a:t>M  V30 4 1 4 5 </a:t>
                      </a:r>
                    </a:p>
                    <a:p>
                      <a:r>
                        <a:rPr lang="en-US" sz="600" dirty="0"/>
                        <a:t>M  V30 5 1 4 6 </a:t>
                      </a:r>
                    </a:p>
                    <a:p>
                      <a:r>
                        <a:rPr lang="en-US" sz="600" dirty="0"/>
                        <a:t>M  V30 6 1 6 7 </a:t>
                      </a:r>
                    </a:p>
                    <a:p>
                      <a:r>
                        <a:rPr lang="en-US" sz="600" dirty="0"/>
                        <a:t>M  V30 7 1 6 8 CFG=1 </a:t>
                      </a:r>
                    </a:p>
                    <a:p>
                      <a:r>
                        <a:rPr lang="en-US" sz="600" dirty="0"/>
                        <a:t>M  V30 END BOND</a:t>
                      </a:r>
                    </a:p>
                    <a:p>
                      <a:r>
                        <a:rPr lang="en-US" sz="600" b="1" dirty="0">
                          <a:solidFill>
                            <a:srgbClr val="FF0000"/>
                          </a:solidFill>
                        </a:rPr>
                        <a:t>M  V30 BEGIN COLLECTION</a:t>
                      </a:r>
                    </a:p>
                    <a:p>
                      <a:r>
                        <a:rPr lang="en-US" sz="600" b="1" dirty="0">
                          <a:solidFill>
                            <a:srgbClr val="FF0000"/>
                          </a:solidFill>
                        </a:rPr>
                        <a:t>M  V30 MDLV30/STEABS ATOMS=(1 6)</a:t>
                      </a:r>
                    </a:p>
                    <a:p>
                      <a:r>
                        <a:rPr lang="en-US" sz="600" b="1" dirty="0">
                          <a:solidFill>
                            <a:srgbClr val="FF0000"/>
                          </a:solidFill>
                        </a:rPr>
                        <a:t>M  V30 END COLLECTION</a:t>
                      </a:r>
                    </a:p>
                    <a:p>
                      <a:r>
                        <a:rPr lang="en-US" sz="600" dirty="0"/>
                        <a:t>M  V30 END CTAB</a:t>
                      </a:r>
                    </a:p>
                    <a:p>
                      <a:r>
                        <a:rPr lang="en-US" sz="600" dirty="0"/>
                        <a:t>M  END</a:t>
                      </a:r>
                    </a:p>
                    <a:p>
                      <a:endParaRPr lang="en-US" sz="600" dirty="0"/>
                    </a:p>
                  </a:txBody>
                  <a:tcPr/>
                </a:tc>
                <a:tc>
                  <a:txBody>
                    <a:bodyPr/>
                    <a:lstStyle/>
                    <a:p>
                      <a:endParaRPr lang="en-US" dirty="0"/>
                    </a:p>
                  </a:txBody>
                  <a:tcPr/>
                </a:tc>
                <a:tc>
                  <a:txBody>
                    <a:bodyPr/>
                    <a:lstStyle/>
                    <a:p>
                      <a:endParaRPr lang="en-US" sz="700" dirty="0"/>
                    </a:p>
                    <a:p>
                      <a:r>
                        <a:rPr lang="en-US" sz="700" dirty="0"/>
                        <a:t>  ACCLDraw07032619572D</a:t>
                      </a:r>
                    </a:p>
                    <a:p>
                      <a:endParaRPr lang="en-US" sz="700" dirty="0"/>
                    </a:p>
                    <a:p>
                      <a:r>
                        <a:rPr lang="en-US" sz="700" dirty="0"/>
                        <a:t>  0  0  0     0  0            999 V3000</a:t>
                      </a:r>
                    </a:p>
                    <a:p>
                      <a:r>
                        <a:rPr lang="en-US" sz="700" dirty="0"/>
                        <a:t>M  V30 BEGIN CTAB</a:t>
                      </a:r>
                    </a:p>
                    <a:p>
                      <a:r>
                        <a:rPr lang="en-US" sz="700" dirty="0"/>
                        <a:t>M  V30 COUNTS 8 7 0 0 1</a:t>
                      </a:r>
                    </a:p>
                    <a:p>
                      <a:r>
                        <a:rPr lang="en-US" sz="700" dirty="0"/>
                        <a:t>M  V30 BEGIN ATOM</a:t>
                      </a:r>
                    </a:p>
                    <a:p>
                      <a:r>
                        <a:rPr lang="en-US" sz="700" dirty="0"/>
                        <a:t>M  V30 1 Br 13.8377 -3.2894 0 0 </a:t>
                      </a:r>
                    </a:p>
                    <a:p>
                      <a:r>
                        <a:rPr lang="en-US" sz="700" dirty="0"/>
                        <a:t>M  V30 2 C 13.2469 -4.3126 0 0 </a:t>
                      </a:r>
                    </a:p>
                    <a:p>
                      <a:r>
                        <a:rPr lang="en-US" sz="700" dirty="0"/>
                        <a:t>M  V30 3 C 13.8377 -5.3357 0 0 CFG=1 </a:t>
                      </a:r>
                    </a:p>
                    <a:p>
                      <a:r>
                        <a:rPr lang="en-US" sz="700" dirty="0"/>
                        <a:t>M  V30 4 C 12.0655 -4.3126 0 0 </a:t>
                      </a:r>
                    </a:p>
                    <a:p>
                      <a:r>
                        <a:rPr lang="en-US" sz="700" dirty="0"/>
                        <a:t>M  V30 5 Cl 11.4749 -5.3354 0 0 </a:t>
                      </a:r>
                    </a:p>
                    <a:p>
                      <a:r>
                        <a:rPr lang="en-US" sz="700" dirty="0"/>
                        <a:t>M  V30 6 F 11.4748 -3.2894 0 0 </a:t>
                      </a:r>
                    </a:p>
                    <a:p>
                      <a:r>
                        <a:rPr lang="en-US" sz="700" dirty="0"/>
                        <a:t>M  V30 7 C 15.0191 -5.3357 0 0 </a:t>
                      </a:r>
                    </a:p>
                    <a:p>
                      <a:r>
                        <a:rPr lang="en-US" sz="700" dirty="0"/>
                        <a:t>M  V30 8 O 13.2469 -6.3589 0 0 </a:t>
                      </a:r>
                    </a:p>
                    <a:p>
                      <a:r>
                        <a:rPr lang="en-US" sz="700" dirty="0"/>
                        <a:t>M  V30 END ATOM</a:t>
                      </a:r>
                    </a:p>
                    <a:p>
                      <a:r>
                        <a:rPr lang="en-US" sz="700" dirty="0"/>
                        <a:t>M  V30 BEGIN BOND</a:t>
                      </a:r>
                    </a:p>
                    <a:p>
                      <a:r>
                        <a:rPr lang="en-US" sz="700" dirty="0"/>
                        <a:t>M  V30 1 1 2 1 </a:t>
                      </a:r>
                    </a:p>
                    <a:p>
                      <a:r>
                        <a:rPr lang="en-US" sz="700" dirty="0"/>
                        <a:t>M  V30 2 1 2 3 </a:t>
                      </a:r>
                    </a:p>
                    <a:p>
                      <a:r>
                        <a:rPr lang="en-US" sz="700" dirty="0"/>
                        <a:t>M  V30 3 2 4 2 </a:t>
                      </a:r>
                    </a:p>
                    <a:p>
                      <a:r>
                        <a:rPr lang="en-US" sz="700" dirty="0"/>
                        <a:t>M  V30 4 1 5 4 </a:t>
                      </a:r>
                    </a:p>
                    <a:p>
                      <a:r>
                        <a:rPr lang="en-US" sz="700" dirty="0"/>
                        <a:t>M  V30 5 1 4 6 </a:t>
                      </a:r>
                    </a:p>
                    <a:p>
                      <a:r>
                        <a:rPr lang="en-US" sz="700" dirty="0"/>
                        <a:t>M  V30 6 1 3 7 </a:t>
                      </a:r>
                    </a:p>
                    <a:p>
                      <a:r>
                        <a:rPr lang="en-US" sz="700" dirty="0"/>
                        <a:t>M  V30 7 1 3 8 CFG=1 </a:t>
                      </a:r>
                    </a:p>
                    <a:p>
                      <a:r>
                        <a:rPr lang="en-US" sz="700" dirty="0"/>
                        <a:t>M  V30 END BOND</a:t>
                      </a:r>
                    </a:p>
                    <a:p>
                      <a:r>
                        <a:rPr lang="en-US" sz="700" b="1" dirty="0">
                          <a:solidFill>
                            <a:srgbClr val="FF0000"/>
                          </a:solidFill>
                        </a:rPr>
                        <a:t>M  V30 BEGIN COLLECTION</a:t>
                      </a:r>
                    </a:p>
                    <a:p>
                      <a:r>
                        <a:rPr lang="en-US" sz="700" b="1" dirty="0">
                          <a:solidFill>
                            <a:srgbClr val="FF0000"/>
                          </a:solidFill>
                        </a:rPr>
                        <a:t>M  V30 MDLV30/STEABS ATOMS=(1 3)</a:t>
                      </a:r>
                    </a:p>
                    <a:p>
                      <a:r>
                        <a:rPr lang="en-US" sz="700" b="1" dirty="0">
                          <a:solidFill>
                            <a:srgbClr val="FF0000"/>
                          </a:solidFill>
                        </a:rPr>
                        <a:t>M  V30 MDLV30/STEBREL2 BONDS=(1 3)</a:t>
                      </a:r>
                    </a:p>
                    <a:p>
                      <a:r>
                        <a:rPr lang="en-US" sz="700" b="1" dirty="0">
                          <a:solidFill>
                            <a:srgbClr val="FF0000"/>
                          </a:solidFill>
                        </a:rPr>
                        <a:t>M  V30 END COLLECTION</a:t>
                      </a:r>
                    </a:p>
                    <a:p>
                      <a:r>
                        <a:rPr lang="en-US" sz="700" dirty="0"/>
                        <a:t>M  V30 END CTAB</a:t>
                      </a:r>
                    </a:p>
                    <a:p>
                      <a:r>
                        <a:rPr lang="en-US" sz="700" dirty="0"/>
                        <a:t>M  END</a:t>
                      </a:r>
                    </a:p>
                    <a:p>
                      <a:endParaRPr lang="en-US" sz="700" dirty="0"/>
                    </a:p>
                  </a:txBody>
                  <a:tcPr/>
                </a:tc>
                <a:tc>
                  <a:txBody>
                    <a:bodyPr/>
                    <a:lstStyle/>
                    <a:p>
                      <a:endParaRPr lang="en-US"/>
                    </a:p>
                  </a:txBody>
                  <a:tcPr/>
                </a:tc>
                <a:tc>
                  <a:txBody>
                    <a:bodyPr/>
                    <a:lstStyle/>
                    <a:p>
                      <a:endParaRPr lang="en-US" sz="700" dirty="0"/>
                    </a:p>
                    <a:p>
                      <a:r>
                        <a:rPr lang="en-US" sz="700" dirty="0"/>
                        <a:t>  ACCLDraw07032620002D</a:t>
                      </a:r>
                    </a:p>
                    <a:p>
                      <a:endParaRPr lang="en-US" sz="700" dirty="0"/>
                    </a:p>
                    <a:p>
                      <a:r>
                        <a:rPr lang="en-US" sz="700" dirty="0"/>
                        <a:t>  0  0  0     0  0            999 V3000</a:t>
                      </a:r>
                    </a:p>
                    <a:p>
                      <a:r>
                        <a:rPr lang="en-US" sz="700" dirty="0"/>
                        <a:t>M  V30 BEGIN CTAB</a:t>
                      </a:r>
                    </a:p>
                    <a:p>
                      <a:r>
                        <a:rPr lang="en-US" sz="700" dirty="0"/>
                        <a:t>M  V30 COUNTS 8 7 0 0 1</a:t>
                      </a:r>
                    </a:p>
                    <a:p>
                      <a:r>
                        <a:rPr lang="en-US" sz="700" dirty="0"/>
                        <a:t>M  V30 BEGIN ATOM</a:t>
                      </a:r>
                    </a:p>
                    <a:p>
                      <a:r>
                        <a:rPr lang="en-US" sz="700" dirty="0"/>
                        <a:t>M  V30 1 Br 15.0564 -10.8206 0 0 </a:t>
                      </a:r>
                    </a:p>
                    <a:p>
                      <a:r>
                        <a:rPr lang="en-US" sz="700" dirty="0"/>
                        <a:t>M  V30 2 C 14.4657 -11.8438 0 0 </a:t>
                      </a:r>
                    </a:p>
                    <a:p>
                      <a:r>
                        <a:rPr lang="en-US" sz="700" dirty="0"/>
                        <a:t>M  V30 3 C 15.0564 -12.867 0 0 CFG=2 </a:t>
                      </a:r>
                    </a:p>
                    <a:p>
                      <a:r>
                        <a:rPr lang="en-US" sz="700" dirty="0"/>
                        <a:t>M  V30 4 C 13.2842 -11.8438 0 0 </a:t>
                      </a:r>
                    </a:p>
                    <a:p>
                      <a:r>
                        <a:rPr lang="en-US" sz="700" dirty="0"/>
                        <a:t>M  V30 5 Cl 12.6937 -12.8667 0 0 </a:t>
                      </a:r>
                    </a:p>
                    <a:p>
                      <a:r>
                        <a:rPr lang="en-US" sz="700" dirty="0"/>
                        <a:t>M  V30 6 F 12.6935 -10.8206 0 0 </a:t>
                      </a:r>
                    </a:p>
                    <a:p>
                      <a:r>
                        <a:rPr lang="en-US" sz="700" dirty="0"/>
                        <a:t>M  V30 7 O 14.4657 -13.8901 0 0 </a:t>
                      </a:r>
                    </a:p>
                    <a:p>
                      <a:r>
                        <a:rPr lang="en-US" sz="700" dirty="0"/>
                        <a:t>M  V30 8 C 16.2379 -12.867 0 0 </a:t>
                      </a:r>
                    </a:p>
                    <a:p>
                      <a:r>
                        <a:rPr lang="en-US" sz="700" dirty="0"/>
                        <a:t>M  V30 END ATOM</a:t>
                      </a:r>
                    </a:p>
                    <a:p>
                      <a:r>
                        <a:rPr lang="en-US" sz="700" dirty="0"/>
                        <a:t>M  V30 BEGIN BOND</a:t>
                      </a:r>
                    </a:p>
                    <a:p>
                      <a:r>
                        <a:rPr lang="en-US" sz="700" dirty="0"/>
                        <a:t>M  V30 1 1 2 1 </a:t>
                      </a:r>
                    </a:p>
                    <a:p>
                      <a:r>
                        <a:rPr lang="en-US" sz="700" dirty="0"/>
                        <a:t>M  V30 2 1 2 3 </a:t>
                      </a:r>
                    </a:p>
                    <a:p>
                      <a:r>
                        <a:rPr lang="en-US" sz="700" dirty="0"/>
                        <a:t>M  V30 3 2 4 2 </a:t>
                      </a:r>
                    </a:p>
                    <a:p>
                      <a:r>
                        <a:rPr lang="en-US" sz="700" dirty="0"/>
                        <a:t>M  V30 4 1 5 4 </a:t>
                      </a:r>
                    </a:p>
                    <a:p>
                      <a:r>
                        <a:rPr lang="en-US" sz="700" dirty="0"/>
                        <a:t>M  V30 5 1 4 6 </a:t>
                      </a:r>
                    </a:p>
                    <a:p>
                      <a:r>
                        <a:rPr lang="en-US" sz="700" dirty="0"/>
                        <a:t>M  V30 6 1 3 7 CFG=1 </a:t>
                      </a:r>
                    </a:p>
                    <a:p>
                      <a:r>
                        <a:rPr lang="en-US" sz="700" dirty="0"/>
                        <a:t>M  V30 7 1 3 8 </a:t>
                      </a:r>
                    </a:p>
                    <a:p>
                      <a:r>
                        <a:rPr lang="en-US" sz="700" dirty="0"/>
                        <a:t>M  V30 END BOND</a:t>
                      </a:r>
                    </a:p>
                    <a:p>
                      <a:r>
                        <a:rPr lang="en-US" sz="700" b="1" dirty="0">
                          <a:solidFill>
                            <a:srgbClr val="FF0000"/>
                          </a:solidFill>
                        </a:rPr>
                        <a:t>M  V30 BEGIN COLLECTION</a:t>
                      </a:r>
                    </a:p>
                    <a:p>
                      <a:r>
                        <a:rPr lang="en-US" sz="700" b="1" dirty="0">
                          <a:solidFill>
                            <a:srgbClr val="FF0000"/>
                          </a:solidFill>
                        </a:rPr>
                        <a:t>M  V30 MDLV30/STERAC1 ATOMS=(1 3)</a:t>
                      </a:r>
                    </a:p>
                    <a:p>
                      <a:r>
                        <a:rPr lang="en-US" sz="700" b="1" dirty="0">
                          <a:solidFill>
                            <a:srgbClr val="FF0000"/>
                          </a:solidFill>
                        </a:rPr>
                        <a:t>M  V30 MDLV30/STEBABS BONDS=(1 3)</a:t>
                      </a:r>
                    </a:p>
                    <a:p>
                      <a:r>
                        <a:rPr lang="en-US" sz="700" b="1" dirty="0">
                          <a:solidFill>
                            <a:srgbClr val="FF0000"/>
                          </a:solidFill>
                        </a:rPr>
                        <a:t>M  V30 END COLLECTION</a:t>
                      </a:r>
                    </a:p>
                    <a:p>
                      <a:r>
                        <a:rPr lang="en-US" sz="700" dirty="0"/>
                        <a:t>M  V30 END CTAB</a:t>
                      </a:r>
                    </a:p>
                    <a:p>
                      <a:r>
                        <a:rPr lang="en-US" sz="700" dirty="0"/>
                        <a:t>M  END</a:t>
                      </a:r>
                    </a:p>
                    <a:p>
                      <a:endParaRPr lang="en-US" sz="700" dirty="0"/>
                    </a:p>
                  </a:txBody>
                  <a:tcPr/>
                </a:tc>
                <a:extLst>
                  <a:ext uri="{0D108BD9-81ED-4DB2-BD59-A6C34878D82A}">
                    <a16:rowId xmlns:a16="http://schemas.microsoft.com/office/drawing/2014/main" val="1204034991"/>
                  </a:ext>
                </a:extLst>
              </a:tr>
              <a:tr h="49841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InChI=1S/C4H5BrClFO/c1-2(8)3(5)4(6) 7/h2,8H,1H3/b4-3-/t2-/m1/s1</a:t>
                      </a:r>
                      <a:endParaRPr lang="en-US" sz="1200" dirty="0"/>
                    </a:p>
                  </a:txBody>
                  <a:tcPr/>
                </a:tc>
                <a:tc hMerge="1">
                  <a:txBody>
                    <a:bodyPr/>
                    <a:lstStyle/>
                    <a:p>
                      <a:endParaRPr lang="en-US"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InChI=1S/C4H5BrClFO/c1-2(8)3(5)4(6) 7/h2,8H,1H3/b2(4-3-)/t2-/m1/s1</a:t>
                      </a:r>
                      <a:endParaRPr lang="en-US" sz="1200" dirty="0"/>
                    </a:p>
                  </a:txBody>
                  <a:tcPr/>
                </a:tc>
                <a:tc hMerge="1">
                  <a:txBody>
                    <a:bodyPr/>
                    <a:lstStyle/>
                    <a:p>
                      <a:endParaRPr lang="en-US" dirty="0"/>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kern="1200" dirty="0">
                          <a:solidFill>
                            <a:schemeClr val="dk1"/>
                          </a:solidFill>
                          <a:effectLst/>
                          <a:latin typeface="+mn-lt"/>
                          <a:ea typeface="+mn-ea"/>
                          <a:cs typeface="+mn-cs"/>
                        </a:rPr>
                        <a:t>InChI=1S/C4H5BrClFO/c1-2(8)3(5)4(6) 7/h2,8H,1H3/b4-3-/t2-/s3</a:t>
                      </a:r>
                      <a:endParaRPr lang="en-US" sz="1200" dirty="0"/>
                    </a:p>
                  </a:txBody>
                  <a:tcPr/>
                </a:tc>
                <a:tc hMerge="1">
                  <a:txBody>
                    <a:bodyPr/>
                    <a:lstStyle/>
                    <a:p>
                      <a:endParaRPr lang="en-US" dirty="0"/>
                    </a:p>
                  </a:txBody>
                  <a:tcPr/>
                </a:tc>
                <a:extLst>
                  <a:ext uri="{0D108BD9-81ED-4DB2-BD59-A6C34878D82A}">
                    <a16:rowId xmlns:a16="http://schemas.microsoft.com/office/drawing/2014/main" val="2971749877"/>
                  </a:ext>
                </a:extLst>
              </a:tr>
            </a:tbl>
          </a:graphicData>
        </a:graphic>
      </p:graphicFrame>
      <p:pic>
        <p:nvPicPr>
          <p:cNvPr id="6" name="Grafik 5">
            <a:extLst>
              <a:ext uri="{FF2B5EF4-FFF2-40B4-BE49-F238E27FC236}">
                <a16:creationId xmlns:a16="http://schemas.microsoft.com/office/drawing/2014/main" id="{26C442F9-EBD5-CFA1-90E5-BBC7260BC02A}"/>
              </a:ext>
            </a:extLst>
          </p:cNvPr>
          <p:cNvPicPr>
            <a:picLocks noChangeAspect="1"/>
          </p:cNvPicPr>
          <p:nvPr/>
        </p:nvPicPr>
        <p:blipFill>
          <a:blip r:embed="rId2"/>
          <a:stretch>
            <a:fillRect/>
          </a:stretch>
        </p:blipFill>
        <p:spPr>
          <a:xfrm>
            <a:off x="905166" y="3138573"/>
            <a:ext cx="972840" cy="859564"/>
          </a:xfrm>
          <a:prstGeom prst="rect">
            <a:avLst/>
          </a:prstGeom>
        </p:spPr>
      </p:pic>
      <p:pic>
        <p:nvPicPr>
          <p:cNvPr id="10" name="Grafik 9">
            <a:extLst>
              <a:ext uri="{FF2B5EF4-FFF2-40B4-BE49-F238E27FC236}">
                <a16:creationId xmlns:a16="http://schemas.microsoft.com/office/drawing/2014/main" id="{13E1837A-9B3B-9227-523F-566A53AD3013}"/>
              </a:ext>
            </a:extLst>
          </p:cNvPr>
          <p:cNvPicPr>
            <a:picLocks noChangeAspect="1"/>
          </p:cNvPicPr>
          <p:nvPr/>
        </p:nvPicPr>
        <p:blipFill>
          <a:blip r:embed="rId3"/>
          <a:stretch>
            <a:fillRect/>
          </a:stretch>
        </p:blipFill>
        <p:spPr>
          <a:xfrm>
            <a:off x="4736402" y="3183657"/>
            <a:ext cx="1102637" cy="1208369"/>
          </a:xfrm>
          <a:prstGeom prst="rect">
            <a:avLst/>
          </a:prstGeom>
        </p:spPr>
      </p:pic>
      <p:pic>
        <p:nvPicPr>
          <p:cNvPr id="12" name="Grafik 11">
            <a:extLst>
              <a:ext uri="{FF2B5EF4-FFF2-40B4-BE49-F238E27FC236}">
                <a16:creationId xmlns:a16="http://schemas.microsoft.com/office/drawing/2014/main" id="{D6465B81-C51E-E459-A98D-F298BDAF9536}"/>
              </a:ext>
            </a:extLst>
          </p:cNvPr>
          <p:cNvPicPr>
            <a:picLocks noChangeAspect="1"/>
          </p:cNvPicPr>
          <p:nvPr/>
        </p:nvPicPr>
        <p:blipFill>
          <a:blip r:embed="rId4"/>
          <a:stretch>
            <a:fillRect/>
          </a:stretch>
        </p:blipFill>
        <p:spPr>
          <a:xfrm>
            <a:off x="8452455" y="3183657"/>
            <a:ext cx="1201330" cy="1179220"/>
          </a:xfrm>
          <a:prstGeom prst="rect">
            <a:avLst/>
          </a:prstGeom>
        </p:spPr>
      </p:pic>
    </p:spTree>
    <p:extLst>
      <p:ext uri="{BB962C8B-B14F-4D97-AF65-F5344CB8AC3E}">
        <p14:creationId xmlns:p14="http://schemas.microsoft.com/office/powerpoint/2010/main" val="1114179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AEC89D-A6EF-B7A1-81B5-01C723643A9A}"/>
              </a:ext>
            </a:extLst>
          </p:cNvPr>
          <p:cNvSpPr>
            <a:spLocks noGrp="1"/>
          </p:cNvSpPr>
          <p:nvPr>
            <p:ph type="title"/>
          </p:nvPr>
        </p:nvSpPr>
        <p:spPr/>
        <p:txBody>
          <a:bodyPr/>
          <a:lstStyle/>
          <a:p>
            <a:r>
              <a:rPr lang="en-US" dirty="0"/>
              <a:t>Web-Demo</a:t>
            </a:r>
          </a:p>
        </p:txBody>
      </p:sp>
      <p:pic>
        <p:nvPicPr>
          <p:cNvPr id="5" name="Inhaltsplatzhalter 4">
            <a:extLst>
              <a:ext uri="{FF2B5EF4-FFF2-40B4-BE49-F238E27FC236}">
                <a16:creationId xmlns:a16="http://schemas.microsoft.com/office/drawing/2014/main" id="{870EE6AF-B2CB-261C-E927-FAC694D2A7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31474" y="559525"/>
            <a:ext cx="7437120" cy="5541542"/>
          </a:xfrm>
        </p:spPr>
      </p:pic>
      <p:sp>
        <p:nvSpPr>
          <p:cNvPr id="6" name="Ellipse 5">
            <a:extLst>
              <a:ext uri="{FF2B5EF4-FFF2-40B4-BE49-F238E27FC236}">
                <a16:creationId xmlns:a16="http://schemas.microsoft.com/office/drawing/2014/main" id="{1DD705BB-9EEB-7148-FBDA-10CC4761F6CD}"/>
              </a:ext>
            </a:extLst>
          </p:cNvPr>
          <p:cNvSpPr/>
          <p:nvPr/>
        </p:nvSpPr>
        <p:spPr>
          <a:xfrm>
            <a:off x="8386354" y="1381753"/>
            <a:ext cx="2586446" cy="1948543"/>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feld 6">
            <a:extLst>
              <a:ext uri="{FF2B5EF4-FFF2-40B4-BE49-F238E27FC236}">
                <a16:creationId xmlns:a16="http://schemas.microsoft.com/office/drawing/2014/main" id="{4BDDD783-02C4-CF17-1D63-60615D639558}"/>
              </a:ext>
            </a:extLst>
          </p:cNvPr>
          <p:cNvSpPr txBox="1"/>
          <p:nvPr/>
        </p:nvSpPr>
        <p:spPr>
          <a:xfrm>
            <a:off x="581026" y="2274747"/>
            <a:ext cx="2838450" cy="923330"/>
          </a:xfrm>
          <a:prstGeom prst="rect">
            <a:avLst/>
          </a:prstGeom>
          <a:noFill/>
        </p:spPr>
        <p:txBody>
          <a:bodyPr wrap="square" rtlCol="0">
            <a:spAutoFit/>
          </a:bodyPr>
          <a:lstStyle/>
          <a:p>
            <a:r>
              <a:rPr lang="en-US" dirty="0">
                <a:hlinkClick r:id="rId3"/>
              </a:rPr>
              <a:t>https://iupac-inchi.github.io/InChI-Web-Demo/</a:t>
            </a:r>
            <a:r>
              <a:rPr lang="en-US" dirty="0"/>
              <a:t> </a:t>
            </a:r>
          </a:p>
        </p:txBody>
      </p:sp>
      <p:pic>
        <p:nvPicPr>
          <p:cNvPr id="3" name="Picture 3" descr="A qr code with black squares&#10;&#10;Description automatically generated">
            <a:extLst>
              <a:ext uri="{FF2B5EF4-FFF2-40B4-BE49-F238E27FC236}">
                <a16:creationId xmlns:a16="http://schemas.microsoft.com/office/drawing/2014/main" id="{FDF8BAF1-523A-4A58-F0C3-AC9A54AE856C}"/>
              </a:ext>
            </a:extLst>
          </p:cNvPr>
          <p:cNvPicPr>
            <a:picLocks noChangeAspect="1"/>
          </p:cNvPicPr>
          <p:nvPr/>
        </p:nvPicPr>
        <p:blipFill>
          <a:blip r:embed="rId4"/>
          <a:stretch>
            <a:fillRect/>
          </a:stretch>
        </p:blipFill>
        <p:spPr>
          <a:xfrm>
            <a:off x="803275" y="4457796"/>
            <a:ext cx="1665359" cy="1643271"/>
          </a:xfrm>
          <a:prstGeom prst="rect">
            <a:avLst/>
          </a:prstGeom>
        </p:spPr>
      </p:pic>
    </p:spTree>
    <p:extLst>
      <p:ext uri="{BB962C8B-B14F-4D97-AF65-F5344CB8AC3E}">
        <p14:creationId xmlns:p14="http://schemas.microsoft.com/office/powerpoint/2010/main" val="1252387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A224A4-41D0-EDE1-3345-BB4D8B246E09}"/>
              </a:ext>
            </a:extLst>
          </p:cNvPr>
          <p:cNvSpPr>
            <a:spLocks noGrp="1"/>
          </p:cNvSpPr>
          <p:nvPr>
            <p:ph type="title"/>
          </p:nvPr>
        </p:nvSpPr>
        <p:spPr/>
        <p:txBody>
          <a:bodyPr/>
          <a:lstStyle/>
          <a:p>
            <a:r>
              <a:rPr lang="en-US" dirty="0"/>
              <a:t>Funding and Support</a:t>
            </a:r>
          </a:p>
        </p:txBody>
      </p:sp>
      <p:sp>
        <p:nvSpPr>
          <p:cNvPr id="3" name="Inhaltsplatzhalter 2">
            <a:extLst>
              <a:ext uri="{FF2B5EF4-FFF2-40B4-BE49-F238E27FC236}">
                <a16:creationId xmlns:a16="http://schemas.microsoft.com/office/drawing/2014/main" id="{958F7D5E-090F-32A6-1211-DC21211593CB}"/>
              </a:ext>
            </a:extLst>
          </p:cNvPr>
          <p:cNvSpPr>
            <a:spLocks noGrp="1"/>
          </p:cNvSpPr>
          <p:nvPr>
            <p:ph idx="1"/>
          </p:nvPr>
        </p:nvSpPr>
        <p:spPr>
          <a:xfrm>
            <a:off x="838200" y="1690688"/>
            <a:ext cx="4945688" cy="4351338"/>
          </a:xfrm>
        </p:spPr>
        <p:txBody>
          <a:bodyPr>
            <a:normAutofit fontScale="92500" lnSpcReduction="10000"/>
          </a:bodyPr>
          <a:lstStyle/>
          <a:p>
            <a:r>
              <a:rPr lang="en-US" dirty="0"/>
              <a:t>InChI Trust members 2026</a:t>
            </a:r>
          </a:p>
          <a:p>
            <a:endParaRPr lang="en-US" dirty="0"/>
          </a:p>
          <a:p>
            <a:endParaRPr lang="en-US" dirty="0"/>
          </a:p>
          <a:p>
            <a:endParaRPr lang="en-US" dirty="0"/>
          </a:p>
          <a:p>
            <a:endParaRPr lang="en-US" dirty="0"/>
          </a:p>
          <a:p>
            <a:endParaRPr lang="en-US" dirty="0"/>
          </a:p>
          <a:p>
            <a:r>
              <a:rPr lang="en-GB" dirty="0"/>
              <a:t>Development partners </a:t>
            </a:r>
            <a:r>
              <a:rPr lang="en-GB"/>
              <a:t>&amp; financial </a:t>
            </a:r>
            <a:r>
              <a:rPr lang="en-GB" dirty="0"/>
              <a:t>support</a:t>
            </a:r>
          </a:p>
          <a:p>
            <a:endParaRPr lang="en-GB" dirty="0"/>
          </a:p>
          <a:p>
            <a:r>
              <a:rPr lang="en-GB" dirty="0"/>
              <a:t>Technical Partners</a:t>
            </a:r>
          </a:p>
          <a:p>
            <a:endParaRPr lang="en-US" dirty="0"/>
          </a:p>
        </p:txBody>
      </p:sp>
      <p:pic>
        <p:nvPicPr>
          <p:cNvPr id="6" name="Picture 4" descr="A group of logos of different companies&#10;&#10;AI-generated content may be incorrect.">
            <a:extLst>
              <a:ext uri="{FF2B5EF4-FFF2-40B4-BE49-F238E27FC236}">
                <a16:creationId xmlns:a16="http://schemas.microsoft.com/office/drawing/2014/main" id="{84A2EF49-7D8E-C84A-D7D6-212A3DB58D41}"/>
              </a:ext>
            </a:extLst>
          </p:cNvPr>
          <p:cNvPicPr>
            <a:picLocks noChangeAspect="1"/>
          </p:cNvPicPr>
          <p:nvPr/>
        </p:nvPicPr>
        <p:blipFill>
          <a:blip r:embed="rId2"/>
          <a:stretch>
            <a:fillRect/>
          </a:stretch>
        </p:blipFill>
        <p:spPr>
          <a:xfrm>
            <a:off x="5621187" y="937688"/>
            <a:ext cx="5344179" cy="3441508"/>
          </a:xfrm>
          <a:prstGeom prst="rect">
            <a:avLst/>
          </a:prstGeom>
        </p:spPr>
      </p:pic>
      <p:pic>
        <p:nvPicPr>
          <p:cNvPr id="7" name="Picture 7" descr="A logo with text on it&#10;&#10;AI-generated content may be incorrect.">
            <a:extLst>
              <a:ext uri="{FF2B5EF4-FFF2-40B4-BE49-F238E27FC236}">
                <a16:creationId xmlns:a16="http://schemas.microsoft.com/office/drawing/2014/main" id="{2F47F963-2A69-A4C4-3731-CFD3757BC19D}"/>
              </a:ext>
            </a:extLst>
          </p:cNvPr>
          <p:cNvPicPr>
            <a:picLocks noChangeAspect="1"/>
          </p:cNvPicPr>
          <p:nvPr/>
        </p:nvPicPr>
        <p:blipFill>
          <a:blip r:embed="rId3"/>
          <a:stretch>
            <a:fillRect/>
          </a:stretch>
        </p:blipFill>
        <p:spPr>
          <a:xfrm>
            <a:off x="5783888" y="4143035"/>
            <a:ext cx="5957123" cy="1303120"/>
          </a:xfrm>
          <a:prstGeom prst="rect">
            <a:avLst/>
          </a:prstGeom>
        </p:spPr>
      </p:pic>
      <p:pic>
        <p:nvPicPr>
          <p:cNvPr id="5" name="Grafik 4">
            <a:extLst>
              <a:ext uri="{FF2B5EF4-FFF2-40B4-BE49-F238E27FC236}">
                <a16:creationId xmlns:a16="http://schemas.microsoft.com/office/drawing/2014/main" id="{C8931556-35EA-2C0A-E957-EA0C11871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9952" y="5545165"/>
            <a:ext cx="1083393" cy="319187"/>
          </a:xfrm>
          <a:prstGeom prst="rect">
            <a:avLst/>
          </a:prstGeom>
        </p:spPr>
      </p:pic>
    </p:spTree>
    <p:extLst>
      <p:ext uri="{BB962C8B-B14F-4D97-AF65-F5344CB8AC3E}">
        <p14:creationId xmlns:p14="http://schemas.microsoft.com/office/powerpoint/2010/main" val="2319374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958204-1202-9DF3-E3E7-5C7BA1EBA232}"/>
              </a:ext>
            </a:extLst>
          </p:cNvPr>
          <p:cNvSpPr>
            <a:spLocks noGrp="1"/>
          </p:cNvSpPr>
          <p:nvPr>
            <p:ph type="title"/>
          </p:nvPr>
        </p:nvSpPr>
        <p:spPr/>
        <p:txBody>
          <a:bodyPr/>
          <a:lstStyle/>
          <a:p>
            <a:r>
              <a:rPr lang="en-US" dirty="0"/>
              <a:t>Thank you</a:t>
            </a:r>
          </a:p>
        </p:txBody>
      </p:sp>
      <p:pic>
        <p:nvPicPr>
          <p:cNvPr id="4" name="Picture 3">
            <a:extLst>
              <a:ext uri="{FF2B5EF4-FFF2-40B4-BE49-F238E27FC236}">
                <a16:creationId xmlns:a16="http://schemas.microsoft.com/office/drawing/2014/main" id="{30A06459-529F-895F-D584-EEC04612E5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639" y="1378700"/>
            <a:ext cx="5893743" cy="4164816"/>
          </a:xfrm>
          <a:prstGeom prst="rect">
            <a:avLst/>
          </a:prstGeom>
        </p:spPr>
      </p:pic>
    </p:spTree>
    <p:extLst>
      <p:ext uri="{BB962C8B-B14F-4D97-AF65-F5344CB8AC3E}">
        <p14:creationId xmlns:p14="http://schemas.microsoft.com/office/powerpoint/2010/main" val="29940965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2AFF-DCD4-5B51-4B92-10F82E8DAC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1B596A-42B0-D318-B0A8-EB1569540340}"/>
              </a:ext>
            </a:extLst>
          </p:cNvPr>
          <p:cNvSpPr>
            <a:spLocks noGrp="1"/>
          </p:cNvSpPr>
          <p:nvPr>
            <p:ph type="title"/>
          </p:nvPr>
        </p:nvSpPr>
        <p:spPr/>
        <p:txBody>
          <a:bodyPr/>
          <a:lstStyle/>
          <a:p>
            <a:r>
              <a:rPr lang="en-US" dirty="0"/>
              <a:t>Your InChI development team</a:t>
            </a:r>
          </a:p>
        </p:txBody>
      </p:sp>
      <p:pic>
        <p:nvPicPr>
          <p:cNvPr id="7" name="Grafik 6">
            <a:extLst>
              <a:ext uri="{FF2B5EF4-FFF2-40B4-BE49-F238E27FC236}">
                <a16:creationId xmlns:a16="http://schemas.microsoft.com/office/drawing/2014/main" id="{CE54F75A-A0AA-F88C-7CD9-56D732F2D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143" y="1314449"/>
            <a:ext cx="6423991" cy="4817993"/>
          </a:xfrm>
          <a:prstGeom prst="rect">
            <a:avLst/>
          </a:prstGeom>
        </p:spPr>
      </p:pic>
    </p:spTree>
    <p:extLst>
      <p:ext uri="{BB962C8B-B14F-4D97-AF65-F5344CB8AC3E}">
        <p14:creationId xmlns:p14="http://schemas.microsoft.com/office/powerpoint/2010/main" val="97470004"/>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CEDA2F005D53A46856AD657CF1569B0" ma:contentTypeVersion="6" ma:contentTypeDescription="Create a new document." ma:contentTypeScope="" ma:versionID="f81e1626609f3abc0f37b21c72a67584">
  <xsd:schema xmlns:xsd="http://www.w3.org/2001/XMLSchema" xmlns:xs="http://www.w3.org/2001/XMLSchema" xmlns:p="http://schemas.microsoft.com/office/2006/metadata/properties" xmlns:ns2="c3b22a3a-061e-486f-95f5-fbb45d439a11" xmlns:ns3="5b3a0a8b-d7f0-435f-bdcf-6c569818c6bf" targetNamespace="http://schemas.microsoft.com/office/2006/metadata/properties" ma:root="true" ma:fieldsID="aef7143cab7b6fca45f235946c58d3b0" ns2:_="" ns3:_="">
    <xsd:import namespace="c3b22a3a-061e-486f-95f5-fbb45d439a11"/>
    <xsd:import namespace="5b3a0a8b-d7f0-435f-bdcf-6c569818c6b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3b22a3a-061e-486f-95f5-fbb45d439a1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b3a0a8b-d7f0-435f-bdcf-6c569818c6bf"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026886-B279-4EE1-B373-994E092E96DE}">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FDC31E42-144B-4C60-B663-EF6962719C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3b22a3a-061e-486f-95f5-fbb45d439a11"/>
    <ds:schemaRef ds:uri="5b3a0a8b-d7f0-435f-bdcf-6c569818c6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746AE33-C41E-404B-8CE6-4410CEFF18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8158</Words>
  <Application>Microsoft Office PowerPoint</Application>
  <PresentationFormat>Breitbild</PresentationFormat>
  <Paragraphs>1203</Paragraphs>
  <Slides>34</Slides>
  <Notes>0</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34</vt:i4>
      </vt:variant>
    </vt:vector>
  </HeadingPairs>
  <TitlesOfParts>
    <vt:vector size="40" baseType="lpstr">
      <vt:lpstr>Arial</vt:lpstr>
      <vt:lpstr>Calibri</vt:lpstr>
      <vt:lpstr>Calibri Light</vt:lpstr>
      <vt:lpstr>Montserrat Thin</vt:lpstr>
      <vt:lpstr>2_Office Theme</vt:lpstr>
      <vt:lpstr>ISIS/Draw Sketch</vt:lpstr>
      <vt:lpstr>Enhanced stereochemistry </vt:lpstr>
      <vt:lpstr>What is InChI?</vt:lpstr>
      <vt:lpstr>What are we working on?</vt:lpstr>
      <vt:lpstr>Why do we need enhanced stereochemistry?</vt:lpstr>
      <vt:lpstr>Why do we need enhanced stereochemistry?</vt:lpstr>
      <vt:lpstr>Tetrahedral stereocenters</vt:lpstr>
      <vt:lpstr>InChI stereo parameters</vt:lpstr>
      <vt:lpstr>MDL enhanced stereochemistry</vt:lpstr>
      <vt:lpstr>MDL enhanced stereochemistry</vt:lpstr>
      <vt:lpstr>MDL enhanced stereochemistry – Edge cases</vt:lpstr>
      <vt:lpstr>MDL enhanced stereochemistry – Edge cases</vt:lpstr>
      <vt:lpstr>MDL enhanced stereochemistry – Edge cases</vt:lpstr>
      <vt:lpstr>Enhanced stereochemistry </vt:lpstr>
      <vt:lpstr>Allenes</vt:lpstr>
      <vt:lpstr>Tetrahedral stereocenters</vt:lpstr>
      <vt:lpstr>InChI stereo parameters</vt:lpstr>
      <vt:lpstr>Enhanced stereochemistry - allenes</vt:lpstr>
      <vt:lpstr>Enhanced stereochemistry – allenes</vt:lpstr>
      <vt:lpstr>Enhanced stereochemistry – allenes</vt:lpstr>
      <vt:lpstr>Enhanced stereochemistry – allenes</vt:lpstr>
      <vt:lpstr>Enhanced stereochemistry – allenes</vt:lpstr>
      <vt:lpstr>Enhanced stereochemistry – allenes</vt:lpstr>
      <vt:lpstr>E/Z configurations</vt:lpstr>
      <vt:lpstr>Enhanced stereochemistry – double bonds</vt:lpstr>
      <vt:lpstr>Enhanced stereochemistry – double bonds</vt:lpstr>
      <vt:lpstr>Enhanced stereochemistry – double bonds</vt:lpstr>
      <vt:lpstr>Enhanced stereochemistry – double bonds</vt:lpstr>
      <vt:lpstr>Enhanced stereochemistry – double bonds</vt:lpstr>
      <vt:lpstr>Enhanced stereochemistry – double bonds</vt:lpstr>
      <vt:lpstr>Enhanced stereochemistry – double bonds and tetrahedral centers</vt:lpstr>
      <vt:lpstr>Web-Demo</vt:lpstr>
      <vt:lpstr>Funding and Support</vt:lpstr>
      <vt:lpstr>Thank you</vt:lpstr>
      <vt:lpstr>Your InChI development 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InChI Trust Update</dc:title>
  <dc:creator>Ian Bruno</dc:creator>
  <cp:lastModifiedBy>Gerd Blanke</cp:lastModifiedBy>
  <cp:revision>149</cp:revision>
  <dcterms:created xsi:type="dcterms:W3CDTF">2023-07-26T09:38:25Z</dcterms:created>
  <dcterms:modified xsi:type="dcterms:W3CDTF">2026-07-06T14:20:02Z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0x0101004CEDA2F005D53A46856AD657CF1569B0</vt:lpwstr>
  </property>
</Properties>
</file>